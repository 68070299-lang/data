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สวัสดีครับ กลุ่มของเรานำเสนอโครงงานการออกแบบและพัฒนาฐานข้อมูลระบบเช่ารถยนต์ออนไลน์ ในรายวิชา 06066300 แนวคิดระบบฐานข้อมูล ภาพด้านขวาคือโครงสร้างฐานข้อมูล 6 ตาราง โดยมีตาราง BOOKING เป็นศูนย์กลาง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ปัญหาหลักของการให้บริการเช่ารถแบบเดิมมี 4 ประการ คือข้อมูลกระจัดกระจาย ข้อมูลซ้ำซ้อน การจองซ้อน และภาระในการติดต่อสอบถาม คณะผู้จัดทำจึงออกแบบฐานข้อมูลกลางเพื่อแก้ไขปัญหาเหล่านี้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โครงงานมีวัตถุประสงค์ 3 ประการ ขอบเขตครอบคลุมผู้ใช้ 2 กลุ่ม คือผู้ใช้บริการและผู้ดูแลระบบ และฐานข้อมูลทั้งหมด 6 ตาราง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ทฤษฎีที่ใช้มี 3 ส่วน คือ ERD สำหรับออกแบบระดับแนวคิด Normalization สำหรับลดความซ้ำซ้อนและ anomaly และ Data Dictionary สำหรับเป็นเอกสารอ้างอิงโครงสร้างข้อมูล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ความต้องการแบ่งเป็นด้านฟังก์ชัน 4 ระบบย่อย และด้านที่ไม่ใช่ฟังก์ชันอีก 2 ด้าน คือความปลอดภัยและความถูกต้องของข้อมูล ซึ่งด้านความถูกต้องถูกบังคับไว้ในฐานข้อมูลโดยตรง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คณะผู้จัดทำเลือก PostgreSQL เนื่องจากข้อมูลมีความสัมพันธ์ชัดเจน และมี EXCLUDE constraint ที่ป้องกันการจองซ้อนได้โดยตรง ซึ่ง MySQL ไม่มีและต้องเขียน trigger เพิ่มเติม ระบบออกแบบเป็นสถาปัตยกรรมแบบสามชั้น สคริปต์ทั้งหมดทดสอบบน PostgreSQL 16 ด้วย psql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ระบบมี 5 ขั้นตอนหลัก ได้แก่ ลงทะเบียน ค้นหารถยนต์ จองและเช่า ชำระเงิน และคืนรถ สถานะรถเปลี่ยนจาก Available เป็น Rented และกลับเป็น Available ส่วนสถานะการจองเปลี่ยนจาก Pending เป็น Confirmed และ Completed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แผนภาพลำดับการทำงานแสดงการสื่อสารระหว่างผู้ใช้ ระบบ Backend API และตารางในฐานข้อมูล ส่วนแรกครอบคลุมขั้นตอนที่ 1 ถึง 3 ตั้งแต่สมัครสมาชิก ค้นหารถที่ว่าง จนถึงสร้างรายการเช่าและเปลี่ยนสถานะรถเป็น Rented เส้นประคือการส่งข้อมูลกลับ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ส่วนที่สองคือขั้นตอนที่ 4 และ 5 การชำระเงินบันทึกลงตาราง PAYMENT และยืนยันรายการ เมื่อคืนรถ ผู้ดูแลระบบตรวจสภาพรถ ระบบปิดรายการเช่าเป็น Completed และคืนสถานะรถเป็น Available เพื่อให้ลูกค้ารายอื่นเช่าต่อได้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กฎทางธุรกิจทั้ง 7 ข้อถูกแปลงเป็นข้อกำหนดในฐานข้อมูล ข้อสำคัญคือ BR2 ใช้ EXCLUDE constraint ป้องกันการจองซ้อน และ BR7 ใช้ CHECK constraint ส่วน BR6 ยังตรวจสอบในระดับแอปพลิเคชัน โดยคำสั่ง E1 แสดงเฉพาะรถที่มีสถานะ Available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ERD มี 6 เอนทิตี โดย BOOKING เป็นศูนย์กลาง เชื่อมกับลูกค้าและรถแบบ N ต่อ 1 การจองหนึ่งครั้งกลายเป็นการเช่าได้ไม่เกิน 1 ครั้ง และมีการชำระเงินได้หลายครั้ง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ขั้นแรก ตารางทั้งหมดอยู่ในรูป 1NF แล้ว เส้นดำแสดงว่าแอตทริบิวต์ขึ้นกับคีย์หลัก ส่วนเส้นแดงแสดงแอตทริบิวต์ที่ขึ้นกับแอตทริบิวต์ที่ไม่ใช่คีย์ ได้แก่ข้อมูลลูกค้าที่ขึ้นกับ CustomerID และชื่อประเภทรถที่ขึ้นกับ CarTypeID ถ้าลูกค้าเปลี่ยนเบอร์โทร ต้องแก้ทุกแถวการจอง ซึ่งเป็น Update Anomaly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ขั้น 2NF แยกข้อมูลลูกค้าออกเป็นตาราง CUSTOMER ข้อมูลลูกค้าจึงถูกเก็บเพียงที่เดียว เส้นแดงที่เหลืออยู่คือ CarTypeID ไปยัง TypeName ในตาราง CAR หมายเหตุสำหรับตอบคำถาม ทุกตารางใช้คีย์หลักคอลัมน์เดียว จึงไม่มี Partial Dependency โดยแท้ ความสัมพันธ์ BookingID → CustomerID → Name จัดเป็น Transitive Dependency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ขั้น 3NF แยกประเภทรถออกเป็นตาราง CAR_TYPE ตอนนี้ทุกตารางมีเพียงเส้นดำ คือทุกแอตทริบิวต์ขึ้นกับคีย์หลักเท่านั้น ผลลัพธ์คือ 6 ตาราง ที่ปราศจาก Insertion, Update และ Deletion Anomaly ซึ่งตรงกับ ERD (CAR_TYPE มีฟิลด์ Description เพิ่มเติมตามพจนานุกรมข้อมูล) และสคริปต์ SQL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พจนานุกรมข้อมูลอธิบายชื่อฟิลด์ ชนิดข้อมูล คีย์ และความหมายของทุกตาราง ส่วนแรกคือตารางหลักที่ไม่มีคีย์นอก ได้แก่ CUSTOMER และ CAR_TYPE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ส่วนที่สองคือตาราง CAR ซึ่งอ้างอิง CAR_TYPE และตาราง BOOKING ซึ่งอ้างอิงทั้ง CUSTOMER และ CAR ตาราง BOOKING เป็นศูนย์กลางของระบบ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ส่วนสุดท้ายคือ RENTAL และ PAYMENT ตาราง PAYMENT อ้างอิงได้ทั้งการจองและการเช่า เพราะเงินมัดจำชำระก่อนรับรถ ในสคริปต์ SQL ชื่อฟิลด์ใช้รูปแบบ snake_case เช่น customer_id และชนิด INT ของคีย์หลักใช้ SERIAL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การสร้างฐานข้อมูลมี 6 ขั้นตอน เริ่มจากเปิดใช้ส่วนขยาย btree_gist ซึ่งจำเป็นสำหรับ EXCLUDE constraint จากนั้นสร้างตารางที่ไม่มีคีย์นอกก่อน แล้วจึงสร้างตารางที่อ้างอิงตามลำดับ สร้างดัชนี 3 รายการ เพิ่มข้อมูลตัวอย่าง 44 แถว และทดสอบ 19 คำสั่ง สคริปต์ทั้งหมดอยู่ในไฟล์ car_rental.sql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ตัวอย่าง DDL ของตาราง booking ซึ่งสำคัญที่สุด มี PK FK CHECK และ EXCLUDE constraint ที่ป้องกันการจองรถคันเดียวกันในเวลาทับซ้อน ทั้งระบบมี 6 ตาราง และ 30 constraints (นับ PK FK UNIQUE CHECK และ EXCLUDE ไม่นับ NOT NULL) โค้ดเต็มอยู่ในไฟล์ car_rental.sql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ข้อมูลตัวอย่างออกแบบให้ครอบคลุมทุกสถานะ เพื่อให้คำสั่งทดสอบทุกข้อมีผลลัพธ์ที่มีความหมาย ตารางแสดงรถครบทั้ง 8 คัน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ระดับง่ายเป็นคำสั่งบนตารางเดียว ครบทั้ง SELECT, INSERT, UPDATE และ DELETE ด้านซ้ายคือคำสั่งจริงทั้ง 6 คำสั่ง ด้านขวาคือผลลัพธ์ที่ได้จาก PostgreSQL ตัวอย่างเช่น E1 แสดงรถที่ว่าง 5 คัน เรียงจากราคาต่ำไปสูง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ระดับปานกลางมี 6 คำสั่ง ใช้ JOIN หลายตาราง และฟังก์ชันรวมกลุ่ม M1 เชื่อม 3 ตาราง ได้รายการจองครบ 8 รายการ M2 ใช้ LEFT JOIN เพื่อให้ประเภทรถที่ไม่มีรถยังแสดงผล รถตู้มีค่าเช่าเฉลี่ยสูงที่สุด 2,900 บาทต่อวัน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M3 รวมยอดเงินที่ชำระแล้วตามช่องทาง บัตรเครดิตสูงสุด 15,900 บาท M4 ใช้ HAVING กรองหลังจัดกลุ่ม พบลูกค้าที่จองมากกว่า 1 ครั้ง 2 คน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M5 เชื่อม 4 ตาราง เพื่อแสดงรถที่ยังไม่คืน M6 เป็นการทดสอบคำสั่ง DDL โดยสร้าง View จากคำสั่ง M5 แล้วเรียกใช้ ได้ผลลัพธ์ตรงกัน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ระดับซับซ้อนมี 7 คำสั่ง C1 ใช้ CTE คำนวณยอดชำระแล้วของแต่ละการจอง แล้วหักออกจากค่าเช่ารวม พบยอดค้างชำระ 2 รายการ ผลนี้รันก่อนคำสั่ง C5 C2 ใช้ Window Function RANK จัดอันดับรถตามรายได้ Honda Civic อยู่อันดับแรก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C3 ใช้ NOT EXISTS ร่วมกับตัวดำเนินการ &amp;&amp; ของ tsrange เพื่อหารถที่ไม่มีการจองทับซ้อนกับช่วงวันที่ต้องการ ได้ 7 คัน เหลือเพียง Camry ที่ถูกจองไว้ C4 ใช้ Subquery ใน HAVING เปรียบเทียบยอดชำระของลูกค้าแต่ละคนกับค่าเฉลี่ย พบ 3 คน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C5 จำลองขั้นตอนการคืนรถทั้งกระบวนการในธุรกรรมเดียว ปรับปรุง 4 ตาราง คือปิดรายการเช่า บันทึกการชำระเงินส่วนที่เหลือ ปิดการจอง และคืนสถานะรถ ถ้าคำสั่งใดผิดพลาด จะไม่มีการเปลี่ยนแปลงใดเกิดขึ้นเลย หลังรัน C5 ยอดค้างชำระใน C1 จะเหลือเพียงรายการที่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ทดสอบโดยตั้งใจใส่ข้อมูลผิด ฐานข้อมูลปฏิเสธทั้ง 2 กรณี การจองซ้อนถูก EXCLUDE constraint ปฏิเสธ และวันคืนก่อนวันรับถูก CHECK ปฏิเสธ แนะนำให้สาธิตสดใน Supabase SQL Editor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สรุปผลตามวัตถุประสงค์ทั้ง 3 ข้อ ข้อแรกวิเคราะห์กระบวนการเช่ารถครบ ข้อสองได้ฐานข้อมูล 6 ตารางในรูปแบบ 3NF ข้อสามลดความซ้ำซ้อนและป้องกันข้อมูลผิดด้วย constraints การทดสอบทั้ง 19 คำสั่งให้ผลตามที่คาดหวัง รวมถึงกรณีข้อมูลผิด 2 กรณีที่ฐานข้อมูลปฏิเสธได้ถูกต้อง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ข้อจำกัดหลักมี 4 ข้อ และแต่ละข้อมีแนวทางแก้ไขที่สอดคล้องกัน เช่น การใช้ Trigger ทำให้กฎ BR6 และการคำนวณค่าเช่ารวมถูกบังคับในระดับฐานข้อมูล และการใช้ pgcrypto เพื่อเข้ารหัสข้อมูลใบขับขี่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ขอบคุณครับ ยินดีตอบคำถาม คำถามที่อาจพบ ได้แก่ ทำไมแยก BOOKING กับ RENTAL, กฎ BR6 บังคับใช้อย่างไร, ทำไมเลือก PostgreSQL แทน MySQL และนับ 30 constraints อย่างไร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000" y="0"/>
            <a:ext cx="4318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78800" y="1651000"/>
            <a:ext cx="1803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10083800" y="1651000"/>
            <a:ext cx="1803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CAR_TYPE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178800" y="3175000"/>
            <a:ext cx="1803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0083800" y="3175000"/>
            <a:ext cx="1803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178800" y="4699000"/>
            <a:ext cx="1803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083800" y="4699000"/>
            <a:ext cx="1803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55000" y="5461000"/>
            <a:ext cx="36982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โครงสร้างฐานข้อมูล 6 ตาราง โดยมี BOOKING เป็นศูนย์กลาง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12800" y="711200"/>
            <a:ext cx="909340" cy="254000"/>
          </a:xfrm>
          <a:prstGeom prst="roundRect">
            <a:avLst>
              <a:gd name="adj" fmla="val 54000"/>
            </a:avLst>
          </a:prstGeom>
          <a:solidFill>
            <a:srgbClr val="F4A2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01700" y="736600"/>
            <a:ext cx="8839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06066300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823740" y="711200"/>
            <a:ext cx="207636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4A261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รายวิชาแนวคิดระบบฐานข้อมูล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12800" y="1143000"/>
            <a:ext cx="68580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ระบบเช่ารถยนต์ออนไลน์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812800" y="1836341"/>
            <a:ext cx="685800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400" dirty="0">
                <a:solidFill>
                  <a:srgbClr val="F4A261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Online Car Rental System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12800" y="2379861"/>
            <a:ext cx="762000" cy="38100"/>
          </a:xfrm>
          <a:prstGeom prst="roundRect">
            <a:avLst>
              <a:gd name="adj" fmla="val 1200000"/>
            </a:avLst>
          </a:prstGeom>
          <a:solidFill>
            <a:srgbClr val="F4A26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12800" y="2595761"/>
            <a:ext cx="660400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การออกแบบและพัฒนาฐานข้อมูลเชิงสัมพันธ์ ตั้งแต่ความต้องการของผู้ใช้ จนถึงการทดสอบด้วย SQL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12800" y="5480050"/>
            <a:ext cx="6350000" cy="6350"/>
          </a:xfrm>
          <a:prstGeom prst="rect">
            <a:avLst/>
          </a:prstGeom>
          <a:solidFill>
            <a:srgbClr val="3E50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12800" y="5613400"/>
            <a:ext cx="6604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เสนอ ผศ.ดร.พัฒนพงษ์ ฉันทมิตรโอภาส</a:t>
            </a:r>
            <a:endParaRPr lang="en-US" sz="14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คณะเทคโนโลยีสารสนเทศ สถาบันเทคโนโลยีพระจอมเกล้าเจ้าคุณทหารลาดกระบัง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1 บทนำ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ที่มาและความสำคัญของปัญหา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686520"/>
            <a:ext cx="10287000" cy="24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การให้บริการเช่ารถยนต์เกี่ยวข้องกับข้อมูลหลายส่วนที่สัมพันธ์กัน หากขาดระบบฐานข้อมูลที่เหมาะสม จะเกิดปัญหาดังนี้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800" y="2189361"/>
            <a:ext cx="2489200" cy="1924447"/>
          </a:xfrm>
          <a:prstGeom prst="roundRect">
            <a:avLst>
              <a:gd name="adj" fmla="val 2509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750" y="2424311"/>
            <a:ext cx="279400" cy="279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47750" y="2805311"/>
            <a:ext cx="218084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การจัดเก็บแบบเดิม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47750" y="3160911"/>
            <a:ext cx="2100072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ข้อมูลถูกบันทึกในเอกสาร และกระจายอยู่หลายแหล่ง ทำให้สืบค้นได้ล่าช้า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505200" y="2189361"/>
            <a:ext cx="2489200" cy="1924447"/>
          </a:xfrm>
          <a:prstGeom prst="roundRect">
            <a:avLst>
              <a:gd name="adj" fmla="val 2509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150" y="2424311"/>
            <a:ext cx="279400" cy="2794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40150" y="2805311"/>
            <a:ext cx="218084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ข้อมูลซ้ำซ้อน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740150" y="3160911"/>
            <a:ext cx="2100072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ข้อมูลลูกค้า รถยนต์ และอัตราค่าเช่า ถูกบันทึกซ้ำ จนเกิดความคลาดเคลื่อน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97600" y="2189361"/>
            <a:ext cx="2489200" cy="1924447"/>
          </a:xfrm>
          <a:prstGeom prst="roundRect">
            <a:avLst>
              <a:gd name="adj" fmla="val 2509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550" y="2424311"/>
            <a:ext cx="279400" cy="279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32550" y="2805311"/>
            <a:ext cx="218084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การจองซ้อน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432550" y="3160911"/>
            <a:ext cx="2100072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รถยนต์คันเดียวกัน อาจถูกจองในช่วงเวลาที่ทับซ้อนกัน (Double Booking)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890000" y="2189361"/>
            <a:ext cx="2489200" cy="1924447"/>
          </a:xfrm>
          <a:prstGeom prst="roundRect">
            <a:avLst>
              <a:gd name="adj" fmla="val 2509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2424311"/>
            <a:ext cx="279400" cy="2794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124950" y="2805311"/>
            <a:ext cx="218084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ภาระการติดต่อ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9124950" y="3160911"/>
            <a:ext cx="2100072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ลูกค้าไม่สามารถตรวจสอบ สถานะรถได้ด้วยตนเอง ต้องติดต่อสอบถามเป็นรายกรณี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12800" y="4367808"/>
            <a:ext cx="10566400" cy="972741"/>
          </a:xfrm>
          <a:prstGeom prst="roundRect">
            <a:avLst>
              <a:gd name="adj" fmla="val 9818"/>
            </a:avLst>
          </a:prstGeom>
          <a:solidFill>
            <a:srgbClr val="14213D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7600" y="4689078"/>
            <a:ext cx="330200" cy="3302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51000" y="4596408"/>
            <a:ext cx="9800336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แนวทางแก้ไข</a:t>
            </a:r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พัฒนาฐานข้อมูลกลางที่รวบรวมข้อมูลลูกค้า รถยนต์ การจอง การเช่า และการชำระเงินไว้ในระบบเดียว เพื่อให้ตรวจสอบสถานะได้ทันที และป้องกันการจองซ้อนโดยอัตโนมัติ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1 บทนำ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วัตถุประสงค์และขอบเขตของระบบ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64320"/>
            <a:ext cx="5458968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วัตถุประสงค์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2800" y="2365970"/>
            <a:ext cx="50546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12800" y="2524720"/>
            <a:ext cx="457200" cy="30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2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295400" y="2524720"/>
            <a:ext cx="4754880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เพื่อศึกษาและวิเคราะห์กระบวนการให้บริการเช่ารถยนต์ และนำหลักการออกแบบฐานข้อมูลมาประยุกต์ใช้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3192661"/>
            <a:ext cx="50546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12800" y="3351411"/>
            <a:ext cx="457200" cy="30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2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295400" y="3351411"/>
            <a:ext cx="4754880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เพื่อออกแบบฐานข้อมูลที่สามารถจัดเก็บ สืบค้น ตรวจสอบ และปรับปรุงข้อมูลได้อย่างเป็นระบบ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4019352"/>
            <a:ext cx="50546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12" name="Shape 10"/>
          <p:cNvSpPr/>
          <p:nvPr/>
        </p:nvSpPr>
        <p:spPr>
          <a:xfrm>
            <a:off x="812800" y="4846042"/>
            <a:ext cx="50546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2800" y="4178102"/>
            <a:ext cx="457200" cy="30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2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295400" y="4178102"/>
            <a:ext cx="4754880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เพื่อลดความซ้ำซ้อนและความคลาดเคลื่อนในการจัดการรถยนต์ การจอง การรับรถ และการคืนรถ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24600" y="1864320"/>
            <a:ext cx="5458968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ขอบเขตของระบบ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324600" y="2365970"/>
            <a:ext cx="5054600" cy="1141611"/>
          </a:xfrm>
          <a:prstGeom prst="roundRect">
            <a:avLst>
              <a:gd name="adj" fmla="val 7128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4150" y="2550120"/>
            <a:ext cx="279400" cy="2794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965950" y="2550120"/>
            <a:ext cx="4371848" cy="773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ผู้ใช้บริการ (Customer)</a:t>
            </a:r>
            <a:endParaRPr lang="en-US" sz="140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ลงทะเบียน ค้นหารถยนต์ ทำรายการจอง ชำระเงิน และติดตามสถานะ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324600" y="3634581"/>
            <a:ext cx="5054600" cy="1141611"/>
          </a:xfrm>
          <a:prstGeom prst="roundRect">
            <a:avLst>
              <a:gd name="adj" fmla="val 7128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4150" y="3818731"/>
            <a:ext cx="279400" cy="2794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965950" y="3818731"/>
            <a:ext cx="4371848" cy="773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ผู้ดูแลระบบ (Admin)</a:t>
            </a:r>
            <a:endParaRPr lang="en-US" sz="140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บริหารข้อมูลลูกค้า รถยนต์ ประเภทรถ อัตราค่าเช่า การจอง การรับคืนรถ และการชำระเงิน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324600" y="4903192"/>
            <a:ext cx="5256784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ฐานข้อมูลประกอบด้วย 6 ตาราง ได้แก่ </a:t>
            </a:r>
            <a:pPr algn="l" indent="0" marL="0">
              <a:lnSpc>
                <a:spcPct val="124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CUSTOMER, CAR_TYPE, CAR, BOOKING, RENTAL</a:t>
            </a:r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และ </a:t>
            </a:r>
            <a:pPr algn="l" indent="0" marL="0">
              <a:lnSpc>
                <a:spcPct val="124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2 ทฤษฎีที่เกี่ยวข้อง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หลักการที่ใช้ในการออกแบบฐานข้อมูล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686520"/>
            <a:ext cx="10287000" cy="24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การออกแบบอาศัยหลักการสามส่วน ตั้งแต่ระดับแนวคิดจนถึงการกำหนดโครงสร้างข้อมูลจริง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800" y="2189361"/>
            <a:ext cx="3352800" cy="2531368"/>
          </a:xfrm>
          <a:prstGeom prst="roundRect">
            <a:avLst>
              <a:gd name="adj" fmla="val 1450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3150" y="2449711"/>
            <a:ext cx="3058668" cy="30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2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73150" y="2858591"/>
            <a:ext cx="305866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Entity Relationship Diagram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73150" y="3214191"/>
            <a:ext cx="2945384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แบบจำลองระดับแนวคิด ที่แสดงเอนทิตี แอตทริบิวต์ และความสัมพันธ์ระหว่างข้อมูล โดยไม่ขึ้นกับ DBMS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73150" y="4033738"/>
            <a:ext cx="2945384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Strong และ Weak Entity, Cardinality 1:1, 1:N, M:N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19600" y="2189361"/>
            <a:ext cx="3352800" cy="2531368"/>
          </a:xfrm>
          <a:prstGeom prst="roundRect">
            <a:avLst>
              <a:gd name="adj" fmla="val 1450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79950" y="2449711"/>
            <a:ext cx="3058668" cy="30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2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79950" y="2858591"/>
            <a:ext cx="305866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Normalization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79950" y="3214191"/>
            <a:ext cx="2945384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กระบวนการปรับโครงสร้างตาราง เพื่อลดความซ้ำซ้อน และขจัดความผิดปกติในการจัดการข้อมูล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79950" y="4033738"/>
            <a:ext cx="3058668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Insertion, Update และ Deletion Anomaly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26400" y="2189361"/>
            <a:ext cx="3352800" cy="2531368"/>
          </a:xfrm>
          <a:prstGeom prst="roundRect">
            <a:avLst>
              <a:gd name="adj" fmla="val 1450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86750" y="2449711"/>
            <a:ext cx="3058668" cy="30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2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286750" y="2858591"/>
            <a:ext cx="305866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Data Dictionary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86750" y="3214191"/>
            <a:ext cx="2945384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เอกสารอ้างอิงกลาง ที่อธิบายโครงสร้าง ชนิด และข้อจำกัดของข้อมูล ให้ผู้พัฒนาเข้าใจตรงกัน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86750" y="4033738"/>
            <a:ext cx="3058668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Metadata และ Data Integrity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ความต้องการของผู้ใช้ (User Requirements)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64320"/>
            <a:ext cx="6583680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ความต้องการด้านฟังก์ชัน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2800" y="2365970"/>
            <a:ext cx="6096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12800" y="2512020"/>
            <a:ext cx="1584960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ระบบลูกค้า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489200" y="2512020"/>
            <a:ext cx="4596384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เพิ่ม แก้ไข ค้นหา และลบข้อมูลลูกค้า พร้อมตรวจสอบเลขใบอนุญาตขับขี่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3167261"/>
            <a:ext cx="6096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12800" y="3313311"/>
            <a:ext cx="1584960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ระบบรถยนต์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489200" y="3313311"/>
            <a:ext cx="4596384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จัดหมวดหมู่รถเป็น Sedan, SUV, Van และ Eco Car พร้อมปรับปรุงสถานะรถ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968552"/>
            <a:ext cx="6096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12800" y="4114602"/>
            <a:ext cx="1584960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ระบบการเช่า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489200" y="4114602"/>
            <a:ext cx="4596384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กำหนดวันรับและวันคืนรถ และคำนวณค่าเช่ารวมจากจำนวนวันคูณค่าเช่าต่อวัน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2800" y="4769842"/>
            <a:ext cx="6096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15" name="Shape 13"/>
          <p:cNvSpPr/>
          <p:nvPr/>
        </p:nvSpPr>
        <p:spPr>
          <a:xfrm>
            <a:off x="812800" y="5571133"/>
            <a:ext cx="6096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2800" y="4915892"/>
            <a:ext cx="1584960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ระบบชำระเงิน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489200" y="4915892"/>
            <a:ext cx="4596384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รองรับการชำระหลายงวดต่อการเช่าหนึ่งครั้ง ได้แก่ เงินมัดจำ ค่าเช่า และค่าปรับ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1864320"/>
            <a:ext cx="4389120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ความต้องการที่ไม่ใช่ฟังก์ชัน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0" y="2391370"/>
            <a:ext cx="4064000" cy="1302941"/>
          </a:xfrm>
          <a:prstGeom prst="roundRect">
            <a:avLst>
              <a:gd name="adj" fmla="val 5472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4750" y="2632670"/>
            <a:ext cx="228600" cy="22860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854950" y="2600920"/>
            <a:ext cx="1216918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ความปลอดภัย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524750" y="2969220"/>
            <a:ext cx="3790696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ข้อมูลส่วนบุคคลและใบขับขี่ต้องได้รับการเข้ารหัสและจัดเก็บอย่างปลอดภัย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315200" y="3846711"/>
            <a:ext cx="4064000" cy="1302941"/>
          </a:xfrm>
          <a:prstGeom prst="roundRect">
            <a:avLst>
              <a:gd name="adj" fmla="val 5472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50" y="4088011"/>
            <a:ext cx="228600" cy="2286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854950" y="4056261"/>
            <a:ext cx="1834059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ความถูกต้องของข้อมูล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7524750" y="4424561"/>
            <a:ext cx="3790696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ต้องป้องกันการจองรถคันเดียวกันในช่วงเวลาที่ทับซ้อนกัน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การเลือกใช้ซอฟต์แวร์และสถาปัตยกรรมระบบ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64320"/>
            <a:ext cx="5340350" cy="3683000"/>
          </a:xfrm>
          <a:prstGeom prst="roundRect">
            <a:avLst>
              <a:gd name="adj" fmla="val 685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150" y="2124670"/>
            <a:ext cx="330200" cy="33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30350" y="2152650"/>
            <a:ext cx="2878967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8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PostgreSQL บน Supabase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073150" y="2581870"/>
            <a:ext cx="520522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เหตุผลในการเลือกใช้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3150" y="2962870"/>
            <a:ext cx="190500" cy="1905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65250" y="2962870"/>
            <a:ext cx="4889754" cy="2578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ข้อมูลมีความสัมพันธ์ชัดเจน จึงเหมาะกับฐานข้อมูลเชิงสัมพันธ์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150" y="3347641"/>
            <a:ext cx="190500" cy="1905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65250" y="3347641"/>
            <a:ext cx="4708652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รองรับ EXCLUDE Constraint สำหรับป้องกันการจองซ้อนได้ในตัว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150" y="3990181"/>
            <a:ext cx="190500" cy="1905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65250" y="3990181"/>
            <a:ext cx="4889754" cy="2578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รองรับ Transaction แบบ ACID, CTE และ Window Function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3150" y="4374952"/>
            <a:ext cx="190500" cy="1905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365250" y="4374952"/>
            <a:ext cx="4889754" cy="2578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Supabase ให้บริการบนคลาวด์ ใช้งานได้ตลอด 24 ชั่วโมง</a:t>
            </a:r>
            <a:endParaRPr lang="en-US" sz="1400" dirty="0"/>
          </a:p>
        </p:txBody>
      </p:sp>
      <p:sp>
        <p:nvSpPr>
          <p:cNvPr id="16" name="Text 9"/>
          <p:cNvSpPr txBox="1"/>
          <p:nvPr/>
        </p:nvSpPr>
        <p:spPr>
          <a:xfrm>
            <a:off x="6559550" y="1864320"/>
            <a:ext cx="520522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สถาปัตยกรรมแบบสามชั้น (3-Tier Architecture)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6559550" y="2207220"/>
            <a:ext cx="4819650" cy="863600"/>
          </a:xfrm>
          <a:prstGeom prst="roundRect">
            <a:avLst>
              <a:gd name="adj" fmla="val 12457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6769100" y="2353270"/>
            <a:ext cx="4752594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ส่วนแสดงผล (Frontend)</a:t>
            </a:r>
            <a:endParaRPr lang="en-US" sz="1400" dirty="0"/>
          </a:p>
        </p:txBody>
      </p:sp>
      <p:sp>
        <p:nvSpPr>
          <p:cNvPr id="19" name="Text 12"/>
          <p:cNvSpPr txBox="1"/>
          <p:nvPr/>
        </p:nvSpPr>
        <p:spPr>
          <a:xfrm>
            <a:off x="6769100" y="2670770"/>
            <a:ext cx="475259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React หรือ Flutter ติดตั้งบน Vercel</a:t>
            </a:r>
            <a:endParaRPr lang="en-US" sz="12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6825" y="3159720"/>
            <a:ext cx="165100" cy="2032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6559550" y="3451820"/>
            <a:ext cx="4819650" cy="863600"/>
          </a:xfrm>
          <a:prstGeom prst="roundRect">
            <a:avLst>
              <a:gd name="adj" fmla="val 12457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6769100" y="3597870"/>
            <a:ext cx="4752594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ส่วนประมวลผล (Backend API)</a:t>
            </a:r>
            <a:endParaRPr lang="en-US" sz="1400" dirty="0"/>
          </a:p>
        </p:txBody>
      </p:sp>
      <p:sp>
        <p:nvSpPr>
          <p:cNvPr id="23" name="Text 15"/>
          <p:cNvSpPr txBox="1"/>
          <p:nvPr/>
        </p:nvSpPr>
        <p:spPr>
          <a:xfrm>
            <a:off x="6769100" y="3915370"/>
            <a:ext cx="475259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RESTful API พัฒนาด้วย FastAPI หรือ Node.js</a:t>
            </a:r>
            <a:endParaRPr lang="en-US" sz="120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6825" y="4404320"/>
            <a:ext cx="165100" cy="20320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559550" y="4696420"/>
            <a:ext cx="4819650" cy="850900"/>
          </a:xfrm>
          <a:prstGeom prst="roundRect">
            <a:avLst>
              <a:gd name="adj" fmla="val 12831"/>
            </a:avLst>
          </a:prstGeom>
          <a:solidFill>
            <a:srgbClr val="14213D"/>
          </a:solidFill>
          <a:ln/>
        </p:spPr>
      </p:sp>
      <p:sp>
        <p:nvSpPr>
          <p:cNvPr id="26" name="Text 17"/>
          <p:cNvSpPr txBox="1"/>
          <p:nvPr/>
        </p:nvSpPr>
        <p:spPr>
          <a:xfrm>
            <a:off x="6762750" y="4836120"/>
            <a:ext cx="476631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ส่วนจัดการฐานข้อมูล (Database)</a:t>
            </a:r>
            <a:endParaRPr lang="en-US" sz="1400" dirty="0"/>
          </a:p>
        </p:txBody>
      </p:sp>
      <p:sp>
        <p:nvSpPr>
          <p:cNvPr id="27" name="Text 18"/>
          <p:cNvSpPr txBox="1"/>
          <p:nvPr/>
        </p:nvSpPr>
        <p:spPr>
          <a:xfrm>
            <a:off x="6762750" y="5153620"/>
            <a:ext cx="476631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ออกแบบสำหรับ Supabase ทดสอบบน PostgreSQL 16</a:t>
            </a:r>
            <a:endParaRPr lang="en-US" sz="1200" dirty="0"/>
          </a:p>
        </p:txBody>
      </p:sp>
      <p:sp>
        <p:nvSpPr>
          <p:cNvPr id="28" name="Text 19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ลักษณะการทำงานของระบบ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686520"/>
            <a:ext cx="10287000" cy="24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กระบวนการตั้งแต่ลงทะเบียนจนถึงคืนรถแบ่งเป็น 5 ขั้นตอน แต่ละขั้นตอนอ่านหรือบันทึกข้อมูลในตารางที่กำหนด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800" y="2189361"/>
            <a:ext cx="1767880" cy="2744391"/>
          </a:xfrm>
          <a:prstGeom prst="roundRect">
            <a:avLst>
              <a:gd name="adj" fmla="val 2973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4250" y="2386211"/>
            <a:ext cx="381000" cy="381000"/>
          </a:xfrm>
          <a:prstGeom prst="roundRect">
            <a:avLst>
              <a:gd name="adj" fmla="val 120000"/>
            </a:avLst>
          </a:prstGeom>
          <a:solidFill>
            <a:srgbClr val="1421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08050" y="2386211"/>
            <a:ext cx="5334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6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84250" y="2856111"/>
            <a:ext cx="1577380" cy="336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ลงทะเบียน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84250" y="3281561"/>
            <a:ext cx="1481979" cy="108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บันทึกข้อมูลผู้ใช้บริการ และตรวจสอบใบขับขี่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4250" y="4457502"/>
            <a:ext cx="1424980" cy="279400"/>
          </a:xfrm>
          <a:prstGeom prst="roundRect">
            <a:avLst>
              <a:gd name="adj" fmla="val 74380"/>
            </a:avLst>
          </a:prstGeom>
          <a:solidFill>
            <a:srgbClr val="E6EAF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73150" y="4495602"/>
            <a:ext cx="13995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</a:t>
            </a:r>
            <a:endParaRPr lang="en-US" sz="12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4980" y="3491706"/>
            <a:ext cx="203200" cy="1397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3012480" y="2189361"/>
            <a:ext cx="1767880" cy="2744391"/>
          </a:xfrm>
          <a:prstGeom prst="roundRect">
            <a:avLst>
              <a:gd name="adj" fmla="val 2973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183930" y="2386211"/>
            <a:ext cx="381000" cy="381000"/>
          </a:xfrm>
          <a:prstGeom prst="roundRect">
            <a:avLst>
              <a:gd name="adj" fmla="val 120000"/>
            </a:avLst>
          </a:prstGeom>
          <a:solidFill>
            <a:srgbClr val="14213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107730" y="2386211"/>
            <a:ext cx="5334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6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183930" y="2856111"/>
            <a:ext cx="1577380" cy="336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ค้นหารถยนต์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3183930" y="3281561"/>
            <a:ext cx="1481979" cy="883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แสดงเฉพาะรถยนต์ ที่มีสถานะว่าง (Available)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183930" y="4254302"/>
            <a:ext cx="1424980" cy="482600"/>
          </a:xfrm>
          <a:prstGeom prst="roundRect">
            <a:avLst>
              <a:gd name="adj" fmla="val 24931"/>
            </a:avLst>
          </a:prstGeom>
          <a:solidFill>
            <a:srgbClr val="E6EAF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272830" y="4292402"/>
            <a:ext cx="129706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</a:t>
            </a:r>
            <a:endParaRPr lang="en-US" sz="1200" dirty="0"/>
          </a:p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CAR_TYPE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4659" y="3491706"/>
            <a:ext cx="203200" cy="13970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5212159" y="2189361"/>
            <a:ext cx="1767880" cy="2744391"/>
          </a:xfrm>
          <a:prstGeom prst="roundRect">
            <a:avLst>
              <a:gd name="adj" fmla="val 2973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383609" y="2386211"/>
            <a:ext cx="381000" cy="381000"/>
          </a:xfrm>
          <a:prstGeom prst="roundRect">
            <a:avLst>
              <a:gd name="adj" fmla="val 120000"/>
            </a:avLst>
          </a:prstGeom>
          <a:solidFill>
            <a:srgbClr val="C2410C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307409" y="2386211"/>
            <a:ext cx="5334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6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5383609" y="2856111"/>
            <a:ext cx="1577380" cy="336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จองและเช่า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5383609" y="3281561"/>
            <a:ext cx="1481979" cy="883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คำนวณค่าเช่ารวม จากจำนวนวัน คูณอัตราต่อวัน และเปลี่ยนสถานะรถ เป็น Rented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383609" y="4254302"/>
            <a:ext cx="1424980" cy="482600"/>
          </a:xfrm>
          <a:prstGeom prst="roundRect">
            <a:avLst>
              <a:gd name="adj" fmla="val 24931"/>
            </a:avLst>
          </a:prstGeom>
          <a:solidFill>
            <a:srgbClr val="E6EAF0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472509" y="4292402"/>
            <a:ext cx="129706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</a:t>
            </a:r>
            <a:endParaRPr lang="en-US" sz="1200" dirty="0"/>
          </a:p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2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4339" y="3491706"/>
            <a:ext cx="203200" cy="13970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411839" y="2189361"/>
            <a:ext cx="1767880" cy="2744391"/>
          </a:xfrm>
          <a:prstGeom prst="roundRect">
            <a:avLst>
              <a:gd name="adj" fmla="val 2973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583289" y="2386211"/>
            <a:ext cx="381000" cy="381000"/>
          </a:xfrm>
          <a:prstGeom prst="roundRect">
            <a:avLst>
              <a:gd name="adj" fmla="val 120000"/>
            </a:avLst>
          </a:prstGeom>
          <a:solidFill>
            <a:srgbClr val="14213D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7507089" y="2386211"/>
            <a:ext cx="5334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6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7583289" y="2856111"/>
            <a:ext cx="1577380" cy="336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ชำระเงิน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7583289" y="3281561"/>
            <a:ext cx="1481979" cy="108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บันทึกรายการชำระเงิน และยืนยันการจอง (Confirmed)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7583289" y="4457502"/>
            <a:ext cx="1424980" cy="279400"/>
          </a:xfrm>
          <a:prstGeom prst="roundRect">
            <a:avLst>
              <a:gd name="adj" fmla="val 74380"/>
            </a:avLst>
          </a:prstGeom>
          <a:solidFill>
            <a:srgbClr val="E6EAF0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672189" y="4495602"/>
            <a:ext cx="13995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</a:t>
            </a:r>
            <a:endParaRPr lang="en-US" sz="1200" dirty="0"/>
          </a:p>
        </p:txBody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4019" y="3491706"/>
            <a:ext cx="203200" cy="139700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9611519" y="2189361"/>
            <a:ext cx="1767880" cy="2744391"/>
          </a:xfrm>
          <a:prstGeom prst="roundRect">
            <a:avLst>
              <a:gd name="adj" fmla="val 2973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9782969" y="2386211"/>
            <a:ext cx="381000" cy="381000"/>
          </a:xfrm>
          <a:prstGeom prst="roundRect">
            <a:avLst>
              <a:gd name="adj" fmla="val 120000"/>
            </a:avLst>
          </a:prstGeom>
          <a:solidFill>
            <a:srgbClr val="14213D"/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9706769" y="2386211"/>
            <a:ext cx="5334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6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5</a:t>
            </a:r>
            <a:endParaRPr lang="en-US" sz="1600" dirty="0"/>
          </a:p>
        </p:txBody>
      </p:sp>
      <p:sp>
        <p:nvSpPr>
          <p:cNvPr id="40" name="Text 34"/>
          <p:cNvSpPr txBox="1"/>
          <p:nvPr/>
        </p:nvSpPr>
        <p:spPr>
          <a:xfrm>
            <a:off x="9782969" y="2856111"/>
            <a:ext cx="1577380" cy="336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คืนรถ</a:t>
            </a:r>
            <a:endParaRPr lang="en-US" sz="1600" dirty="0"/>
          </a:p>
        </p:txBody>
      </p:sp>
      <p:sp>
        <p:nvSpPr>
          <p:cNvPr id="41" name="Text 35"/>
          <p:cNvSpPr txBox="1"/>
          <p:nvPr/>
        </p:nvSpPr>
        <p:spPr>
          <a:xfrm>
            <a:off x="9782969" y="3281561"/>
            <a:ext cx="1481979" cy="883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ผู้ดูแลระบบ ตรวจสภาพรถ ปิดรายการเช่า และคืนสถานะรถ เป็นว่าง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9782969" y="4254302"/>
            <a:ext cx="1424980" cy="482600"/>
          </a:xfrm>
          <a:prstGeom prst="roundRect">
            <a:avLst>
              <a:gd name="adj" fmla="val 24931"/>
            </a:avLst>
          </a:prstGeom>
          <a:solidFill>
            <a:srgbClr val="E6EAF0"/>
          </a:solidFill>
          <a:ln/>
        </p:spPr>
      </p:sp>
      <p:sp>
        <p:nvSpPr>
          <p:cNvPr id="43" name="Text 37"/>
          <p:cNvSpPr txBox="1"/>
          <p:nvPr/>
        </p:nvSpPr>
        <p:spPr>
          <a:xfrm>
            <a:off x="9871869" y="4292402"/>
            <a:ext cx="129706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200" dirty="0"/>
          </a:p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812800" y="5187752"/>
            <a:ext cx="10566400" cy="546100"/>
          </a:xfrm>
          <a:prstGeom prst="roundRect">
            <a:avLst>
              <a:gd name="adj" fmla="val 31152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1022350" y="5333802"/>
            <a:ext cx="75763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สถานะรถ</a:t>
            </a:r>
            <a:endParaRPr lang="en-US" sz="1200" dirty="0"/>
          </a:p>
        </p:txBody>
      </p:sp>
      <p:sp>
        <p:nvSpPr>
          <p:cNvPr id="46" name="Shape 40"/>
          <p:cNvSpPr/>
          <p:nvPr/>
        </p:nvSpPr>
        <p:spPr>
          <a:xfrm>
            <a:off x="1716484" y="5321102"/>
            <a:ext cx="1026220" cy="279400"/>
          </a:xfrm>
          <a:prstGeom prst="roundRect">
            <a:avLst>
              <a:gd name="adj" fmla="val 74380"/>
            </a:avLst>
          </a:prstGeom>
          <a:solidFill>
            <a:srgbClr val="E6EAF0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1818084" y="5359202"/>
            <a:ext cx="9754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Available</a:t>
            </a:r>
            <a:endParaRPr lang="en-US" sz="1200" dirty="0"/>
          </a:p>
        </p:txBody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1604" y="5397302"/>
            <a:ext cx="177800" cy="127000"/>
          </a:xfrm>
          <a:prstGeom prst="rect">
            <a:avLst/>
          </a:prstGeom>
        </p:spPr>
      </p:pic>
      <p:sp>
        <p:nvSpPr>
          <p:cNvPr id="49" name="Shape 42"/>
          <p:cNvSpPr/>
          <p:nvPr/>
        </p:nvSpPr>
        <p:spPr>
          <a:xfrm>
            <a:off x="3098304" y="5321102"/>
            <a:ext cx="751880" cy="279400"/>
          </a:xfrm>
          <a:prstGeom prst="roundRect">
            <a:avLst>
              <a:gd name="adj" fmla="val 74380"/>
            </a:avLst>
          </a:prstGeom>
          <a:solidFill>
            <a:srgbClr val="C2410C"/>
          </a:solidFill>
          <a:ln/>
        </p:spPr>
      </p:sp>
      <p:sp>
        <p:nvSpPr>
          <p:cNvPr id="50" name="Text 43"/>
          <p:cNvSpPr txBox="1"/>
          <p:nvPr/>
        </p:nvSpPr>
        <p:spPr>
          <a:xfrm>
            <a:off x="3199904" y="5359202"/>
            <a:ext cx="7010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Rented</a:t>
            </a:r>
            <a:endParaRPr lang="en-US" sz="1200" dirty="0"/>
          </a:p>
        </p:txBody>
      </p:sp>
      <p:pic>
        <p:nvPicPr>
          <p:cNvPr id="5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9084" y="5397302"/>
            <a:ext cx="177800" cy="127000"/>
          </a:xfrm>
          <a:prstGeom prst="rect">
            <a:avLst/>
          </a:prstGeom>
        </p:spPr>
      </p:pic>
      <p:sp>
        <p:nvSpPr>
          <p:cNvPr id="52" name="Shape 44"/>
          <p:cNvSpPr/>
          <p:nvPr/>
        </p:nvSpPr>
        <p:spPr>
          <a:xfrm>
            <a:off x="4205784" y="5321102"/>
            <a:ext cx="1026220" cy="279400"/>
          </a:xfrm>
          <a:prstGeom prst="roundRect">
            <a:avLst>
              <a:gd name="adj" fmla="val 74380"/>
            </a:avLst>
          </a:prstGeom>
          <a:solidFill>
            <a:srgbClr val="E6EAF0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307384" y="5359202"/>
            <a:ext cx="9754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Available</a:t>
            </a:r>
            <a:endParaRPr lang="en-US" sz="1200" dirty="0"/>
          </a:p>
        </p:txBody>
      </p:sp>
      <p:sp>
        <p:nvSpPr>
          <p:cNvPr id="54" name="Text 46"/>
          <p:cNvSpPr txBox="1"/>
          <p:nvPr/>
        </p:nvSpPr>
        <p:spPr>
          <a:xfrm>
            <a:off x="6530975" y="5333802"/>
            <a:ext cx="109517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สถานะการจอง</a:t>
            </a:r>
            <a:endParaRPr lang="en-US" sz="1200" dirty="0"/>
          </a:p>
        </p:txBody>
      </p:sp>
      <p:sp>
        <p:nvSpPr>
          <p:cNvPr id="55" name="Shape 47"/>
          <p:cNvSpPr/>
          <p:nvPr/>
        </p:nvSpPr>
        <p:spPr>
          <a:xfrm>
            <a:off x="7562652" y="5321102"/>
            <a:ext cx="843359" cy="279400"/>
          </a:xfrm>
          <a:prstGeom prst="roundRect">
            <a:avLst>
              <a:gd name="adj" fmla="val 74380"/>
            </a:avLst>
          </a:prstGeom>
          <a:solidFill>
            <a:srgbClr val="E6EAF0"/>
          </a:solidFill>
          <a:ln/>
        </p:spPr>
      </p:sp>
      <p:sp>
        <p:nvSpPr>
          <p:cNvPr id="56" name="Text 48"/>
          <p:cNvSpPr txBox="1"/>
          <p:nvPr/>
        </p:nvSpPr>
        <p:spPr>
          <a:xfrm>
            <a:off x="7664252" y="5359202"/>
            <a:ext cx="7925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Pending</a:t>
            </a:r>
            <a:endParaRPr lang="en-US" sz="1200" dirty="0"/>
          </a:p>
        </p:txBody>
      </p:sp>
      <p:pic>
        <p:nvPicPr>
          <p:cNvPr id="5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911" y="5397302"/>
            <a:ext cx="177800" cy="127000"/>
          </a:xfrm>
          <a:prstGeom prst="rect">
            <a:avLst/>
          </a:prstGeom>
        </p:spPr>
      </p:pic>
      <p:sp>
        <p:nvSpPr>
          <p:cNvPr id="58" name="Shape 49"/>
          <p:cNvSpPr/>
          <p:nvPr/>
        </p:nvSpPr>
        <p:spPr>
          <a:xfrm>
            <a:off x="8761611" y="5321102"/>
            <a:ext cx="1026220" cy="279400"/>
          </a:xfrm>
          <a:prstGeom prst="roundRect">
            <a:avLst>
              <a:gd name="adj" fmla="val 74380"/>
            </a:avLst>
          </a:prstGeom>
          <a:solidFill>
            <a:srgbClr val="E6EAF0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863211" y="5359202"/>
            <a:ext cx="9754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Confirmed</a:t>
            </a:r>
            <a:endParaRPr lang="en-US" sz="1200" dirty="0"/>
          </a:p>
        </p:txBody>
      </p:sp>
      <p:pic>
        <p:nvPicPr>
          <p:cNvPr id="6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6730" y="5397302"/>
            <a:ext cx="177800" cy="127000"/>
          </a:xfrm>
          <a:prstGeom prst="rect">
            <a:avLst/>
          </a:prstGeom>
        </p:spPr>
      </p:pic>
      <p:sp>
        <p:nvSpPr>
          <p:cNvPr id="61" name="Shape 51"/>
          <p:cNvSpPr/>
          <p:nvPr/>
        </p:nvSpPr>
        <p:spPr>
          <a:xfrm>
            <a:off x="10143430" y="5321102"/>
            <a:ext cx="1026220" cy="279400"/>
          </a:xfrm>
          <a:prstGeom prst="roundRect">
            <a:avLst>
              <a:gd name="adj" fmla="val 74380"/>
            </a:avLst>
          </a:prstGeom>
          <a:solidFill>
            <a:srgbClr val="15803D"/>
          </a:solidFill>
          <a:ln/>
        </p:spPr>
      </p:sp>
      <p:sp>
        <p:nvSpPr>
          <p:cNvPr id="62" name="Text 52"/>
          <p:cNvSpPr txBox="1"/>
          <p:nvPr/>
        </p:nvSpPr>
        <p:spPr>
          <a:xfrm>
            <a:off x="10245030" y="5359202"/>
            <a:ext cx="9754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Completed</a:t>
            </a:r>
            <a:endParaRPr lang="en-US" sz="1200" dirty="0"/>
          </a:p>
        </p:txBody>
      </p:sp>
      <p:sp>
        <p:nvSpPr>
          <p:cNvPr id="63" name="Text 53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หลักการทำงานของระบบ (Sequence Diagram) ส่วนที่ 1/2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905000"/>
            <a:ext cx="10566400" cy="4013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3657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67457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ลูกค้า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353171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276971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Backend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862685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786485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CUSTOMER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372199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295999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CAR / CAR_TYPE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81713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05513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BOOKING/RENTAL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391227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15027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PAYMENT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900741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824541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ผู้ดูแลระบบ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2800" y="2311400"/>
            <a:ext cx="10566400" cy="254000"/>
          </a:xfrm>
          <a:prstGeom prst="roundRect">
            <a:avLst>
              <a:gd name="adj" fmla="val 54000"/>
            </a:avLst>
          </a:prstGeom>
          <a:solidFill>
            <a:srgbClr val="E8EEF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14400" y="2311400"/>
            <a:ext cx="273377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ขั้นตอนที่ 1 การลงทะเบียนและเข้าสู่ระบบ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1016000" y="2565400"/>
            <a:ext cx="26098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66470" y="2565400"/>
            <a:ext cx="27089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สมัครสมาชิก กรอกข้อมูลและใบขับขี่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435350" y="2819400"/>
            <a:ext cx="23495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486150" y="2819400"/>
            <a:ext cx="242773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2</a:t>
            </a:r>
            <a:pPr algn="l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ตรวจสอบความถูกต้องของข้อมูล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774950" y="3073400"/>
            <a:ext cx="21145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745232" y="3073400"/>
            <a:ext cx="21739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3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บันทึกข้อมูลลูกค้า (INSERT)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2800" y="3327400"/>
            <a:ext cx="10566400" cy="254000"/>
          </a:xfrm>
          <a:prstGeom prst="roundRect">
            <a:avLst>
              <a:gd name="adj" fmla="val 54000"/>
            </a:avLst>
          </a:prstGeom>
          <a:solidFill>
            <a:srgbClr val="EEF1F5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14400" y="3327400"/>
            <a:ext cx="258032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ขั้นตอนที่ 2 การค้นหาและเลือกรถยนต์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1771650" y="3581400"/>
            <a:ext cx="11049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746250" y="3581400"/>
            <a:ext cx="1155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4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ค้นหารถยนต์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794000" y="3835400"/>
            <a:ext cx="35877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705354" y="3835400"/>
            <a:ext cx="376504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5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ดึงข้อมูล (SELECT) กรอง Status = Available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3409950" y="4089400"/>
            <a:ext cx="23495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370834" y="4089400"/>
            <a:ext cx="242773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6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ส่งข้อมูลรถที่พร้อมใช้งานกลับมา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1504950" y="4343400"/>
            <a:ext cx="16383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1479550" y="4343400"/>
            <a:ext cx="16891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7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แสดงรายการรถยนต์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12800" y="4597400"/>
            <a:ext cx="10566400" cy="254000"/>
          </a:xfrm>
          <a:prstGeom prst="roundRect">
            <a:avLst>
              <a:gd name="adj" fmla="val 54000"/>
            </a:avLst>
          </a:prstGeom>
          <a:solidFill>
            <a:srgbClr val="EAF4E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914400" y="4597400"/>
            <a:ext cx="22170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ขั้นตอนที่ 3 การทำรายการเช่ารถ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1016000" y="4851400"/>
            <a:ext cx="26098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966470" y="4851400"/>
            <a:ext cx="27089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8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เลือกรถ และระบุวันรับและวันคืนรถ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3435350" y="5105400"/>
            <a:ext cx="36004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3486150" y="5105400"/>
            <a:ext cx="37787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9</a:t>
            </a:r>
            <a:pPr algn="l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คำนวณ TotalAmount = จำนวนวัน × DailyRate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3124200" y="5359400"/>
            <a:ext cx="44323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3001772" y="5359400"/>
            <a:ext cx="467715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10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สร้างรายการจอง (INSERT BOOKING: CustomerID, CarID)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3479800" y="5613400"/>
            <a:ext cx="22161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3446018" y="5613400"/>
            <a:ext cx="2283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11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อัปเดตสถานะรถเป็น Rented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หลักการทำงานของระบบ (Sequence Diagram) ส่วนที่ 2/2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905000"/>
            <a:ext cx="10566400" cy="299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3657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67457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ลูกค้า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353171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276971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Backend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862685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786485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CUSTOMER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372199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295999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CAR / CAR_TYPE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81713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05513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BOOKING/RENTAL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391227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15027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PAYMENT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900741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824541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ผู้ดูแลระบบ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2800" y="2311400"/>
            <a:ext cx="10566400" cy="254000"/>
          </a:xfrm>
          <a:prstGeom prst="roundRect">
            <a:avLst>
              <a:gd name="adj" fmla="val 54000"/>
            </a:avLst>
          </a:prstGeom>
          <a:solidFill>
            <a:srgbClr val="FBF3E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14400" y="2311400"/>
            <a:ext cx="166975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ขั้นตอนที่ 4 การชำระเงิน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1860550" y="2565400"/>
            <a:ext cx="9271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835150" y="2565400"/>
            <a:ext cx="9779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12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ชำระเงิน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318000" y="2819400"/>
            <a:ext cx="35623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230370" y="2819400"/>
            <a:ext cx="37376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13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บันทึกการชำระเงิน (INSERT อ้างอิง RentalID)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930650" y="3073400"/>
            <a:ext cx="28194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872738" y="3073400"/>
            <a:ext cx="29352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14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อัปเดตสถานะการจองเป็น Confirmed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1371600" y="3327400"/>
            <a:ext cx="19050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346200" y="3327400"/>
            <a:ext cx="1955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15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แจ้งยืนยันการจองสำเร็จ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12800" y="3581400"/>
            <a:ext cx="10566400" cy="254000"/>
          </a:xfrm>
          <a:prstGeom prst="roundRect">
            <a:avLst>
              <a:gd name="adj" fmla="val 54000"/>
            </a:avLst>
          </a:prstGeom>
          <a:solidFill>
            <a:srgbClr val="FBEAE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14400" y="3581400"/>
            <a:ext cx="151090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ขั้นตอนที่ 5 การคืนรถ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699000" y="3835400"/>
            <a:ext cx="28003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641850" y="3835400"/>
            <a:ext cx="29146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16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นำรถมาคืนตามกำหนด (ReturnDate)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588000" y="4089400"/>
            <a:ext cx="25209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542026" y="4089400"/>
            <a:ext cx="261289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17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ตรวจสภาพรถ และบันทึกการรับคืน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3930650" y="4343400"/>
            <a:ext cx="28194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3872738" y="4343400"/>
            <a:ext cx="29352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18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อัปเดตสถานะการเช่าเป็น Completed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3352800" y="4597400"/>
            <a:ext cx="24638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309112" y="4597400"/>
            <a:ext cx="25511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19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อัปเดตสถานะรถเป็น Available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กฎทางธุรกิจและการบังคับใช้ในฐานข้อมูล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64320"/>
            <a:ext cx="10566400" cy="35560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5975" y="1867495"/>
            <a:ext cx="10560050" cy="37782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7575" y="1918295"/>
            <a:ext cx="899517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กฎ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867892" y="1918295"/>
            <a:ext cx="6053257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รายละเอียด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675959" y="1918295"/>
            <a:ext cx="3886343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วิธีบังคับใช้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7575" y="2296120"/>
            <a:ext cx="77700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67892" y="2296120"/>
            <a:ext cx="582906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ลูกค้าหนึ่งคนทำรายการเช่าได้หลายรายการ แต่แต่ละรายการเป็นของลูกค้าเพียงคนเดียว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75959" y="2296120"/>
            <a:ext cx="3742404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Foreign Key แบบ 1 ต่อ 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975" y="2893020"/>
            <a:ext cx="10560050" cy="37465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7575" y="2943820"/>
            <a:ext cx="899517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867892" y="2943820"/>
            <a:ext cx="6053257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รถยนต์หนึ่งคันไม่สามารถถูกจองซ้อนในช่วงเวลาเดียวกันได้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75959" y="2943820"/>
            <a:ext cx="3886343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EXCLUDE Constraint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7575" y="3318470"/>
            <a:ext cx="899517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867892" y="3318470"/>
            <a:ext cx="6053257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รถยนต์แต่ละคันอยู่ในประเภทเดียว และประเภทหนึ่งมีรถได้หลายคัน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675959" y="3318470"/>
            <a:ext cx="3886343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Foreign Key ที่ห้ามเป็นค่าว่าง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5975" y="3642320"/>
            <a:ext cx="10560050" cy="37465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7575" y="3693120"/>
            <a:ext cx="899517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867892" y="3693120"/>
            <a:ext cx="6053257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รายการเช่าต้องระบุรถยนต์ วันที่เช่า และวันที่คืน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675959" y="3693120"/>
            <a:ext cx="3886343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NOT NULL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17575" y="4067770"/>
            <a:ext cx="899517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867892" y="4067770"/>
            <a:ext cx="6053257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รายการเช่าหนึ่งรายการชำระเงินได้หลายครั้ง เช่น มัดจำและส่วนที่เหลือ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675959" y="4067770"/>
            <a:ext cx="3886343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 PAYMENT แบบ N ต่อ 1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15975" y="4391620"/>
            <a:ext cx="10560050" cy="6477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7575" y="4442420"/>
            <a:ext cx="77700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BR6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867892" y="4442420"/>
            <a:ext cx="582906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สร้างรายการเช่าได้เฉพาะรถยนต์ที่มีสถานะว่าง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675959" y="4442420"/>
            <a:ext cx="3742404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ตรวจสอบในระดับแอปพลิเคชัน (คำสั่ง E1 กรองสถานะ Available)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17575" y="5090120"/>
            <a:ext cx="899517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BR7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867892" y="5090120"/>
            <a:ext cx="6053257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วันที่คืนรถต้องอยู่หลังวันที่เช่า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675959" y="5090120"/>
            <a:ext cx="3886343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CHECK Constraint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Entity Relationship Diagram (ERD)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Shape 2"/>
          <p:cNvSpPr/>
          <p:nvPr/>
        </p:nvSpPr>
        <p:spPr>
          <a:xfrm>
            <a:off x="812800" y="1778000"/>
            <a:ext cx="2095500" cy="1333302"/>
          </a:xfrm>
          <a:prstGeom prst="roundRect">
            <a:avLst>
              <a:gd name="adj" fmla="val 3920"/>
            </a:avLst>
          </a:prstGeom>
          <a:solidFill>
            <a:srgbClr val="FDFDFB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825500" y="1790700"/>
            <a:ext cx="2070100" cy="304800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12" name="Text 4"/>
          <p:cNvSpPr txBox="1"/>
          <p:nvPr/>
        </p:nvSpPr>
        <p:spPr>
          <a:xfrm>
            <a:off x="952500" y="1841500"/>
            <a:ext cx="1968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CUSTOMER</a:t>
            </a:r>
            <a:endParaRPr lang="en-US" sz="1200" dirty="0"/>
          </a:p>
        </p:txBody>
      </p:sp>
      <p:sp>
        <p:nvSpPr>
          <p:cNvPr id="13" name="Text 5"/>
          <p:cNvSpPr txBox="1"/>
          <p:nvPr/>
        </p:nvSpPr>
        <p:spPr>
          <a:xfrm>
            <a:off x="952500" y="215900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PK</a:t>
            </a:r>
            <a:endParaRPr lang="en-US" sz="1200" dirty="0"/>
          </a:p>
        </p:txBody>
      </p:sp>
      <p:sp>
        <p:nvSpPr>
          <p:cNvPr id="14" name="Text 6"/>
          <p:cNvSpPr txBox="1"/>
          <p:nvPr/>
        </p:nvSpPr>
        <p:spPr>
          <a:xfrm>
            <a:off x="952500" y="233422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Name</a:t>
            </a:r>
            <a:endParaRPr lang="en-US" sz="1200" dirty="0"/>
          </a:p>
        </p:txBody>
      </p:sp>
      <p:sp>
        <p:nvSpPr>
          <p:cNvPr id="15" name="Text 7"/>
          <p:cNvSpPr txBox="1"/>
          <p:nvPr/>
        </p:nvSpPr>
        <p:spPr>
          <a:xfrm>
            <a:off x="952500" y="250944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Phone</a:t>
            </a:r>
            <a:endParaRPr lang="en-US" sz="1200" dirty="0"/>
          </a:p>
        </p:txBody>
      </p:sp>
      <p:sp>
        <p:nvSpPr>
          <p:cNvPr id="16" name="Text 8"/>
          <p:cNvSpPr txBox="1"/>
          <p:nvPr/>
        </p:nvSpPr>
        <p:spPr>
          <a:xfrm>
            <a:off x="952500" y="268466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Email</a:t>
            </a:r>
            <a:endParaRPr lang="en-US" sz="1200" dirty="0"/>
          </a:p>
        </p:txBody>
      </p:sp>
      <p:sp>
        <p:nvSpPr>
          <p:cNvPr id="17" name="Text 9"/>
          <p:cNvSpPr txBox="1"/>
          <p:nvPr/>
        </p:nvSpPr>
        <p:spPr>
          <a:xfrm>
            <a:off x="952500" y="285988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LicenseNo</a:t>
            </a:r>
            <a:endParaRPr lang="en-US" sz="1200" dirty="0"/>
          </a:p>
        </p:txBody>
      </p:sp>
      <p:sp>
        <p:nvSpPr>
          <p:cNvPr id="18" name="Shape 10"/>
          <p:cNvSpPr/>
          <p:nvPr/>
        </p:nvSpPr>
        <p:spPr>
          <a:xfrm>
            <a:off x="3606800" y="1778000"/>
            <a:ext cx="2095500" cy="1858963"/>
          </a:xfrm>
          <a:prstGeom prst="roundRect">
            <a:avLst>
              <a:gd name="adj" fmla="val 2016"/>
            </a:avLst>
          </a:prstGeom>
          <a:solidFill>
            <a:srgbClr val="FDFDFB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3619500" y="1790700"/>
            <a:ext cx="2070100" cy="304800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20" name="Text 12"/>
          <p:cNvSpPr txBox="1"/>
          <p:nvPr/>
        </p:nvSpPr>
        <p:spPr>
          <a:xfrm>
            <a:off x="3746500" y="1841500"/>
            <a:ext cx="1968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BOOKING</a:t>
            </a:r>
            <a:endParaRPr lang="en-US" sz="1200" dirty="0"/>
          </a:p>
        </p:txBody>
      </p:sp>
      <p:sp>
        <p:nvSpPr>
          <p:cNvPr id="21" name="Text 13"/>
          <p:cNvSpPr txBox="1"/>
          <p:nvPr/>
        </p:nvSpPr>
        <p:spPr>
          <a:xfrm>
            <a:off x="3746500" y="215900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PK</a:t>
            </a:r>
            <a:endParaRPr lang="en-US" sz="1200" dirty="0"/>
          </a:p>
        </p:txBody>
      </p:sp>
      <p:sp>
        <p:nvSpPr>
          <p:cNvPr id="22" name="Text 14"/>
          <p:cNvSpPr txBox="1"/>
          <p:nvPr/>
        </p:nvSpPr>
        <p:spPr>
          <a:xfrm>
            <a:off x="3746500" y="233422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FK</a:t>
            </a:r>
            <a:endParaRPr lang="en-US" sz="1200" dirty="0"/>
          </a:p>
        </p:txBody>
      </p:sp>
      <p:sp>
        <p:nvSpPr>
          <p:cNvPr id="23" name="Text 15"/>
          <p:cNvSpPr txBox="1"/>
          <p:nvPr/>
        </p:nvSpPr>
        <p:spPr>
          <a:xfrm>
            <a:off x="3746500" y="250944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FK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3746500" y="268466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BookingDate</a:t>
            </a:r>
            <a:endParaRPr lang="en-US" sz="1200" dirty="0"/>
          </a:p>
        </p:txBody>
      </p:sp>
      <p:sp>
        <p:nvSpPr>
          <p:cNvPr id="25" name="Text 17"/>
          <p:cNvSpPr txBox="1"/>
          <p:nvPr/>
        </p:nvSpPr>
        <p:spPr>
          <a:xfrm>
            <a:off x="3746500" y="285988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StartDate</a:t>
            </a:r>
            <a:endParaRPr lang="en-US" sz="1200" dirty="0"/>
          </a:p>
        </p:txBody>
      </p:sp>
      <p:sp>
        <p:nvSpPr>
          <p:cNvPr id="26" name="Text 18"/>
          <p:cNvSpPr txBox="1"/>
          <p:nvPr/>
        </p:nvSpPr>
        <p:spPr>
          <a:xfrm>
            <a:off x="3746500" y="303510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EndDate</a:t>
            </a:r>
            <a:endParaRPr lang="en-US" sz="1200" dirty="0"/>
          </a:p>
        </p:txBody>
      </p:sp>
      <p:sp>
        <p:nvSpPr>
          <p:cNvPr id="27" name="Text 19"/>
          <p:cNvSpPr txBox="1"/>
          <p:nvPr/>
        </p:nvSpPr>
        <p:spPr>
          <a:xfrm>
            <a:off x="3746500" y="321032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DepositAmount</a:t>
            </a:r>
            <a:endParaRPr lang="en-US" sz="1200" dirty="0"/>
          </a:p>
        </p:txBody>
      </p:sp>
      <p:sp>
        <p:nvSpPr>
          <p:cNvPr id="28" name="Text 20"/>
          <p:cNvSpPr txBox="1"/>
          <p:nvPr/>
        </p:nvSpPr>
        <p:spPr>
          <a:xfrm>
            <a:off x="3746500" y="338554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Status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6400800" y="1778000"/>
            <a:ext cx="2095500" cy="1858963"/>
          </a:xfrm>
          <a:prstGeom prst="roundRect">
            <a:avLst>
              <a:gd name="adj" fmla="val 2016"/>
            </a:avLst>
          </a:prstGeom>
          <a:solidFill>
            <a:srgbClr val="FDFDFB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413500" y="1790700"/>
            <a:ext cx="2070100" cy="304800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6540500" y="1841500"/>
            <a:ext cx="1968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CAR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6540500" y="215900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PK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6540500" y="233422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CarTypeID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FK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6540500" y="250944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LicensePlate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6540500" y="268466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Brand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6540500" y="285988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6540500" y="303510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Color</a:t>
            </a:r>
            <a:endParaRPr lang="en-US" sz="1200" dirty="0"/>
          </a:p>
        </p:txBody>
      </p:sp>
      <p:sp>
        <p:nvSpPr>
          <p:cNvPr id="38" name="Text 30"/>
          <p:cNvSpPr txBox="1"/>
          <p:nvPr/>
        </p:nvSpPr>
        <p:spPr>
          <a:xfrm>
            <a:off x="6540500" y="321032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DailyRate</a:t>
            </a:r>
            <a:endParaRPr lang="en-US" sz="1200" dirty="0"/>
          </a:p>
        </p:txBody>
      </p:sp>
      <p:sp>
        <p:nvSpPr>
          <p:cNvPr id="39" name="Text 31"/>
          <p:cNvSpPr txBox="1"/>
          <p:nvPr/>
        </p:nvSpPr>
        <p:spPr>
          <a:xfrm>
            <a:off x="6540500" y="338554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Status</a:t>
            </a:r>
            <a:endParaRPr lang="en-US" sz="1200" dirty="0"/>
          </a:p>
        </p:txBody>
      </p:sp>
      <p:sp>
        <p:nvSpPr>
          <p:cNvPr id="40" name="Shape 32"/>
          <p:cNvSpPr/>
          <p:nvPr/>
        </p:nvSpPr>
        <p:spPr>
          <a:xfrm>
            <a:off x="9194800" y="1778000"/>
            <a:ext cx="2095500" cy="982861"/>
          </a:xfrm>
          <a:prstGeom prst="roundRect">
            <a:avLst>
              <a:gd name="adj" fmla="val 7213"/>
            </a:avLst>
          </a:prstGeom>
          <a:solidFill>
            <a:srgbClr val="FDFDFB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9207500" y="1790700"/>
            <a:ext cx="2070100" cy="304800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9334500" y="1841500"/>
            <a:ext cx="1968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CAR_TYPE</a:t>
            </a:r>
            <a:endParaRPr lang="en-US" sz="1200" dirty="0"/>
          </a:p>
        </p:txBody>
      </p:sp>
      <p:sp>
        <p:nvSpPr>
          <p:cNvPr id="43" name="Text 35"/>
          <p:cNvSpPr txBox="1"/>
          <p:nvPr/>
        </p:nvSpPr>
        <p:spPr>
          <a:xfrm>
            <a:off x="9334500" y="215900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CarTypeID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PK</a:t>
            </a:r>
            <a:endParaRPr lang="en-US" sz="1200" dirty="0"/>
          </a:p>
        </p:txBody>
      </p:sp>
      <p:sp>
        <p:nvSpPr>
          <p:cNvPr id="44" name="Text 36"/>
          <p:cNvSpPr txBox="1"/>
          <p:nvPr/>
        </p:nvSpPr>
        <p:spPr>
          <a:xfrm>
            <a:off x="9334500" y="233422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TypeName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9334500" y="250944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46" name="Shape 38"/>
          <p:cNvSpPr/>
          <p:nvPr/>
        </p:nvSpPr>
        <p:spPr>
          <a:xfrm>
            <a:off x="2209800" y="4064000"/>
            <a:ext cx="2095500" cy="1508522"/>
          </a:xfrm>
          <a:prstGeom prst="roundRect">
            <a:avLst>
              <a:gd name="adj" fmla="val 3062"/>
            </a:avLst>
          </a:prstGeom>
          <a:solidFill>
            <a:srgbClr val="FDFDFB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2222500" y="4076700"/>
            <a:ext cx="2070100" cy="304800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2349500" y="4127500"/>
            <a:ext cx="1968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RENTAL</a:t>
            </a:r>
            <a:endParaRPr lang="en-US" sz="1200" dirty="0"/>
          </a:p>
        </p:txBody>
      </p:sp>
      <p:sp>
        <p:nvSpPr>
          <p:cNvPr id="49" name="Text 41"/>
          <p:cNvSpPr txBox="1"/>
          <p:nvPr/>
        </p:nvSpPr>
        <p:spPr>
          <a:xfrm>
            <a:off x="2349500" y="444500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PK</a:t>
            </a:r>
            <a:endParaRPr lang="en-US" sz="1200" dirty="0"/>
          </a:p>
        </p:txBody>
      </p:sp>
      <p:sp>
        <p:nvSpPr>
          <p:cNvPr id="50" name="Text 42"/>
          <p:cNvSpPr txBox="1"/>
          <p:nvPr/>
        </p:nvSpPr>
        <p:spPr>
          <a:xfrm>
            <a:off x="2349500" y="462022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FK</a:t>
            </a:r>
            <a:endParaRPr lang="en-US" sz="1200" dirty="0"/>
          </a:p>
        </p:txBody>
      </p:sp>
      <p:sp>
        <p:nvSpPr>
          <p:cNvPr id="51" name="Text 43"/>
          <p:cNvSpPr txBox="1"/>
          <p:nvPr/>
        </p:nvSpPr>
        <p:spPr>
          <a:xfrm>
            <a:off x="2349500" y="479544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ActualRentDate</a:t>
            </a:r>
            <a:endParaRPr lang="en-US" sz="1200" dirty="0"/>
          </a:p>
        </p:txBody>
      </p:sp>
      <p:sp>
        <p:nvSpPr>
          <p:cNvPr id="52" name="Text 44"/>
          <p:cNvSpPr txBox="1"/>
          <p:nvPr/>
        </p:nvSpPr>
        <p:spPr>
          <a:xfrm>
            <a:off x="2349500" y="497066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ActualReturnDate</a:t>
            </a:r>
            <a:endParaRPr lang="en-US" sz="1200" dirty="0"/>
          </a:p>
        </p:txBody>
      </p:sp>
      <p:sp>
        <p:nvSpPr>
          <p:cNvPr id="53" name="Text 45"/>
          <p:cNvSpPr txBox="1"/>
          <p:nvPr/>
        </p:nvSpPr>
        <p:spPr>
          <a:xfrm>
            <a:off x="2349500" y="514588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TotalAmount</a:t>
            </a:r>
            <a:endParaRPr lang="en-US" sz="1200" dirty="0"/>
          </a:p>
        </p:txBody>
      </p:sp>
      <p:sp>
        <p:nvSpPr>
          <p:cNvPr id="54" name="Text 46"/>
          <p:cNvSpPr txBox="1"/>
          <p:nvPr/>
        </p:nvSpPr>
        <p:spPr>
          <a:xfrm>
            <a:off x="2349500" y="532110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Status</a:t>
            </a:r>
            <a:endParaRPr lang="en-US" sz="1200" dirty="0"/>
          </a:p>
        </p:txBody>
      </p:sp>
      <p:sp>
        <p:nvSpPr>
          <p:cNvPr id="55" name="Shape 47"/>
          <p:cNvSpPr/>
          <p:nvPr/>
        </p:nvSpPr>
        <p:spPr>
          <a:xfrm>
            <a:off x="5003800" y="4064000"/>
            <a:ext cx="2095500" cy="1858963"/>
          </a:xfrm>
          <a:prstGeom prst="roundRect">
            <a:avLst>
              <a:gd name="adj" fmla="val 2016"/>
            </a:avLst>
          </a:prstGeom>
          <a:solidFill>
            <a:srgbClr val="FDFDFB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6" name="Shape 48"/>
          <p:cNvSpPr/>
          <p:nvPr/>
        </p:nvSpPr>
        <p:spPr>
          <a:xfrm>
            <a:off x="5016500" y="4076700"/>
            <a:ext cx="2070100" cy="304800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57" name="Text 49"/>
          <p:cNvSpPr txBox="1"/>
          <p:nvPr/>
        </p:nvSpPr>
        <p:spPr>
          <a:xfrm>
            <a:off x="5143500" y="4127500"/>
            <a:ext cx="1968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PAYMENT</a:t>
            </a:r>
            <a:endParaRPr lang="en-US" sz="1200" dirty="0"/>
          </a:p>
        </p:txBody>
      </p:sp>
      <p:sp>
        <p:nvSpPr>
          <p:cNvPr id="58" name="Text 50"/>
          <p:cNvSpPr txBox="1"/>
          <p:nvPr/>
        </p:nvSpPr>
        <p:spPr>
          <a:xfrm>
            <a:off x="5143500" y="444500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PK</a:t>
            </a:r>
            <a:endParaRPr lang="en-US" sz="1200" dirty="0"/>
          </a:p>
        </p:txBody>
      </p:sp>
      <p:sp>
        <p:nvSpPr>
          <p:cNvPr id="59" name="Text 51"/>
          <p:cNvSpPr txBox="1"/>
          <p:nvPr/>
        </p:nvSpPr>
        <p:spPr>
          <a:xfrm>
            <a:off x="5143500" y="462022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FK</a:t>
            </a:r>
            <a:endParaRPr lang="en-US" sz="1200" dirty="0"/>
          </a:p>
        </p:txBody>
      </p:sp>
      <p:sp>
        <p:nvSpPr>
          <p:cNvPr id="60" name="Text 52"/>
          <p:cNvSpPr txBox="1"/>
          <p:nvPr/>
        </p:nvSpPr>
        <p:spPr>
          <a:xfrm>
            <a:off x="5143500" y="479544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FK</a:t>
            </a:r>
            <a:endParaRPr lang="en-US" sz="1200" dirty="0"/>
          </a:p>
        </p:txBody>
      </p:sp>
      <p:sp>
        <p:nvSpPr>
          <p:cNvPr id="61" name="Text 53"/>
          <p:cNvSpPr txBox="1"/>
          <p:nvPr/>
        </p:nvSpPr>
        <p:spPr>
          <a:xfrm>
            <a:off x="5143500" y="497066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PaymentDate</a:t>
            </a:r>
            <a:endParaRPr lang="en-US" sz="1200" dirty="0"/>
          </a:p>
        </p:txBody>
      </p:sp>
      <p:sp>
        <p:nvSpPr>
          <p:cNvPr id="62" name="Text 54"/>
          <p:cNvSpPr txBox="1"/>
          <p:nvPr/>
        </p:nvSpPr>
        <p:spPr>
          <a:xfrm>
            <a:off x="5143500" y="514588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Amount</a:t>
            </a:r>
            <a:endParaRPr lang="en-US" sz="1200" dirty="0"/>
          </a:p>
        </p:txBody>
      </p:sp>
      <p:sp>
        <p:nvSpPr>
          <p:cNvPr id="63" name="Text 55"/>
          <p:cNvSpPr txBox="1"/>
          <p:nvPr/>
        </p:nvSpPr>
        <p:spPr>
          <a:xfrm>
            <a:off x="5143500" y="532110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PaymentMethod</a:t>
            </a:r>
            <a:endParaRPr lang="en-US" sz="1200" dirty="0"/>
          </a:p>
        </p:txBody>
      </p:sp>
      <p:sp>
        <p:nvSpPr>
          <p:cNvPr id="64" name="Text 56"/>
          <p:cNvSpPr txBox="1"/>
          <p:nvPr/>
        </p:nvSpPr>
        <p:spPr>
          <a:xfrm>
            <a:off x="5143500" y="549632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PaymentType</a:t>
            </a:r>
            <a:endParaRPr lang="en-US" sz="1200" dirty="0"/>
          </a:p>
        </p:txBody>
      </p:sp>
      <p:sp>
        <p:nvSpPr>
          <p:cNvPr id="65" name="Text 57"/>
          <p:cNvSpPr txBox="1"/>
          <p:nvPr/>
        </p:nvSpPr>
        <p:spPr>
          <a:xfrm>
            <a:off x="5143500" y="567154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Status</a:t>
            </a:r>
            <a:endParaRPr lang="en-US" sz="1200" dirty="0"/>
          </a:p>
        </p:txBody>
      </p:sp>
      <p:sp>
        <p:nvSpPr>
          <p:cNvPr id="66" name="Text 58"/>
          <p:cNvSpPr txBox="1"/>
          <p:nvPr/>
        </p:nvSpPr>
        <p:spPr>
          <a:xfrm>
            <a:off x="2832100" y="2044700"/>
            <a:ext cx="850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 : N</a:t>
            </a:r>
            <a:endParaRPr lang="en-US" sz="1200" dirty="0"/>
          </a:p>
        </p:txBody>
      </p:sp>
      <p:sp>
        <p:nvSpPr>
          <p:cNvPr id="67" name="Text 59"/>
          <p:cNvSpPr txBox="1"/>
          <p:nvPr/>
        </p:nvSpPr>
        <p:spPr>
          <a:xfrm>
            <a:off x="5626100" y="2044700"/>
            <a:ext cx="850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N : 1</a:t>
            </a:r>
            <a:endParaRPr lang="en-US" sz="1200" dirty="0"/>
          </a:p>
        </p:txBody>
      </p:sp>
      <p:sp>
        <p:nvSpPr>
          <p:cNvPr id="68" name="Text 60"/>
          <p:cNvSpPr txBox="1"/>
          <p:nvPr/>
        </p:nvSpPr>
        <p:spPr>
          <a:xfrm>
            <a:off x="8420100" y="2044700"/>
            <a:ext cx="850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N : 1</a:t>
            </a:r>
            <a:endParaRPr lang="en-US" sz="1200" dirty="0"/>
          </a:p>
        </p:txBody>
      </p:sp>
      <p:sp>
        <p:nvSpPr>
          <p:cNvPr id="69" name="Text 61"/>
          <p:cNvSpPr txBox="1"/>
          <p:nvPr/>
        </p:nvSpPr>
        <p:spPr>
          <a:xfrm>
            <a:off x="2387600" y="3733800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 : 0..1</a:t>
            </a:r>
            <a:endParaRPr lang="en-US" sz="1200" dirty="0"/>
          </a:p>
        </p:txBody>
      </p:sp>
      <p:sp>
        <p:nvSpPr>
          <p:cNvPr id="70" name="Text 62"/>
          <p:cNvSpPr txBox="1"/>
          <p:nvPr/>
        </p:nvSpPr>
        <p:spPr>
          <a:xfrm>
            <a:off x="5715000" y="37338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 : N</a:t>
            </a:r>
            <a:endParaRPr lang="en-US" sz="1200" dirty="0"/>
          </a:p>
        </p:txBody>
      </p:sp>
      <p:sp>
        <p:nvSpPr>
          <p:cNvPr id="71" name="Text 63"/>
          <p:cNvSpPr txBox="1"/>
          <p:nvPr/>
        </p:nvSpPr>
        <p:spPr>
          <a:xfrm>
            <a:off x="4229100" y="4546600"/>
            <a:ext cx="850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 : N</a:t>
            </a:r>
            <a:endParaRPr lang="en-US" sz="1200" dirty="0"/>
          </a:p>
        </p:txBody>
      </p:sp>
      <p:sp>
        <p:nvSpPr>
          <p:cNvPr id="72" name="Shape 64"/>
          <p:cNvSpPr/>
          <p:nvPr/>
        </p:nvSpPr>
        <p:spPr>
          <a:xfrm>
            <a:off x="7797800" y="4064000"/>
            <a:ext cx="3581400" cy="1511102"/>
          </a:xfrm>
          <a:prstGeom prst="roundRect">
            <a:avLst>
              <a:gd name="adj" fmla="val 4069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73" name="Text 65"/>
          <p:cNvSpPr txBox="1"/>
          <p:nvPr/>
        </p:nvSpPr>
        <p:spPr>
          <a:xfrm>
            <a:off x="8007350" y="4248150"/>
            <a:ext cx="341528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Primary Key </a:t>
            </a:r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Foreign Key</a:t>
            </a:r>
            <a:endParaRPr lang="en-US" sz="1200" dirty="0"/>
          </a:p>
        </p:txBody>
      </p:sp>
      <p:sp>
        <p:nvSpPr>
          <p:cNvPr id="74" name="Text 66"/>
          <p:cNvSpPr txBox="1"/>
          <p:nvPr/>
        </p:nvSpPr>
        <p:spPr>
          <a:xfrm>
            <a:off x="8007350" y="4537670"/>
            <a:ext cx="3288792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เหตุผลที่แยก BOOKING และ RENTAL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การจองสามารถยกเลิกและชำระมัดจำล่วงหน้าได้ ส่วนการเช่าเกิดขึ้นเมื่อรับรถจริง ความสัมพันธ์จึงเป็น 1 : 0..1</a:t>
            </a:r>
            <a:endParaRPr lang="en-US" sz="1200" dirty="0"/>
          </a:p>
        </p:txBody>
      </p:sp>
      <p:sp>
        <p:nvSpPr>
          <p:cNvPr id="75" name="Text 67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3 การออกแบบระบบ Normalization ขั้นที่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6995160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First Normal Form (1NF)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493000" y="952500"/>
            <a:ext cx="4197096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คีย์หลัก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คีย์นอก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ช่องสีแดง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แอตทริบิวต์ที่ต้องแยกออก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493000" y="1196280"/>
            <a:ext cx="4197096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เส้นดำ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ขึ้นกับคีย์หลัก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เส้นแดง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ขึ้นกับแอตทริบิวต์ที่ไม่ใช่คีย์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78000"/>
            <a:ext cx="10566400" cy="2616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2800" y="19177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943100" y="1917700"/>
            <a:ext cx="10604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914650" y="1917700"/>
            <a:ext cx="1098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CustomerID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924300" y="1917700"/>
            <a:ext cx="7239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CarID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59300" y="1917700"/>
            <a:ext cx="1155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BookingDate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26100" y="1917700"/>
            <a:ext cx="9207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StartDate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57950" y="1917700"/>
            <a:ext cx="8763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EndDate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245350" y="1917700"/>
            <a:ext cx="13208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DepositAmount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477250" y="19177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943100" y="2387600"/>
            <a:ext cx="7239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B91C1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Name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578100" y="2387600"/>
            <a:ext cx="7556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B91C1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Phone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244850" y="2387600"/>
            <a:ext cx="7366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B91C1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Email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892550" y="2387600"/>
            <a:ext cx="10223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B91C1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LicenseNo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12800" y="28829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943100" y="2882900"/>
            <a:ext cx="946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RentalID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800350" y="28829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740150" y="2882900"/>
            <a:ext cx="1327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ActualRentDate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978400" y="2882900"/>
            <a:ext cx="1454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ActualReturnDate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43650" y="2882900"/>
            <a:ext cx="1155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TotalAmount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7410450" y="28829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12800" y="33782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943100" y="3378200"/>
            <a:ext cx="1092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PaymentID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2946400" y="33782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886200" y="3378200"/>
            <a:ext cx="901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RentalID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699000" y="3378200"/>
            <a:ext cx="1168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PaymentDate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78500" y="3378200"/>
            <a:ext cx="844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Amount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534150" y="3378200"/>
            <a:ext cx="1352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PaymentMethod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797800" y="3378200"/>
            <a:ext cx="11811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PaymentType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890000" y="33782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12800" y="38735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1943100" y="3873500"/>
            <a:ext cx="7683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CarID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2622550" y="38735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CarTypeID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3562350" y="3873500"/>
            <a:ext cx="11239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LicensePlate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4597400" y="38735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Brand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5226050" y="3873500"/>
            <a:ext cx="7429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Model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880100" y="3873500"/>
            <a:ext cx="692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Color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6483350" y="3873500"/>
            <a:ext cx="965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DailyRate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7359650" y="38735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7988300" y="3873500"/>
            <a:ext cx="10477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B91C1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TypeName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812800" y="4483100"/>
            <a:ext cx="10566400" cy="1224161"/>
          </a:xfrm>
          <a:prstGeom prst="roundRect">
            <a:avLst>
              <a:gd name="adj" fmla="val 6199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022350" y="4629150"/>
            <a:ext cx="531495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เงื่อนไข 1NF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1022350" y="4921250"/>
            <a:ext cx="511810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ทุกแอตทริบิวต์เก็บค่าเพียงค่าเดียว (Atomic) ไม่มีกลุ่มข้อมูลซ้ำ และทุกตารางมีคีย์หลัก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6248400" y="4629150"/>
            <a:ext cx="531495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ปัญหาที่พบ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6248400" y="4921250"/>
            <a:ext cx="511810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 เก็บข้อมูลลูกค้าซ้ำทุกครั้งที่จอง เพราะ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CustomerID → Name, Phone, Email, LicenseNo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และ CAR เก็บ TypeName ซ้ำ เพราะ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CarTypeID → TypeName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3 การออกแบบระบบ Normalization ขั้นที่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6995160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Second Normal Form (2NF)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493000" y="952500"/>
            <a:ext cx="4197096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คีย์หลัก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คีย์นอก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ช่องสีแดง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แอตทริบิวต์ที่ต้องแยกออก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493000" y="1196280"/>
            <a:ext cx="4197096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เส้นดำ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ขึ้นกับคีย์หลัก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เส้นแดง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ขึ้นกับแอตทริบิวต์ที่ไม่ใช่คีย์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78000"/>
            <a:ext cx="10566400" cy="2641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2800" y="19177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943100" y="1917700"/>
            <a:ext cx="10604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914650" y="1917700"/>
            <a:ext cx="1098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CustomerID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924300" y="1917700"/>
            <a:ext cx="7239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CarID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59300" y="1917700"/>
            <a:ext cx="1155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BookingDate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26100" y="1917700"/>
            <a:ext cx="9207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StartDate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57950" y="1917700"/>
            <a:ext cx="8763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EndDate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245350" y="1917700"/>
            <a:ext cx="13208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DepositAmount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477250" y="19177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12800" y="24130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943100" y="2413000"/>
            <a:ext cx="1155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CustomerID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009900" y="2413000"/>
            <a:ext cx="711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Name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632200" y="2413000"/>
            <a:ext cx="7239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Phone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267200" y="2413000"/>
            <a:ext cx="711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Email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889500" y="2413000"/>
            <a:ext cx="10033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LicenseNo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930900" y="2413000"/>
            <a:ext cx="811113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ตารางใหม่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12800" y="29083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943100" y="2908300"/>
            <a:ext cx="946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RentalID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2800350" y="29083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3740150" y="2908300"/>
            <a:ext cx="1327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ActualRentDate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978400" y="2908300"/>
            <a:ext cx="1454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ActualReturnDate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43650" y="2908300"/>
            <a:ext cx="1155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TotalAmount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410450" y="29083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12800" y="34036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943100" y="3403600"/>
            <a:ext cx="1092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PaymentID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2946400" y="34036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886200" y="3403600"/>
            <a:ext cx="901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RentalID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4699000" y="3403600"/>
            <a:ext cx="1168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PaymentDate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778500" y="3403600"/>
            <a:ext cx="844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Amount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6534150" y="3403600"/>
            <a:ext cx="1352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PaymentMethod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797800" y="3403600"/>
            <a:ext cx="11811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PaymentType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8890000" y="34036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2800" y="38989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1943100" y="3898900"/>
            <a:ext cx="7683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CarID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2622550" y="38989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CarTypeID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3562350" y="3898900"/>
            <a:ext cx="11239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LicensePlate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4597400" y="38989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Brand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5226050" y="3898900"/>
            <a:ext cx="7429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Model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5880100" y="3898900"/>
            <a:ext cx="692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Color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6483350" y="3898900"/>
            <a:ext cx="965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DailyRate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7359650" y="38989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7988300" y="3898900"/>
            <a:ext cx="10477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B91C1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TypeName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812800" y="4508500"/>
            <a:ext cx="10566400" cy="1224161"/>
          </a:xfrm>
          <a:prstGeom prst="roundRect">
            <a:avLst>
              <a:gd name="adj" fmla="val 6199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022350" y="4654550"/>
            <a:ext cx="343360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เงื่อนไข 2NF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1022350" y="4946650"/>
            <a:ext cx="330643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อยู่ในรูป 1NF และแอตทริบิวต์ที่ไม่ใช่คีย์ทุกตัว ต้องขึ้นกับคีย์หลักทั้งหมดของตาราง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506416" y="4654550"/>
            <a:ext cx="343360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การดำเนินการ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4506416" y="4946650"/>
            <a:ext cx="3306437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แยก Name, Phone, Email, LicenseNo ออกเป็นตาราง CUSTOMER และให้ BOOKING อ้างอิงผ่านคีย์นอก CustomerID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990483" y="4654550"/>
            <a:ext cx="343360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สิ่งที่ยังเหลือ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7990483" y="4946650"/>
            <a:ext cx="330643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 CAR ยังเก็บ TypeName ซึ่งขึ้นกับ CarTypeID จึงต้องแก้ไขในขั้น 3NF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3 การออกแบบระบบ Normalization ขั้นที่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6995160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Third Normal Form (3NF)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493000" y="952500"/>
            <a:ext cx="4197096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คีย์หลัก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คีย์นอก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ช่องสีแดง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แอตทริบิวต์ที่ต้องแยกออก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493000" y="1196280"/>
            <a:ext cx="4197096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เส้นดำ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ขึ้นกับคีย์หลัก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เส้นแดง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ขึ้นกับแอตทริบิวต์ที่ไม่ใช่คีย์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78000"/>
            <a:ext cx="10566400" cy="2971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2800" y="19177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943100" y="1917700"/>
            <a:ext cx="10604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914650" y="1917700"/>
            <a:ext cx="1098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CustomerID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924300" y="1917700"/>
            <a:ext cx="7239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CarID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59300" y="1917700"/>
            <a:ext cx="1155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BookingDate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26100" y="1917700"/>
            <a:ext cx="9207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StartDate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57950" y="1917700"/>
            <a:ext cx="8763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EndDate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245350" y="1917700"/>
            <a:ext cx="13208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DepositAmount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477250" y="19177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12800" y="24130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943100" y="2413000"/>
            <a:ext cx="1155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CustomerID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009900" y="2413000"/>
            <a:ext cx="711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Name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632200" y="2413000"/>
            <a:ext cx="7239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Phone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267200" y="2413000"/>
            <a:ext cx="711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Email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889500" y="2413000"/>
            <a:ext cx="10033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LicenseNo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12800" y="29083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943100" y="2908300"/>
            <a:ext cx="946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RentalID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800350" y="29083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740150" y="2908300"/>
            <a:ext cx="1327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ActualRentDate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78400" y="2908300"/>
            <a:ext cx="1454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ActualReturnDate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343650" y="2908300"/>
            <a:ext cx="1155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TotalAmount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410450" y="29083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2800" y="34036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1943100" y="3403600"/>
            <a:ext cx="1092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PaymentID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2946400" y="34036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86200" y="3403600"/>
            <a:ext cx="901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RentalID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699000" y="3403600"/>
            <a:ext cx="1168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PaymentDate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778500" y="3403600"/>
            <a:ext cx="844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Amount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534150" y="3403600"/>
            <a:ext cx="1352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PaymentMethod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7797800" y="3403600"/>
            <a:ext cx="11811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PaymentType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890000" y="34036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812800" y="38989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943100" y="3898900"/>
            <a:ext cx="7683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CarID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2622550" y="38989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CarTypeID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3562350" y="3898900"/>
            <a:ext cx="11239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LicensePlate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597400" y="38989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Brand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5226050" y="3898900"/>
            <a:ext cx="7429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Model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5880100" y="3898900"/>
            <a:ext cx="692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Color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6483350" y="3898900"/>
            <a:ext cx="965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DailyRate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59650" y="38989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812800" y="43942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CAR_TYPE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1943100" y="4394200"/>
            <a:ext cx="10858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CarTypeID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2940050" y="4394200"/>
            <a:ext cx="10096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TypeName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3987800" y="4394200"/>
            <a:ext cx="811113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ตารางใหม่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812800" y="4838700"/>
            <a:ext cx="10566400" cy="1010841"/>
          </a:xfrm>
          <a:prstGeom prst="roundRect">
            <a:avLst>
              <a:gd name="adj" fmla="val 9092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22350" y="4984750"/>
            <a:ext cx="343360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เงื่อนไข 3NF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1022350" y="5276850"/>
            <a:ext cx="3433608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อยู่ในรูป 2NF และไม่มี Transitive Dependency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4506416" y="4984750"/>
            <a:ext cx="343360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การดำเนินการ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4506416" y="5276850"/>
            <a:ext cx="330643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แยก TypeName ออกเป็นตาราง CAR_TYPE เพราะ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CarID → CarTypeID → TypeName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7990483" y="4984750"/>
            <a:ext cx="343360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ผลลัพธ์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7990483" y="5276850"/>
            <a:ext cx="330643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ได้ 6 ตาราง ทุกแอตทริบิวต์ขึ้นกับคีย์หลักเท่านั้น ไม่มีเส้นแดงเหลืออยู่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พจนานุกรมข้อมูล (Data Dictionary) ส่วนที่ 1/3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13520"/>
            <a:ext cx="112782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889820" y="1851620"/>
            <a:ext cx="91211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ตารางลูกค้า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" y="2181820"/>
            <a:ext cx="5130800" cy="21463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5975" y="2184995"/>
            <a:ext cx="512445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7575" y="2235795"/>
            <a:ext cx="157946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Field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47838" y="2235795"/>
            <a:ext cx="12497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Data Type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848398" y="2235795"/>
            <a:ext cx="41592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Key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15123" y="2235795"/>
            <a:ext cx="167610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คำอธิบาย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7575" y="2594570"/>
            <a:ext cx="15794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CustomerID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547838" y="2594570"/>
            <a:ext cx="12497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848398" y="25945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315123" y="2594570"/>
            <a:ext cx="167610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รหัสลูกค้า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5975" y="28993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7575" y="2950170"/>
            <a:ext cx="15794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Name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547838" y="2950170"/>
            <a:ext cx="12497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VARCHAR(100)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15123" y="2950170"/>
            <a:ext cx="167610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ชื่อลูกค้า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17575" y="3305770"/>
            <a:ext cx="15794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Phone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547838" y="3305770"/>
            <a:ext cx="12497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315123" y="3305770"/>
            <a:ext cx="167610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เบอร์โทรศัพท์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975" y="36105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7575" y="3661370"/>
            <a:ext cx="15794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Email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547838" y="3661370"/>
            <a:ext cx="12497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VARCHAR(100)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315123" y="3661370"/>
            <a:ext cx="167610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อีเมลของลูกค้า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17575" y="4016970"/>
            <a:ext cx="157946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LicenseNo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547838" y="4016970"/>
            <a:ext cx="12497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315123" y="4016970"/>
            <a:ext cx="167610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เลขที่ใบขับขี่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2800" y="4404320"/>
            <a:ext cx="554126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PK: CustomerID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248400" y="1813520"/>
            <a:ext cx="112782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CAR_TYPE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325420" y="1851620"/>
            <a:ext cx="12067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ตารางประเภทรถ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48400" y="2181820"/>
            <a:ext cx="5130800" cy="16891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51575" y="2184995"/>
            <a:ext cx="512445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53175" y="2235795"/>
            <a:ext cx="157946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Field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983438" y="2235795"/>
            <a:ext cx="12497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Data Type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9283998" y="2235795"/>
            <a:ext cx="41592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Key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750723" y="2235795"/>
            <a:ext cx="167610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คำอธิบาย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353175" y="2594570"/>
            <a:ext cx="15794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CarTypeID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983438" y="2594570"/>
            <a:ext cx="12497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283998" y="25945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750723" y="2594570"/>
            <a:ext cx="167610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รหัสประเภทรถ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51575" y="28993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353175" y="2950170"/>
            <a:ext cx="15794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TypeName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983438" y="2950170"/>
            <a:ext cx="12497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VARCHAR(50)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9750723" y="2950170"/>
            <a:ext cx="167610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ชื่อประเภทรถ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353175" y="3305770"/>
            <a:ext cx="1484146" cy="511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983438" y="3305770"/>
            <a:ext cx="1141254" cy="511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VARCHAR(255)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9750723" y="3305770"/>
            <a:ext cx="1584650" cy="511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รายละเอียดของประเภทรถ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248400" y="3947120"/>
            <a:ext cx="554126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PK: CarTypeID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248400" y="4236641"/>
            <a:ext cx="554126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TypeName เช่น Sedan, SUV, Van, Eco Car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พจนานุกรมข้อมูล (Data Dictionary) ส่วนที่ 2/3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13520"/>
            <a:ext cx="51822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220" y="1851620"/>
            <a:ext cx="101987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ตารางรถยนต์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" y="2181820"/>
            <a:ext cx="5130800" cy="32131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5975" y="2184995"/>
            <a:ext cx="512445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7575" y="2235795"/>
            <a:ext cx="154612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Field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14501" y="2235795"/>
            <a:ext cx="1341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Data Type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906441" y="2235795"/>
            <a:ext cx="41592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Key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73166" y="2235795"/>
            <a:ext cx="16180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คำอธิบาย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7575" y="2594570"/>
            <a:ext cx="15461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CarID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514501" y="25945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906441" y="25945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373166" y="2594570"/>
            <a:ext cx="16180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รหัสรถยนต์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5975" y="28993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7575" y="2950170"/>
            <a:ext cx="15461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CarTypeID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514501" y="29501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06441" y="29501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373166" y="2950170"/>
            <a:ext cx="16180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รหัสประเภทรถ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7575" y="3305770"/>
            <a:ext cx="15461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LicensePlate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514501" y="33057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373166" y="3305770"/>
            <a:ext cx="16180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หมายเลขทะเบียนรถ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975" y="36105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7575" y="3661370"/>
            <a:ext cx="15461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Brand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514501" y="36613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VARCHAR(50)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373166" y="3661370"/>
            <a:ext cx="16180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ยี่ห้อรถ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17575" y="4016970"/>
            <a:ext cx="15461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Model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514501" y="40169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VARCHAR(50)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373166" y="4016970"/>
            <a:ext cx="16180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รุ่นรถ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5975" y="43217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7575" y="4372570"/>
            <a:ext cx="15461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Color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514501" y="43725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VARCHAR(30)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373166" y="4372570"/>
            <a:ext cx="16180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สีรถ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17575" y="4728170"/>
            <a:ext cx="15461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DailyRate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514501" y="47281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DECIMAL(10,2)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373166" y="4728170"/>
            <a:ext cx="16180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ราคาเช่าต่อวัน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15975" y="5032970"/>
            <a:ext cx="5124450" cy="358775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17575" y="5083770"/>
            <a:ext cx="154612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2514501" y="5083770"/>
            <a:ext cx="1341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373166" y="5083770"/>
            <a:ext cx="16180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สถานะรถ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12800" y="5471120"/>
            <a:ext cx="554126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PK: CarID FK: CarTypeID → CAR_TYPE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248400" y="1813520"/>
            <a:ext cx="100588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7203480" y="1851620"/>
            <a:ext cx="107047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ตารางการจอง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48400" y="2181820"/>
            <a:ext cx="5130800" cy="32131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51575" y="2184995"/>
            <a:ext cx="512445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353175" y="2235795"/>
            <a:ext cx="1558727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Field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962702" y="2235795"/>
            <a:ext cx="1341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Data Type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9354641" y="2235795"/>
            <a:ext cx="41592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Key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9821366" y="2235795"/>
            <a:ext cx="16054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คำอธิบาย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353175" y="2594570"/>
            <a:ext cx="155872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962702" y="25945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9354641" y="25945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9821366" y="2594570"/>
            <a:ext cx="16054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รหัสการจอง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251575" y="28993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353175" y="2950170"/>
            <a:ext cx="155872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CustomerID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7962702" y="29501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9354641" y="29501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9821366" y="2950170"/>
            <a:ext cx="16054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รหัสลูกค้าที่จอง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353175" y="3305770"/>
            <a:ext cx="155872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CarID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7962702" y="33057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9354641" y="33057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9821366" y="3305770"/>
            <a:ext cx="16054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รหัสรถที่จอง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6251575" y="36105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353175" y="3661370"/>
            <a:ext cx="155872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BookingDate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7962702" y="36613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9821366" y="3661370"/>
            <a:ext cx="16054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วันที่ทำการจอง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6353175" y="4016970"/>
            <a:ext cx="155872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StartDate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7962702" y="40169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9821366" y="4016970"/>
            <a:ext cx="16054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วันเริ่มเช่า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6251575" y="43217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353175" y="4372570"/>
            <a:ext cx="155872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EndDate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7962702" y="43725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9821366" y="4372570"/>
            <a:ext cx="16054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วันสิ้นสุดการเช่า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353175" y="4728170"/>
            <a:ext cx="155872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DepositAmount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7962702" y="47281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DECIMAL(10,2)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9821366" y="4728170"/>
            <a:ext cx="16054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จำนวนเงินมัดจำ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6251575" y="5032970"/>
            <a:ext cx="5124450" cy="358775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353175" y="5083770"/>
            <a:ext cx="1558727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7962702" y="5083770"/>
            <a:ext cx="1341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9821366" y="5083770"/>
            <a:ext cx="16054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สถานะการจอง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6248400" y="5471120"/>
            <a:ext cx="554126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PK: BookingID FK: CustomerID → CUSTOMER, CarID → CAR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พจนานุกรมข้อมูล (Data Dictionary) ส่วนที่ 3/3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13520"/>
            <a:ext cx="88394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645940" y="1851620"/>
            <a:ext cx="126067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ตารางรายการเช่า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" y="2181820"/>
            <a:ext cx="5130800" cy="25019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5975" y="2184995"/>
            <a:ext cx="512445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7575" y="2235795"/>
            <a:ext cx="156775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Field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36130" y="2235795"/>
            <a:ext cx="1341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Data Type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928070" y="2235795"/>
            <a:ext cx="41592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Key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94795" y="2235795"/>
            <a:ext cx="159643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คำอธิบาย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7575" y="2594570"/>
            <a:ext cx="156775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RentalID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536130" y="25945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928070" y="25945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394795" y="2594570"/>
            <a:ext cx="159643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รหัสรายการเช่า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5975" y="28993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7575" y="2950170"/>
            <a:ext cx="156775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536130" y="29501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28070" y="29501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394795" y="2950170"/>
            <a:ext cx="159643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รหัสการจองที่เกี่ยวข้อง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7575" y="3305770"/>
            <a:ext cx="156775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ActualRentDate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536130" y="33057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394795" y="3305770"/>
            <a:ext cx="159643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วันที่รับรถจริง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975" y="36105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7575" y="3661370"/>
            <a:ext cx="156775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ActualReturnDate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536130" y="36613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394795" y="3661370"/>
            <a:ext cx="159643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วันที่คืนรถจริง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17575" y="4016970"/>
            <a:ext cx="156775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TotalAmount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536130" y="40169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DECIMAL(10,2)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394795" y="4016970"/>
            <a:ext cx="159643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ค่าเช่ารวมทั้งหมด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5975" y="4321770"/>
            <a:ext cx="5124450" cy="358775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7575" y="4372570"/>
            <a:ext cx="156775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536130" y="4372570"/>
            <a:ext cx="1341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394795" y="4372570"/>
            <a:ext cx="159643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สถานะการเช่า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12800" y="4759920"/>
            <a:ext cx="554126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PK: RentalID FK: BookingID → BOOKING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12800" y="5049441"/>
            <a:ext cx="5336032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ค่าที่กำหนดในตาราง PAYMENT ได้แก่ PaymentMethod คือ Cash, Credit Card, QR และ PaymentType คือ Deposit, Rental Fee, Late Fee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800" y="5552281"/>
            <a:ext cx="5336032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หมายเหตุ ในสคริปต์ SQL ใช้ชื่อแบบ snake_case เช่น customer_id คีย์หลักใช้ชนิด SERIAL และ DATETIME ใช้ TIMESTAMP ตาม PostgreSQL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248400" y="1813520"/>
            <a:ext cx="100588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7203480" y="1851620"/>
            <a:ext cx="133230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ตารางการชำระเงิน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48400" y="2181820"/>
            <a:ext cx="5130800" cy="32131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51575" y="2184995"/>
            <a:ext cx="512445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53175" y="2235795"/>
            <a:ext cx="156239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Field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966373" y="2235795"/>
            <a:ext cx="1341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Data Type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9358313" y="2235795"/>
            <a:ext cx="41592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Key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825038" y="2235795"/>
            <a:ext cx="160178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คำอธิบาย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353175" y="2594570"/>
            <a:ext cx="15623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PaymentID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7966373" y="25945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9358313" y="25945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9825038" y="2594570"/>
            <a:ext cx="160178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รหัสการชำระเงิน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251575" y="28993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353175" y="2950170"/>
            <a:ext cx="15623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966373" y="29501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9358313" y="29501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9825038" y="2950170"/>
            <a:ext cx="160178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รหัสการจอง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353175" y="3305770"/>
            <a:ext cx="15623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RentalID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7966373" y="33057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9358313" y="33057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9825038" y="3305770"/>
            <a:ext cx="160178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รหัสรายการเช่า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251575" y="36105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353175" y="3661370"/>
            <a:ext cx="15623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PaymentDate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7966373" y="36613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9825038" y="3661370"/>
            <a:ext cx="160178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วันที่ชำระเงิน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353175" y="4016970"/>
            <a:ext cx="15623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Amount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7966373" y="40169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DECIMAL(10,2)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825038" y="4016970"/>
            <a:ext cx="160178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จำนวนเงินที่ชำระ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6251575" y="43217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353175" y="4372570"/>
            <a:ext cx="15623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PaymentMethod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7966373" y="43725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9825038" y="4372570"/>
            <a:ext cx="160178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วิธีชำระเงิน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353175" y="4728170"/>
            <a:ext cx="15623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PaymentType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7966373" y="47281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9825038" y="4728170"/>
            <a:ext cx="160178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ประเภทการชำระ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251575" y="5032970"/>
            <a:ext cx="5124450" cy="358775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6353175" y="5083770"/>
            <a:ext cx="156239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7966373" y="5083770"/>
            <a:ext cx="1341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9825038" y="5083770"/>
            <a:ext cx="160178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สถานะการชำระเงิน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248400" y="5471120"/>
            <a:ext cx="554126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PK: PaymentID FK: BookingID → BOOKING, RentalID → RENTAL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ขั้นตอนการสร้างฐานข้อมูล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9720"/>
            <a:ext cx="1676400" cy="1945481"/>
          </a:xfrm>
          <a:prstGeom prst="roundRect">
            <a:avLst>
              <a:gd name="adj" fmla="val 3306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8850" y="2048470"/>
            <a:ext cx="330200" cy="330200"/>
          </a:xfrm>
          <a:prstGeom prst="roundRect">
            <a:avLst>
              <a:gd name="adj" fmla="val 138462"/>
            </a:avLst>
          </a:prstGeom>
          <a:solidFill>
            <a:srgbClr val="1421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2650" y="2048470"/>
            <a:ext cx="4826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8850" y="2454870"/>
            <a:ext cx="15367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เตรียมระบบ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58850" y="2823170"/>
            <a:ext cx="1439672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สร้างฐานข้อมูลบน PostgreSQL 16 และเปิดใช้ส่วนขยาย btree_gist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90800" y="1889720"/>
            <a:ext cx="1676400" cy="1945481"/>
          </a:xfrm>
          <a:prstGeom prst="roundRect">
            <a:avLst>
              <a:gd name="adj" fmla="val 3306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36850" y="2048470"/>
            <a:ext cx="330200" cy="330200"/>
          </a:xfrm>
          <a:prstGeom prst="roundRect">
            <a:avLst>
              <a:gd name="adj" fmla="val 138462"/>
            </a:avLst>
          </a:prstGeom>
          <a:solidFill>
            <a:srgbClr val="1421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60650" y="2048470"/>
            <a:ext cx="4826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36850" y="2454870"/>
            <a:ext cx="15367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ตารางหลัก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6850" y="2823170"/>
            <a:ext cx="1439672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 และ CAR_TYPE ซึ่งไม่มีคีย์นอก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68800" y="1889720"/>
            <a:ext cx="1676400" cy="1945481"/>
          </a:xfrm>
          <a:prstGeom prst="roundRect">
            <a:avLst>
              <a:gd name="adj" fmla="val 3306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14850" y="2048470"/>
            <a:ext cx="330200" cy="330200"/>
          </a:xfrm>
          <a:prstGeom prst="roundRect">
            <a:avLst>
              <a:gd name="adj" fmla="val 138462"/>
            </a:avLst>
          </a:prstGeom>
          <a:solidFill>
            <a:srgbClr val="C2410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438650" y="2048470"/>
            <a:ext cx="4826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14850" y="2454870"/>
            <a:ext cx="15367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ตารางอ้างอิง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14850" y="2823170"/>
            <a:ext cx="1439672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CAR, BOOKING, RENTAL และ PAYMENT ตามลำดับคีย์นอก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46800" y="1889720"/>
            <a:ext cx="1676400" cy="1945481"/>
          </a:xfrm>
          <a:prstGeom prst="roundRect">
            <a:avLst>
              <a:gd name="adj" fmla="val 3306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92850" y="2048470"/>
            <a:ext cx="330200" cy="330200"/>
          </a:xfrm>
          <a:prstGeom prst="roundRect">
            <a:avLst>
              <a:gd name="adj" fmla="val 138462"/>
            </a:avLst>
          </a:prstGeom>
          <a:solidFill>
            <a:srgbClr val="1421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6650" y="2048470"/>
            <a:ext cx="4826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92850" y="2454870"/>
            <a:ext cx="15367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สร้างดัชนี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92850" y="2823170"/>
            <a:ext cx="1439672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ดัชนี 3 รายการ เพื่อเร่งการค้นหาสถานะรถและการจอง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24800" y="1889720"/>
            <a:ext cx="1676400" cy="1945481"/>
          </a:xfrm>
          <a:prstGeom prst="roundRect">
            <a:avLst>
              <a:gd name="adj" fmla="val 3306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70850" y="2048470"/>
            <a:ext cx="330200" cy="330200"/>
          </a:xfrm>
          <a:prstGeom prst="roundRect">
            <a:avLst>
              <a:gd name="adj" fmla="val 138462"/>
            </a:avLst>
          </a:prstGeom>
          <a:solidFill>
            <a:srgbClr val="14213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94650" y="2048470"/>
            <a:ext cx="4826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070850" y="2454870"/>
            <a:ext cx="15367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เพิ่มข้อมูลตัวอย่าง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070850" y="2823170"/>
            <a:ext cx="1439672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INSERT ข้อมูล 44 แถว ครอบคลุมทุกสถานะ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702800" y="1889720"/>
            <a:ext cx="1676400" cy="1945481"/>
          </a:xfrm>
          <a:prstGeom prst="roundRect">
            <a:avLst>
              <a:gd name="adj" fmla="val 3306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48850" y="2048470"/>
            <a:ext cx="330200" cy="330200"/>
          </a:xfrm>
          <a:prstGeom prst="roundRect">
            <a:avLst>
              <a:gd name="adj" fmla="val 138462"/>
            </a:avLst>
          </a:prstGeom>
          <a:solidFill>
            <a:srgbClr val="14213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772650" y="2048470"/>
            <a:ext cx="4826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848850" y="2454870"/>
            <a:ext cx="15367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ทดสอบ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848850" y="2823170"/>
            <a:ext cx="1439672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คำสั่งทดสอบ 19 คำสั่ง แบ่งเป็น 3 ระดับ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12800" y="4114602"/>
            <a:ext cx="638319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ลำดับการสร้างตาราง (ตารางที่ถูกอ้างอิงต้องสร้างก่อน)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12800" y="4457502"/>
            <a:ext cx="960140" cy="330200"/>
          </a:xfrm>
          <a:prstGeom prst="roundRect">
            <a:avLst>
              <a:gd name="adj" fmla="val 53254"/>
            </a:avLst>
          </a:prstGeom>
          <a:solidFill>
            <a:srgbClr val="E6EAF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27100" y="4521002"/>
            <a:ext cx="8839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12800" y="4863902"/>
            <a:ext cx="960140" cy="330200"/>
          </a:xfrm>
          <a:prstGeom prst="roundRect">
            <a:avLst>
              <a:gd name="adj" fmla="val 53254"/>
            </a:avLst>
          </a:prstGeom>
          <a:solidFill>
            <a:srgbClr val="E6EAF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27100" y="4927402"/>
            <a:ext cx="8839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CAR_TYPE</a:t>
            </a:r>
            <a:endParaRPr lang="en-US" sz="12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40" y="4755952"/>
            <a:ext cx="190500" cy="139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2166640" y="4660702"/>
            <a:ext cx="502940" cy="330200"/>
          </a:xfrm>
          <a:prstGeom prst="roundRect">
            <a:avLst>
              <a:gd name="adj" fmla="val 53254"/>
            </a:avLst>
          </a:prstGeom>
          <a:solidFill>
            <a:srgbClr val="E6EAF0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280940" y="4724202"/>
            <a:ext cx="4267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</a:t>
            </a:r>
            <a:endParaRPr lang="en-US" sz="1200" dirty="0"/>
          </a:p>
        </p:txBody>
      </p:sp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180" y="4755952"/>
            <a:ext cx="190500" cy="139700"/>
          </a:xfrm>
          <a:prstGeom prst="rect">
            <a:avLst/>
          </a:prstGeom>
        </p:spPr>
      </p:pic>
      <p:sp>
        <p:nvSpPr>
          <p:cNvPr id="43" name="Shape 39"/>
          <p:cNvSpPr/>
          <p:nvPr/>
        </p:nvSpPr>
        <p:spPr>
          <a:xfrm>
            <a:off x="3063280" y="4660702"/>
            <a:ext cx="868759" cy="330200"/>
          </a:xfrm>
          <a:prstGeom prst="roundRect">
            <a:avLst>
              <a:gd name="adj" fmla="val 53254"/>
            </a:avLst>
          </a:prstGeom>
          <a:solidFill>
            <a:srgbClr val="C2410C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3177580" y="4724202"/>
            <a:ext cx="7925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</a:t>
            </a:r>
            <a:endParaRPr lang="en-US" sz="1200" dirty="0"/>
          </a:p>
        </p:txBody>
      </p:sp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639" y="4755952"/>
            <a:ext cx="190500" cy="139700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4325739" y="4660702"/>
            <a:ext cx="777280" cy="330200"/>
          </a:xfrm>
          <a:prstGeom prst="roundRect">
            <a:avLst>
              <a:gd name="adj" fmla="val 53254"/>
            </a:avLst>
          </a:prstGeom>
          <a:solidFill>
            <a:srgbClr val="E6EAF0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4440039" y="4724202"/>
            <a:ext cx="7010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200" dirty="0"/>
          </a:p>
        </p:txBody>
      </p:sp>
      <p:pic>
        <p:nvPicPr>
          <p:cNvPr id="4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4619" y="4755952"/>
            <a:ext cx="190500" cy="139700"/>
          </a:xfrm>
          <a:prstGeom prst="rect">
            <a:avLst/>
          </a:prstGeom>
        </p:spPr>
      </p:pic>
      <p:sp>
        <p:nvSpPr>
          <p:cNvPr id="49" name="Shape 43"/>
          <p:cNvSpPr/>
          <p:nvPr/>
        </p:nvSpPr>
        <p:spPr>
          <a:xfrm>
            <a:off x="5496719" y="4660702"/>
            <a:ext cx="868759" cy="330200"/>
          </a:xfrm>
          <a:prstGeom prst="roundRect">
            <a:avLst>
              <a:gd name="adj" fmla="val 53254"/>
            </a:avLst>
          </a:prstGeom>
          <a:solidFill>
            <a:srgbClr val="E6EAF0"/>
          </a:solidFill>
          <a:ln/>
        </p:spPr>
      </p:sp>
      <p:sp>
        <p:nvSpPr>
          <p:cNvPr id="50" name="Text 44"/>
          <p:cNvSpPr txBox="1"/>
          <p:nvPr/>
        </p:nvSpPr>
        <p:spPr>
          <a:xfrm>
            <a:off x="5611019" y="4724202"/>
            <a:ext cx="7925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</a:t>
            </a:r>
            <a:endParaRPr lang="en-US" sz="1200" dirty="0"/>
          </a:p>
        </p:txBody>
      </p:sp>
      <p:sp>
        <p:nvSpPr>
          <p:cNvPr id="51" name="Text 45"/>
          <p:cNvSpPr txBox="1"/>
          <p:nvPr/>
        </p:nvSpPr>
        <p:spPr>
          <a:xfrm>
            <a:off x="7078762" y="4114602"/>
            <a:ext cx="464447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คำสั่งในขั้นตอนที่ 1 และ 4</a:t>
            </a:r>
            <a:endParaRPr lang="en-US" sz="1200" dirty="0"/>
          </a:p>
        </p:txBody>
      </p:sp>
      <p:sp>
        <p:nvSpPr>
          <p:cNvPr id="52" name="Shape 46"/>
          <p:cNvSpPr/>
          <p:nvPr/>
        </p:nvSpPr>
        <p:spPr>
          <a:xfrm>
            <a:off x="7078762" y="4457502"/>
            <a:ext cx="4300438" cy="673100"/>
          </a:xfrm>
          <a:prstGeom prst="roundRect">
            <a:avLst>
              <a:gd name="adj" fmla="val 17942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7262912" y="4603552"/>
            <a:ext cx="42467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 EXTENSION IF NOT EXISTS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btree_gist;</a:t>
            </a:r>
            <a:endParaRPr lang="en-US" sz="1200" dirty="0"/>
          </a:p>
        </p:txBody>
      </p:sp>
      <p:sp>
        <p:nvSpPr>
          <p:cNvPr id="54" name="Text 48"/>
          <p:cNvSpPr txBox="1"/>
          <p:nvPr/>
        </p:nvSpPr>
        <p:spPr>
          <a:xfrm>
            <a:off x="7262912" y="4794052"/>
            <a:ext cx="42467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 INDEX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idx_car_status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car(status);</a:t>
            </a:r>
            <a:endParaRPr lang="en-US" sz="1200" dirty="0"/>
          </a:p>
        </p:txBody>
      </p:sp>
      <p:sp>
        <p:nvSpPr>
          <p:cNvPr id="55" name="Text 49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สร้างฐานข้อมูลด้วย SQL DDL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15120"/>
            <a:ext cx="6334720" cy="3587750"/>
          </a:xfrm>
          <a:prstGeom prst="roundRect">
            <a:avLst>
              <a:gd name="adj" fmla="val 722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73150" y="2124670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 TABLE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(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73150" y="2322711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booking_id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SERIAL PRIMARY KEY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73150" y="2520752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customer_id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 NOT NULL REFERENCES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customer,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73150" y="2718792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car_id    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 NOT NULL REFERENCES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car,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73150" y="2916833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-- booking_date, deposit_amount (ละไว้)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73150" y="3114873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start_date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 NOT NULL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73150" y="3312914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end_date  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 NOT NULL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73150" y="3510955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status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(20)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DEFAULT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'Pending'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73150" y="3708995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(status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'Pending'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'Confirmed'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73150" y="3907036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  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'Cancelled'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'Completed'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)),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73150" y="4105077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CONSTRAINT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chk_booking_dates      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BR7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73150" y="4303117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(end_date &gt; start_date),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73150" y="4501158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CONSTRAINT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no_overlap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EXCLUDE USING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gist (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BR2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73150" y="4699198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car_id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=, tsrange(start_date, end_date)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&amp;&amp;)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73150" y="4897239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(status &lt;&gt;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'Cancelled'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73150" y="5095280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);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503120" y="1915120"/>
            <a:ext cx="387608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503120" y="2035770"/>
            <a:ext cx="4186166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PRIMARY / FOREIGN KEY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03120" y="2296120"/>
            <a:ext cx="4186166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เชื่อมโยงการจองกับลูกค้าและรถยนต์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503120" y="2623741"/>
            <a:ext cx="387608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03120" y="2744391"/>
            <a:ext cx="4186166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CHECK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503120" y="3004741"/>
            <a:ext cx="4186166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จำกัดค่าสถานะ และกำหนดให้วันคืนอยู่หลังวันรับ (BR7)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03120" y="3332361"/>
            <a:ext cx="387608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503120" y="3453011"/>
            <a:ext cx="4186166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EXCLUDE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503120" y="3713361"/>
            <a:ext cx="4186166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ปฏิเสธการจองรถคันเดิมในช่วงเวลาที่ทับซ้อน (BR2)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503120" y="4040981"/>
            <a:ext cx="387608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503120" y="4161631"/>
            <a:ext cx="418616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Constraints ทั้งระบบ 30 รายการ ใน 6 ตาราง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503120" y="4479131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CHECK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671520" y="4498181"/>
            <a:ext cx="1676400" cy="165100"/>
          </a:xfrm>
          <a:prstGeom prst="roundRect">
            <a:avLst>
              <a:gd name="adj" fmla="val 85207"/>
            </a:avLst>
          </a:prstGeom>
          <a:solidFill>
            <a:srgbClr val="14213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820" y="4479131"/>
            <a:ext cx="3353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12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503120" y="4745831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PRIMARY KEY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671520" y="4764881"/>
            <a:ext cx="838200" cy="165100"/>
          </a:xfrm>
          <a:prstGeom prst="roundRect">
            <a:avLst>
              <a:gd name="adj" fmla="val 85207"/>
            </a:avLst>
          </a:prstGeom>
          <a:solidFill>
            <a:srgbClr val="14213D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598620" y="4745831"/>
            <a:ext cx="2438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503120" y="5012531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FOREIGN KEY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671520" y="5031581"/>
            <a:ext cx="838200" cy="165100"/>
          </a:xfrm>
          <a:prstGeom prst="roundRect">
            <a:avLst>
              <a:gd name="adj" fmla="val 85207"/>
            </a:avLst>
          </a:prstGeom>
          <a:solidFill>
            <a:srgbClr val="14213D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598620" y="5012531"/>
            <a:ext cx="2438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7503120" y="5279231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UNIQUE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671520" y="5298281"/>
            <a:ext cx="698500" cy="165100"/>
          </a:xfrm>
          <a:prstGeom prst="roundRect">
            <a:avLst>
              <a:gd name="adj" fmla="val 85207"/>
            </a:avLst>
          </a:prstGeom>
          <a:solidFill>
            <a:srgbClr val="14213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458920" y="5279231"/>
            <a:ext cx="2438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5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7503120" y="5545931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EXCLUDE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671520" y="5564981"/>
            <a:ext cx="139700" cy="165100"/>
          </a:xfrm>
          <a:prstGeom prst="roundRect">
            <a:avLst>
              <a:gd name="adj" fmla="val 119008"/>
            </a:avLst>
          </a:prstGeom>
          <a:solidFill>
            <a:srgbClr val="C2410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900120" y="5545931"/>
            <a:ext cx="2438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ตัวอย่างข้อมูล (Sample Data)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64320"/>
            <a:ext cx="105664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2774851"/>
            <a:ext cx="105664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12800" y="1972270"/>
            <a:ext cx="1913434" cy="447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4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2419251"/>
            <a:ext cx="191343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ประเภทรถ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573834" y="1972270"/>
            <a:ext cx="1913434" cy="447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8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2573834" y="2419251"/>
            <a:ext cx="191343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รถยนต์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334867" y="1972270"/>
            <a:ext cx="1913533" cy="447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6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334867" y="2419251"/>
            <a:ext cx="191353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ลูกค้า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96000" y="1972270"/>
            <a:ext cx="1913434" cy="447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8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6096000" y="2419251"/>
            <a:ext cx="191343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การจอง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857034" y="1972270"/>
            <a:ext cx="1913434" cy="447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6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7857034" y="2419251"/>
            <a:ext cx="191343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การเช่า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618067" y="1972270"/>
            <a:ext cx="1913533" cy="447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12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9618067" y="2419251"/>
            <a:ext cx="191353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การชำระเงิน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2800" y="3035201"/>
            <a:ext cx="6129040" cy="28067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5975" y="3038376"/>
            <a:ext cx="612269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7575" y="3089176"/>
            <a:ext cx="216102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รถ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21720" y="3089176"/>
            <a:ext cx="11736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ประเภท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193778" y="3089176"/>
            <a:ext cx="105122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บาท/วัน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48201" y="3089176"/>
            <a:ext cx="154126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Status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17575" y="3447951"/>
            <a:ext cx="21610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Toyota Camry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121720" y="3447951"/>
            <a:ext cx="11736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Sedan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193778" y="3447951"/>
            <a:ext cx="10512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1,800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48201" y="3447951"/>
            <a:ext cx="15412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Available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15975" y="3701951"/>
            <a:ext cx="6122690" cy="3048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7575" y="3752751"/>
            <a:ext cx="21610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Honda Civic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121720" y="3752751"/>
            <a:ext cx="11736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Sedan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193778" y="3752751"/>
            <a:ext cx="10512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1,500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48201" y="3752751"/>
            <a:ext cx="15412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Rented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17575" y="4057551"/>
            <a:ext cx="21610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Toyota Fortuner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121720" y="4057551"/>
            <a:ext cx="11736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SUV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193778" y="4057551"/>
            <a:ext cx="10512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2,500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48201" y="4057551"/>
            <a:ext cx="15412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Available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15975" y="4311551"/>
            <a:ext cx="6122690" cy="3048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17575" y="4362351"/>
            <a:ext cx="21610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Honda CR-V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3121720" y="4362351"/>
            <a:ext cx="11736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SUV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193778" y="4362351"/>
            <a:ext cx="10512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2,300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448201" y="4362351"/>
            <a:ext cx="15412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Rented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17575" y="4667151"/>
            <a:ext cx="21610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Toyota Commuter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3121720" y="4667151"/>
            <a:ext cx="11736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Van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193778" y="4667151"/>
            <a:ext cx="10512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3,000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448201" y="4667151"/>
            <a:ext cx="15412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Available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15975" y="4921151"/>
            <a:ext cx="6122690" cy="3048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17575" y="4971951"/>
            <a:ext cx="21610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Hyundai H-1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3121720" y="4971951"/>
            <a:ext cx="11736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Van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193778" y="4971951"/>
            <a:ext cx="10512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2,800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448201" y="4971951"/>
            <a:ext cx="15412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Maintenance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917575" y="5276751"/>
            <a:ext cx="21610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Nissan Almera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3121720" y="5276751"/>
            <a:ext cx="11736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Eco Car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4193778" y="5276751"/>
            <a:ext cx="10512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900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448201" y="5276751"/>
            <a:ext cx="15412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Available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815975" y="5530751"/>
            <a:ext cx="6122690" cy="307975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17575" y="5581551"/>
            <a:ext cx="2161020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Toyota Yaris Ativ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3121720" y="5581551"/>
            <a:ext cx="1173659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Eco Car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193778" y="5581551"/>
            <a:ext cx="1051223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950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5448201" y="5581551"/>
            <a:ext cx="1541264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Available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7297440" y="3035201"/>
            <a:ext cx="4408301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การออกแบบข้อมูลทดสอบ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7551440" y="3511451"/>
            <a:ext cx="4133981" cy="24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• ครอบคลุมสถานะรถครบทั้ง 3 แบบ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7551440" y="3760291"/>
            <a:ext cx="398087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• ครอบคลุมสถานะการจองทั้ง 4 แบบ รวมถึงการยกเลิก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7551440" y="4257973"/>
            <a:ext cx="4133981" cy="24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• มีการชำระหลายงวด ได้แก่ มัดจำ ค่าเช่า และค่าปรับ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7551440" y="4506813"/>
            <a:ext cx="4133981" cy="24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• มีการเช่าที่ยังไม่คืนรถ สำหรับทดสอบยอดค้างชำระ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การทดสอบระดับง่าย (Easy) จำนวน 6 คำสั่ง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38920"/>
            <a:ext cx="6156920" cy="3530600"/>
          </a:xfrm>
          <a:prstGeom prst="roundRect">
            <a:avLst>
              <a:gd name="adj" fmla="val 652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6950" y="1984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E1 รถที่ว่าง เรียงตามราคา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96950" y="21754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car_id, brand, model, daily_rate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96950" y="2365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'Available'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daily_rate;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96950" y="25564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E2 ค้นหาลูกค้าจากเลขใบขับขี่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96950" y="2746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*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license_no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'DL-10003'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96950" y="29374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E3 รถที่ค่าเช่าไม่เกิน 2,000 บาทต่อวัน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96950" y="3127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brand, model, daily_rate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96950" y="33184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daily_rate &lt;= 2000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daily_rate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6950" y="3508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E4 เพิ่มลูกค้าใหม่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6950" y="36994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INTO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 (name, phone, email, license_no)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96950" y="3889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VALUES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'ณัฐวุฒิ ทองดี'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'087-777-7777'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96950" y="40804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'nattawut@mail.com'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'DL-10007'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96950" y="4270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E5 ปรับสถานะรถที่ซ่อมเสร็จ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96950" y="44614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UPDATE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'Available'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96950" y="4651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license_plate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'นค 1122'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96950" y="48424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E6 ลบลูกค้าที่ยังไม่เคยจอง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96950" y="5032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DELETE 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license_no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'DL-10007'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274520" y="1838920"/>
            <a:ext cx="443305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ผลการทดสอบ ผ่านทั้ง 6 คำสั่ง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274520" y="2156420"/>
            <a:ext cx="41046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74520" y="2238970"/>
            <a:ext cx="190500" cy="19050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566620" y="2238970"/>
            <a:ext cx="3965083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E1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SELECT WHERE ORDER BY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5 แถว จาก Almera 900 บาท ถึง Commuter 3,000 บาท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274520" y="2726531"/>
            <a:ext cx="41046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520" y="2809081"/>
            <a:ext cx="190500" cy="19050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7566620" y="2809081"/>
            <a:ext cx="3965083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E2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SELECT WHERE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 แถว คือ ธนากร มั่นคง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7274520" y="3296642"/>
            <a:ext cx="41046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20" y="3379192"/>
            <a:ext cx="190500" cy="19050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7566620" y="3379192"/>
            <a:ext cx="3965083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E3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WHERE ช่วงราคา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4 แถว ได้แก่ Camry, Civic, Yaris Ativ และ Almera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7274520" y="3866753"/>
            <a:ext cx="41046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4520" y="3949303"/>
            <a:ext cx="190500" cy="19050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7566620" y="3949303"/>
            <a:ext cx="3965083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E4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INSERT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INSERT 0 1 เพิ่มลูกค้าสำเร็จ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7274520" y="4436864"/>
            <a:ext cx="41046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4520" y="4519414"/>
            <a:ext cx="190500" cy="19050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7566620" y="4519414"/>
            <a:ext cx="3965083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E5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UPDATE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UPDATE 1 รถ H-1 กลับมาว่าง</a:t>
            </a:r>
            <a:endParaRPr lang="en-US" sz="1200" dirty="0"/>
          </a:p>
        </p:txBody>
      </p:sp>
      <p:sp>
        <p:nvSpPr>
          <p:cNvPr id="38" name="Shape 31"/>
          <p:cNvSpPr/>
          <p:nvPr/>
        </p:nvSpPr>
        <p:spPr>
          <a:xfrm>
            <a:off x="7274520" y="5006975"/>
            <a:ext cx="41046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4520" y="5089525"/>
            <a:ext cx="190500" cy="19050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566620" y="5089525"/>
            <a:ext cx="3965083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E6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DELETE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DELETE 1 ลบลูกค้าที่เพิ่มใน E4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การทดสอบระดับปานกลาง (Medium) ส่วนที่ 1/3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13520"/>
            <a:ext cx="404713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66713" y="1826220"/>
            <a:ext cx="110370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JOIN 3 ตาราง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19623" y="1826220"/>
            <a:ext cx="223142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รายการจองพร้อมชื่อลูกค้าและรถ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143720"/>
            <a:ext cx="6187480" cy="1054100"/>
          </a:xfrm>
          <a:prstGeom prst="roundRect">
            <a:avLst>
              <a:gd name="adj" fmla="val 7316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50" y="2289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b.booking_id, c.name,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96950" y="2480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ca.brand ||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 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|| ca.model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car, b.status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96950" y="2670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b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 c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(customer_id)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96950" y="2861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 ca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(car_id)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b.start_date;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254280" y="2143720"/>
            <a:ext cx="4454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ผลลัพธ์ 8 แถว (แสดง 3 แถวแรก)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254280" y="2461220"/>
            <a:ext cx="4124920" cy="14351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57455" y="2464395"/>
            <a:ext cx="411857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59055" y="2515195"/>
            <a:ext cx="52576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id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935615" y="2515195"/>
            <a:ext cx="159662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ลูกค้า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83043" y="2515195"/>
            <a:ext cx="184378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รถ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59055" y="2873970"/>
            <a:ext cx="52576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935615" y="2873970"/>
            <a:ext cx="159662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สมชาย ใจดี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83043" y="2873970"/>
            <a:ext cx="184378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Toyota Camry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57455" y="3178770"/>
            <a:ext cx="411857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59055" y="3229570"/>
            <a:ext cx="52576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935615" y="3229570"/>
            <a:ext cx="159662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สมหญิง รักษ์ดี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83043" y="3229570"/>
            <a:ext cx="184378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Toyota Fortuner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359055" y="3585170"/>
            <a:ext cx="52576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935615" y="3585170"/>
            <a:ext cx="159662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สมชาย ใจดี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583043" y="3585170"/>
            <a:ext cx="184378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Nissan Almera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12800" y="4099520"/>
            <a:ext cx="404713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M2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66713" y="4124920"/>
            <a:ext cx="201662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LEFT JOIN GROUP BY AVG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132534" y="4112220"/>
            <a:ext cx="241840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ค่าเช่าเฉลี่ยต่อวันแยกตามประเภทรถ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2800" y="4429720"/>
            <a:ext cx="6187480" cy="863600"/>
          </a:xfrm>
          <a:prstGeom prst="roundRect">
            <a:avLst>
              <a:gd name="adj" fmla="val 10900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96950" y="4575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t.type_name,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ROUND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AVG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(c.daily_rate), 2)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96950" y="4766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car_type t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LEFT 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 c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(car_type_id)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96950" y="4956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t.type_name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2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254280" y="4429720"/>
            <a:ext cx="4454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ผลลัพธ์ 4 แถว (บาทต่อวัน)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254280" y="4747220"/>
            <a:ext cx="850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Van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041680" y="4759920"/>
            <a:ext cx="2540000" cy="177800"/>
          </a:xfrm>
          <a:prstGeom prst="roundRect">
            <a:avLst>
              <a:gd name="adj" fmla="val 73469"/>
            </a:avLst>
          </a:prstGeom>
          <a:solidFill>
            <a:srgbClr val="14213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670580" y="4747220"/>
            <a:ext cx="5596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2,900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254280" y="4988520"/>
            <a:ext cx="850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SUV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041680" y="5001220"/>
            <a:ext cx="2101850" cy="177800"/>
          </a:xfrm>
          <a:prstGeom prst="roundRect">
            <a:avLst>
              <a:gd name="adj" fmla="val 73469"/>
            </a:avLst>
          </a:prstGeom>
          <a:solidFill>
            <a:srgbClr val="14213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232430" y="4988520"/>
            <a:ext cx="5596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2,400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254280" y="5229820"/>
            <a:ext cx="850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Sedan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1680" y="5242520"/>
            <a:ext cx="1447800" cy="177800"/>
          </a:xfrm>
          <a:prstGeom prst="roundRect">
            <a:avLst>
              <a:gd name="adj" fmla="val 73469"/>
            </a:avLst>
          </a:prstGeom>
          <a:solidFill>
            <a:srgbClr val="14213D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9578380" y="5229820"/>
            <a:ext cx="5596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1,650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254280" y="5471120"/>
            <a:ext cx="850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Eco Car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041680" y="5483820"/>
            <a:ext cx="812800" cy="177800"/>
          </a:xfrm>
          <a:prstGeom prst="roundRect">
            <a:avLst>
              <a:gd name="adj" fmla="val 73469"/>
            </a:avLst>
          </a:prstGeom>
          <a:solidFill>
            <a:srgbClr val="14213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943380" y="5471120"/>
            <a:ext cx="4267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925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การทดสอบระดับปานกลาง (Medium) ส่วนที่ 2/3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13520"/>
            <a:ext cx="404713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M3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66713" y="1838920"/>
            <a:ext cx="1257796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SUM GROUP BY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73709" y="1826220"/>
            <a:ext cx="24451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ยอดรับเงินแยกตามช่องทางการชำระ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143720"/>
            <a:ext cx="6187480" cy="863600"/>
          </a:xfrm>
          <a:prstGeom prst="roundRect">
            <a:avLst>
              <a:gd name="adj" fmla="val 10900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50" y="2289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payment_method,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COUNT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(*),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(amount)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96950" y="2480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payment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'Paid'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96950" y="2670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payment_method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3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254280" y="2143720"/>
            <a:ext cx="4454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ผลลัพธ์ 3 แถว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54280" y="2461220"/>
            <a:ext cx="4124920" cy="12827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57455" y="2464395"/>
            <a:ext cx="411857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59055" y="2515195"/>
            <a:ext cx="1761331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ช่องทาง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018786" y="2515195"/>
            <a:ext cx="85526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รายการ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924852" y="2515195"/>
            <a:ext cx="134957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ยอดรวม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59055" y="2873970"/>
            <a:ext cx="176133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Credit Card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018786" y="2873970"/>
            <a:ext cx="855266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924852" y="2873970"/>
            <a:ext cx="13495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15,900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57455" y="3127970"/>
            <a:ext cx="4118570" cy="3048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59055" y="3178770"/>
            <a:ext cx="176133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Cash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018786" y="3178770"/>
            <a:ext cx="855266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924852" y="3178770"/>
            <a:ext cx="13495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9,500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359055" y="3483570"/>
            <a:ext cx="1761331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QR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018786" y="3483570"/>
            <a:ext cx="855266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924852" y="3483570"/>
            <a:ext cx="1349573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3,800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12800" y="3947120"/>
            <a:ext cx="404713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166713" y="3972520"/>
            <a:ext cx="151933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GROUP BY HAVING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635250" y="3959820"/>
            <a:ext cx="178345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ลูกค้าที่จองมากกว่า 1 ครั้ง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2800" y="4277320"/>
            <a:ext cx="6187480" cy="863600"/>
          </a:xfrm>
          <a:prstGeom prst="roundRect">
            <a:avLst>
              <a:gd name="adj" fmla="val 10900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96950" y="44233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c.name,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COUNT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(*)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96950" y="46138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 c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b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(customer_id)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96950" y="48043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c.customer_id, c.name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HAVING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COUNT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(*) &gt; 1;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254280" y="4277320"/>
            <a:ext cx="4454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ผลลัพธ์ 2 แถว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254280" y="4594820"/>
            <a:ext cx="4124920" cy="10795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57455" y="4597995"/>
            <a:ext cx="411857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359055" y="4648795"/>
            <a:ext cx="244937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ลูกค้า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677797" y="4648795"/>
            <a:ext cx="159662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จำนวนการจอง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359055" y="5007570"/>
            <a:ext cx="244937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สมหญิง รักษ์ดี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677797" y="5007570"/>
            <a:ext cx="159662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257455" y="5312370"/>
            <a:ext cx="4118570" cy="358775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359055" y="5363170"/>
            <a:ext cx="244937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สมชาย ใจดี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677797" y="5363170"/>
            <a:ext cx="159662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การทดสอบระดับปานกลาง (Medium) ส่วนที่ 3/3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13520"/>
            <a:ext cx="404713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M5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66713" y="1826220"/>
            <a:ext cx="110370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JOIN 4 ตาราง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19623" y="1826220"/>
            <a:ext cx="261246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รถที่อยู่ระหว่างการเช่าและวันกำหนดคืน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143720"/>
            <a:ext cx="6187480" cy="1435100"/>
          </a:xfrm>
          <a:prstGeom prst="roundRect">
            <a:avLst>
              <a:gd name="adj" fmla="val 3947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50" y="2289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ca.license_plate, ca.model, cu.name,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96950" y="2480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b.end_date::date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due_date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96950" y="2670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rental r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b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(booking_id)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96950" y="2861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 ca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(car_id)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96950" y="3051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 cu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(customer_id)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6950" y="3242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r.status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'Active'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254280" y="2143720"/>
            <a:ext cx="4454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ผลลัพธ์ 2 แถว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54280" y="2461220"/>
            <a:ext cx="4124920" cy="10795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57455" y="2464395"/>
            <a:ext cx="411857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59055" y="2515195"/>
            <a:ext cx="143182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ทะเบียน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41680" y="2515195"/>
            <a:ext cx="110232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รุ่น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994801" y="2515195"/>
            <a:ext cx="143202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กำหนดคืน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59055" y="2873970"/>
            <a:ext cx="14318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กค 5678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841680" y="2873970"/>
            <a:ext cx="110232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Civic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994801" y="2873970"/>
            <a:ext cx="143202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15 ต.ค.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257455" y="3178770"/>
            <a:ext cx="4118570" cy="358775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59055" y="3229570"/>
            <a:ext cx="143182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ขข 3456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841680" y="3229570"/>
            <a:ext cx="110232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CR-V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994801" y="3229570"/>
            <a:ext cx="143202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12 ต.ค.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12800" y="3782020"/>
            <a:ext cx="404713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M6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166713" y="3794720"/>
            <a:ext cx="209083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CREATE VIEW (ทดสอบ DDL)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204270" y="3794720"/>
            <a:ext cx="250724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สร้าง View จากคำสั่ง M5 แล้วเรียกใช้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2800" y="4112220"/>
            <a:ext cx="6187480" cy="863600"/>
          </a:xfrm>
          <a:prstGeom prst="roundRect">
            <a:avLst>
              <a:gd name="adj" fmla="val 10900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96950" y="4258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 VIEW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v_active_rentals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96950" y="4448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...;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คำสั่งเดียวกับ M5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96950" y="4639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*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v_active_rentals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due_date;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254280" y="4112220"/>
            <a:ext cx="4454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ผลลัพธ์ CREATE VIEW และ 2 แถว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254280" y="4429720"/>
            <a:ext cx="428991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View ถูกสร้างสำเร็จ และแสดงรถ 2 คันเช่นเดียวกับ M5 โดยเรียงตามวันกำหนดคืน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การทดสอบระดับซับซ้อน (Complex) ส่วนที่ 1/3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788120"/>
            <a:ext cx="374848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36848" y="1813520"/>
            <a:ext cx="134223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CTE + LEFT JOIN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428280" y="1800820"/>
            <a:ext cx="203765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ยอดค้างชำระของแต่ละการเช่า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118320"/>
            <a:ext cx="6445250" cy="2006600"/>
          </a:xfrm>
          <a:prstGeom prst="roundRect">
            <a:avLst>
              <a:gd name="adj" fmla="val 2019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50" y="22643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paid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96950" y="24548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booking_id,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(amount)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paid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96950" y="26453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payment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'Paid'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booking_id)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96950" y="28358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r.rental_id, cu.name, r.total_amount,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96950" y="30263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r.total_amount -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COALESCE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(p.paid, 0)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outstanding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6950" y="32168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rental r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b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(booking_id)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6950" y="34073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 cu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(customer_id)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96950" y="35978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LEFT 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paid p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(booking_id)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96950" y="37883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r.total_amount -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COALESCE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(p.paid, 0) &gt; 0;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512050" y="2118320"/>
            <a:ext cx="417652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ผลลัพธ์ 2 แถว (ก่อนรันคำสั่ง C5)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12050" y="2435820"/>
            <a:ext cx="3867150" cy="10795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15225" y="2438995"/>
            <a:ext cx="386080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16825" y="2489795"/>
            <a:ext cx="48964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id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157270" y="2489795"/>
            <a:ext cx="195679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ลูกค้า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012462" y="2489795"/>
            <a:ext cx="126196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ค้างชำระ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616825" y="2848570"/>
            <a:ext cx="48964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157270" y="2848570"/>
            <a:ext cx="195679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พิมพ์ชนก สุขใจ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012462" y="2848570"/>
            <a:ext cx="12619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9,500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515225" y="3153370"/>
            <a:ext cx="3860800" cy="358775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616825" y="3204170"/>
            <a:ext cx="48964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157270" y="3204170"/>
            <a:ext cx="195679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วีรภัทร ศรีสุข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012462" y="3204170"/>
            <a:ext cx="126196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5,400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2800" y="4302720"/>
            <a:ext cx="374848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136848" y="4328120"/>
            <a:ext cx="19362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Window Function RANK()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022302" y="4315420"/>
            <a:ext cx="15418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จัดอันดับรถตามรายได้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12800" y="4632920"/>
            <a:ext cx="6445250" cy="1244600"/>
          </a:xfrm>
          <a:prstGeom prst="roundRect">
            <a:avLst>
              <a:gd name="adj" fmla="val 5248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96950" y="47789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ca.brand ||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 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|| ca.model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car,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96950" y="49694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(r.total_amount)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revenue,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96950" y="51599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RANK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OVER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(r.total_amount)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996950" y="53504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rental r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b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(booking_id)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96950" y="55409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 ca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(car_id)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car;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512050" y="4632920"/>
            <a:ext cx="417652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ผลลัพธ์ 6 แถว (แสดง 3 อันดับแรก)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512050" y="4950420"/>
            <a:ext cx="386715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512050" y="5007570"/>
            <a:ext cx="406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867650" y="5007570"/>
            <a:ext cx="31441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Honda Civic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880527" y="5007570"/>
            <a:ext cx="6510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10,500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512050" y="5261570"/>
            <a:ext cx="386715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512050" y="5318720"/>
            <a:ext cx="406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2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867650" y="5318720"/>
            <a:ext cx="31441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Toyota Fortuner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880527" y="5318720"/>
            <a:ext cx="6510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10,000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512050" y="5572720"/>
            <a:ext cx="386715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512050" y="5629870"/>
            <a:ext cx="406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3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7867650" y="5629870"/>
            <a:ext cx="324287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Toyota Commuter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971907" y="5629870"/>
            <a:ext cx="5596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9,000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การทดสอบระดับซับซ้อน (Complex) ส่วนที่ 2/3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788120"/>
            <a:ext cx="374848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C3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36848" y="1800820"/>
            <a:ext cx="172660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NOT EXISTS + ช่วงเวลา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2131020"/>
            <a:ext cx="554126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รถที่ว่างตลอดช่วงวันที่ 19 ถึง 22 ต.ค.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461220"/>
            <a:ext cx="5130800" cy="1816100"/>
          </a:xfrm>
          <a:prstGeom prst="roundRect">
            <a:avLst>
              <a:gd name="adj" fmla="val 2465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50" y="26072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ca.brand, ca.model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 ca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96950" y="27977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ca.status &lt;&gt;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'Maintenance'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96950" y="29882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 EXISTS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96950" y="31787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1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b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96950" y="33692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b.car_id = ca.car_id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6950" y="35597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b.status &lt;&gt;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'Cancelled'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6950" y="37502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tsrange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(b.start_date, b.end_date)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96950" y="39407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&amp;&amp;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tsrange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'2026-10-19'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'2026-10-22'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));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12800" y="4353520"/>
            <a:ext cx="554126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ผลลัพธ์ 7 แถว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800" y="4671020"/>
            <a:ext cx="5336032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ทุกคันยกเว้น Camry ซึ่งมีการจองวันที่ 20 ถึง 23 ต.ค. (รวม H-1 ที่กลับมาว่างหลังคำสั่ง E5)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48400" y="1788120"/>
            <a:ext cx="374848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72448" y="1800820"/>
            <a:ext cx="163403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Subquery ใน HAVING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48400" y="2131020"/>
            <a:ext cx="554126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ลูกค้าที่ชำระเงินสูงกว่าค่าเฉลี่ยต่อลูกค้า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48400" y="2461220"/>
            <a:ext cx="5130800" cy="1816100"/>
          </a:xfrm>
          <a:prstGeom prst="roundRect">
            <a:avLst>
              <a:gd name="adj" fmla="val 2465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32550" y="26072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cu.name,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(p.amount)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spent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32550" y="27977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 cu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32550" y="29882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b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(customer_id)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32550" y="31787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payment p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(booking_id)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32550" y="33692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p.status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'Paid'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32550" y="35597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cu.customer_id, cu.name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32550" y="37502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HAVING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(p.amount) &gt; (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AVG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(s)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32550" y="39407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(...ยอดรวมต่อลูกค้า...) x);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248400" y="4353520"/>
            <a:ext cx="554126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ผลลัพธ์ 3 แถว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48400" y="4671020"/>
            <a:ext cx="51308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248400" y="4740870"/>
            <a:ext cx="406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604000" y="4728170"/>
            <a:ext cx="450892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สมหญิง รักษ์ดี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880527" y="4740870"/>
            <a:ext cx="6510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10,500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48400" y="5032970"/>
            <a:ext cx="51308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248400" y="5102820"/>
            <a:ext cx="406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604000" y="5090120"/>
            <a:ext cx="46076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ธนากร มั่นคง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971907" y="5102820"/>
            <a:ext cx="5596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9,000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48400" y="5394920"/>
            <a:ext cx="51308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248400" y="5464770"/>
            <a:ext cx="406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604000" y="5452070"/>
            <a:ext cx="46076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สมชาย ใจดี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971907" y="5464770"/>
            <a:ext cx="5596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7,200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การทดสอบระดับซับซ้อน (Complex) ส่วนที่ 3/3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788120"/>
            <a:ext cx="374848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C5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36848" y="1813520"/>
            <a:ext cx="24353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Transaction (BEGIN … COMMIT)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493393" y="1800820"/>
            <a:ext cx="232904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บันทึกการคืนรถของรายการเช่าที่ 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232620"/>
            <a:ext cx="5397798" cy="2387600"/>
          </a:xfrm>
          <a:prstGeom prst="roundRect">
            <a:avLst>
              <a:gd name="adj" fmla="val 1426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50" y="23786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BEGIN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96950" y="25691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UPDATE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rental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'Completed'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96950" y="27596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actual_return_date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'2026-10-12 08:45'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96950" y="29501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rental_id = 6;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96950" y="31406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INTO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payment (booking_id, rental_id,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6950" y="33311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amount, payment_method, payment_type)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6950" y="35216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VALUES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(6, 6, 5400,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'Credit Card'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'Rental Fee'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);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96950" y="37121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UPDATE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'Completed'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96950" y="39026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booking_id = 6;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96950" y="40931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UPDATE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'Available'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car_id = 4;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96950" y="42836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COMMIT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15398" y="2232620"/>
            <a:ext cx="525290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ผลลัพธ์ ทุกคำสั่งสำเร็จ และ COMMIT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15398" y="2562820"/>
            <a:ext cx="4863802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5398" y="2658070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696498" y="2658070"/>
            <a:ext cx="1358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Active</a:t>
            </a:r>
            <a:endParaRPr lang="en-US" sz="12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4598" y="2696170"/>
            <a:ext cx="177800" cy="12700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9283998" y="2658070"/>
            <a:ext cx="925612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Completed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15398" y="2950170"/>
            <a:ext cx="4863802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515398" y="3070820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696498" y="3045420"/>
            <a:ext cx="13589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ค้างชำระ 5,400</a:t>
            </a:r>
            <a:endParaRPr lang="en-US" sz="120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4598" y="3108920"/>
            <a:ext cx="177800" cy="12700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9283998" y="3045420"/>
            <a:ext cx="73947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ชำระครบ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515398" y="3388320"/>
            <a:ext cx="4863802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15398" y="3483570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7696498" y="3483570"/>
            <a:ext cx="1358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Confirmed</a:t>
            </a:r>
            <a:endParaRPr lang="en-US" sz="120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4598" y="3521670"/>
            <a:ext cx="177800" cy="127000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9283998" y="3483570"/>
            <a:ext cx="925612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Completed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6515398" y="3775670"/>
            <a:ext cx="4863802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515398" y="3870920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 (CR-V)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7696498" y="3870920"/>
            <a:ext cx="1358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Rented</a:t>
            </a:r>
            <a:endParaRPr lang="en-US" sz="120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4598" y="3909020"/>
            <a:ext cx="177800" cy="1270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9283998" y="3870920"/>
            <a:ext cx="80764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Available</a:t>
            </a:r>
            <a:endParaRPr lang="en-US" sz="1200" dirty="0"/>
          </a:p>
        </p:txBody>
      </p:sp>
      <p:sp>
        <p:nvSpPr>
          <p:cNvPr id="40" name="Text 34"/>
          <p:cNvSpPr txBox="1"/>
          <p:nvPr/>
        </p:nvSpPr>
        <p:spPr>
          <a:xfrm>
            <a:off x="6515398" y="4239220"/>
            <a:ext cx="5058354" cy="44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หากคำสั่งใดล้มเหลว ระบบจะยกเลิกทั้งหมด (ROLLBACK) ข้อมูล 4 ตารางจึงสอดคล้องกันเสมอ ตามหลัก ACID</a:t>
            </a:r>
            <a:endParaRPr lang="en-US" sz="1200" dirty="0"/>
          </a:p>
        </p:txBody>
      </p:sp>
      <p:sp>
        <p:nvSpPr>
          <p:cNvPr id="41" name="Text 35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ทดสอบความถูกต้องของข้อมูล (Constraint Test)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15120"/>
            <a:ext cx="5130800" cy="3183434"/>
          </a:xfrm>
          <a:prstGeom prst="roundRect">
            <a:avLst>
              <a:gd name="adj" fmla="val 917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750" y="2150070"/>
            <a:ext cx="5033772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C6</a:t>
            </a:r>
            <a:pPr algn="l" indent="0" marL="0">
              <a:lnSpc>
                <a:spcPct val="111000"/>
              </a:lnSpc>
              <a:buNone/>
            </a:pPr>
            <a:r>
              <a:rPr lang="en-US" sz="18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 กฎ BR2 ห้ามจองซ้อน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47750" y="2651720"/>
            <a:ext cx="5033772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จองรถ Camry วันที่ 21–24 ต.ค. ซึ่งทับซ้อนกับการจองที่ 7 (20–23 ต.ค.)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47750" y="2992041"/>
            <a:ext cx="4660900" cy="848122"/>
          </a:xfrm>
          <a:prstGeom prst="roundRect">
            <a:avLst>
              <a:gd name="adj" fmla="val 9687"/>
            </a:avLst>
          </a:prstGeom>
          <a:solidFill>
            <a:srgbClr val="EEF1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00150" y="3119041"/>
            <a:ext cx="4704588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INTO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(customer_id,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00150" y="3317081"/>
            <a:ext cx="4704588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car_id, start_date, end_date)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00150" y="3515122"/>
            <a:ext cx="4704588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VALUES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(3, 1,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'2026-10-21'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'2026-10-24'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);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47750" y="3967163"/>
            <a:ext cx="4660900" cy="690761"/>
          </a:xfrm>
          <a:prstGeom prst="roundRect">
            <a:avLst>
              <a:gd name="adj" fmla="val 14603"/>
            </a:avLst>
          </a:prstGeom>
          <a:ln w="12700">
            <a:solidFill>
              <a:srgbClr val="B91C1C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2850" y="4106863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43050" y="4106863"/>
            <a:ext cx="416052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ERROR: conflicting key value violates exclusion constraint "no_overlap"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48400" y="1915120"/>
            <a:ext cx="5130800" cy="3183434"/>
          </a:xfrm>
          <a:prstGeom prst="roundRect">
            <a:avLst>
              <a:gd name="adj" fmla="val 917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83350" y="2150070"/>
            <a:ext cx="5033772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C7</a:t>
            </a:r>
            <a:pPr algn="l" indent="0" marL="0">
              <a:lnSpc>
                <a:spcPct val="111000"/>
              </a:lnSpc>
              <a:buNone/>
            </a:pPr>
            <a:r>
              <a:rPr lang="en-US" sz="18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 กฎ BR7 วันคืนต้องหลังวันรับ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483350" y="2651720"/>
            <a:ext cx="5033772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กำหนดวันคืน 1 พ.ย. ก่อนวันรับ 5 พ.ย.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483350" y="2992041"/>
            <a:ext cx="4660900" cy="848122"/>
          </a:xfrm>
          <a:prstGeom prst="roundRect">
            <a:avLst>
              <a:gd name="adj" fmla="val 9687"/>
            </a:avLst>
          </a:prstGeom>
          <a:solidFill>
            <a:srgbClr val="EEF1F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5750" y="3119041"/>
            <a:ext cx="4704588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INTO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(customer_id,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635750" y="3317081"/>
            <a:ext cx="4704588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car_id, start_date, end_date)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635750" y="3515122"/>
            <a:ext cx="4704588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VALUES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(3, 3,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'2026-11-05'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'2026-11-01'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);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483350" y="3967163"/>
            <a:ext cx="4660900" cy="896441"/>
          </a:xfrm>
          <a:prstGeom prst="roundRect">
            <a:avLst>
              <a:gd name="adj" fmla="val 8671"/>
            </a:avLst>
          </a:prstGeom>
          <a:ln w="12700">
            <a:solidFill>
              <a:srgbClr val="B91C1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450" y="4106863"/>
            <a:ext cx="228600" cy="2286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78650" y="4106863"/>
            <a:ext cx="4160520" cy="61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ERROR: new row for relation "booking" violates check constraint "chk_booking_dates"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12800" y="5403354"/>
            <a:ext cx="11411712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ผลการทดสอบ ฐานข้อมูลปฏิเสธข้อมูลที่ไม่ถูกต้องได้เอง โดยไม่ต้องพึ่งโปรแกรมประยุกต์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5 สรุปและประเมินผล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สรุปผลการดำเนินงาน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64320"/>
            <a:ext cx="631214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ประเมินผลตามวัตถุประสงค์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194520"/>
            <a:ext cx="58445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231517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68400" y="2315170"/>
            <a:ext cx="59280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เพื่อศึกษาและวิเคราะห์กระบวนการให้บริการเช่ารถยนต์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68400" y="2594570"/>
            <a:ext cx="5928098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วิเคราะห์ความต้องการ 4 ระบบย่อย กฎทางธุรกิจ 7 ข้อ และลำดับการทำงาน 5 ขั้นตอน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12800" y="2922191"/>
            <a:ext cx="58445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3042841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68400" y="3042841"/>
            <a:ext cx="59280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เพื่อออกแบบฐานข้อมูลที่จัดเก็บ สืบค้น และปรับปรุงข้อมูลได้อย่างเป็นระบบ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168400" y="3322241"/>
            <a:ext cx="5928098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ได้ 6 ตารางในรูปแบบ 3NF พร้อม ERD และพจนานุกรมข้อมูล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12800" y="3649861"/>
            <a:ext cx="58445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770511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68400" y="3770511"/>
            <a:ext cx="59280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เพื่อลดความซ้ำซ้อนและความคลาดเคลื่อนของข้อมูล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1168400" y="4049911"/>
            <a:ext cx="5928098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บังคับความถูกต้องด้วย 30 constraints และป้องกันการจองซ้อนในระดับฐานข้อมูล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063780" y="1864320"/>
            <a:ext cx="4315420" cy="3293070"/>
          </a:xfrm>
          <a:prstGeom prst="roundRect">
            <a:avLst>
              <a:gd name="adj" fmla="val 857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273330" y="2073870"/>
            <a:ext cx="42080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ผลการทดสอบ SQL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7273330" y="2467570"/>
            <a:ext cx="85467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ง่าย (Easy)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10605988" y="2467570"/>
            <a:ext cx="71606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ผ่าน 6/6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273330" y="2772370"/>
            <a:ext cx="2667000" cy="127000"/>
          </a:xfrm>
          <a:prstGeom prst="roundRect">
            <a:avLst>
              <a:gd name="adj" fmla="val 144000"/>
            </a:avLst>
          </a:prstGeom>
          <a:solidFill>
            <a:srgbClr val="15803D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7273330" y="3039070"/>
            <a:ext cx="14402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ปานกลาง (Medium)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10605988" y="3039070"/>
            <a:ext cx="71606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ผ่าน 6/6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273330" y="3343870"/>
            <a:ext cx="2667000" cy="127000"/>
          </a:xfrm>
          <a:prstGeom prst="roundRect">
            <a:avLst>
              <a:gd name="adj" fmla="val 144000"/>
            </a:avLst>
          </a:prstGeom>
          <a:solidFill>
            <a:srgbClr val="15803D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7273330" y="3610570"/>
            <a:ext cx="134758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ซับซ้อน (Complex)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10605988" y="3610570"/>
            <a:ext cx="71606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ผ่าน 7/7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7273330" y="3915370"/>
            <a:ext cx="3111500" cy="127000"/>
          </a:xfrm>
          <a:prstGeom prst="roundRect">
            <a:avLst>
              <a:gd name="adj" fmla="val 144000"/>
            </a:avLst>
          </a:prstGeom>
          <a:solidFill>
            <a:srgbClr val="15803D"/>
          </a:solidFill>
          <a:ln/>
        </p:spPr>
      </p:sp>
      <p:sp>
        <p:nvSpPr>
          <p:cNvPr id="28" name="Shape 23"/>
          <p:cNvSpPr/>
          <p:nvPr/>
        </p:nvSpPr>
        <p:spPr>
          <a:xfrm>
            <a:off x="7273330" y="4182070"/>
            <a:ext cx="389632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273330" y="4302720"/>
            <a:ext cx="1356519" cy="391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280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19</a:t>
            </a:r>
            <a:endParaRPr lang="en-US" sz="2800" dirty="0"/>
          </a:p>
        </p:txBody>
      </p:sp>
      <p:sp>
        <p:nvSpPr>
          <p:cNvPr id="30" name="Text 25"/>
          <p:cNvSpPr txBox="1"/>
          <p:nvPr/>
        </p:nvSpPr>
        <p:spPr>
          <a:xfrm>
            <a:off x="7273330" y="4693841"/>
            <a:ext cx="135651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คำสั่งให้ผลตามคาด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8731448" y="4302720"/>
            <a:ext cx="1269702" cy="391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28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2</a:t>
            </a:r>
            <a:endParaRPr lang="en-US" sz="2800" dirty="0"/>
          </a:p>
        </p:txBody>
      </p:sp>
      <p:sp>
        <p:nvSpPr>
          <p:cNvPr id="32" name="Text 27"/>
          <p:cNvSpPr txBox="1"/>
          <p:nvPr/>
        </p:nvSpPr>
        <p:spPr>
          <a:xfrm>
            <a:off x="8731448" y="4693841"/>
            <a:ext cx="126970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กรณีผิดถูกปฏิเสธ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C2410C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บทที่ 5 สรุปและประเมินผล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ข้อจำกัดและแนวทางพัฒนาต่อ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924645"/>
            <a:ext cx="254000" cy="254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68400" y="1864320"/>
            <a:ext cx="952103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ข้อจำกัด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12800" y="2340570"/>
            <a:ext cx="5080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12800" y="2435820"/>
            <a:ext cx="5486400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ยังไม่มีส่วนติดต่อผู้ใช้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2800" y="2721570"/>
            <a:ext cx="54864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ทดสอบผ่าน SQL โดยตรง ยังไม่มีหน้าเว็บสำหรับลูกค้า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12800" y="3023791"/>
            <a:ext cx="5080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12800" y="3119041"/>
            <a:ext cx="5486400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ข้อมูลใบขับขี่ยังไม่เข้ารหัส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12800" y="3404791"/>
            <a:ext cx="528320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license_no จัดเก็บเป็นข้อความธรรมดา ยังไม่ตรงตามความต้องการด้านความปลอดภัย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2800" y="3920331"/>
            <a:ext cx="5080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2800" y="4015581"/>
            <a:ext cx="5486400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กฎ BR6 ยังตรวจสอบในแอปพลิเคชัน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12800" y="4301331"/>
            <a:ext cx="54864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ฐานข้อมูลยังไม่ปฏิเสธการจองรถที่มีสถานะ Maintenance โดยอัตโนมัติ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12800" y="4603552"/>
            <a:ext cx="5080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12800" y="4698802"/>
            <a:ext cx="5486400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ค่าเช่ารวมยังบันทึกด้วยตนเอง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12800" y="4984552"/>
            <a:ext cx="54864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total_amount ยังไม่คำนวณจากจำนวนวันและค่าเช่าต่อวันโดยอัตโนมัติ</a:t>
            </a:r>
            <a:endParaRPr lang="en-US" sz="12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9200" y="1924645"/>
            <a:ext cx="254000" cy="2540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654800" y="1864320"/>
            <a:ext cx="1860352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แนวทางพัฒนาต่อ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6299200" y="2340570"/>
            <a:ext cx="5080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299200" y="2435820"/>
            <a:ext cx="5486400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พัฒนาเว็บแอปพลิเคชัน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6299200" y="2721570"/>
            <a:ext cx="54864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ส่วนหน้า React เชื่อมต่อ Supabase ผ่าน RESTful API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99200" y="3023791"/>
            <a:ext cx="5080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299200" y="3119041"/>
            <a:ext cx="5486400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เข้ารหัสข้อมูลส่วนบุคคล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6299200" y="3404791"/>
            <a:ext cx="54864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ใช้ส่วนขยาย pgcrypto และกำหนด Row Level Security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299200" y="3707011"/>
            <a:ext cx="5080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299200" y="3802261"/>
            <a:ext cx="5486400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ใช้ Trigger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6299200" y="4088011"/>
            <a:ext cx="54864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ตรวจสอบกฎ BR6 คำนวณค่าเช่ารวม และปรับสถานะรถอัตโนมัติ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6299200" y="4390231"/>
            <a:ext cx="5080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6299200" y="4485481"/>
            <a:ext cx="5486400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รายงานสำหรับผู้บริหาร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6299200" y="4771231"/>
            <a:ext cx="54864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สร้าง View สรุปรายได้รายเดือนและอัตราการใช้รถ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6000" y="0"/>
            <a:ext cx="3556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1270000"/>
            <a:ext cx="25400" cy="81022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347200" y="1295400"/>
            <a:ext cx="2523744" cy="480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6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9347200" y="1800820"/>
            <a:ext cx="252374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ตารางในรูปแบบ 3NF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9144000" y="2359620"/>
            <a:ext cx="25400" cy="75942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347200" y="2385020"/>
            <a:ext cx="2523744" cy="480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30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9347200" y="2890441"/>
            <a:ext cx="252374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Constraints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144000" y="3398441"/>
            <a:ext cx="25400" cy="81022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347200" y="3423841"/>
            <a:ext cx="2523744" cy="480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19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9347200" y="3929261"/>
            <a:ext cx="252374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คำสั่งทดสอบ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144000" y="4488061"/>
            <a:ext cx="25400" cy="81022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347200" y="4513461"/>
            <a:ext cx="2523744" cy="480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7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9347200" y="5018881"/>
            <a:ext cx="252374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กฎทางธุรกิจ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12800" y="1357610"/>
            <a:ext cx="768096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F4A261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ระบบเช่ารถยนต์ออนไลน์ (Online Car Rental System)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12800" y="1687810"/>
            <a:ext cx="7680960" cy="726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5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ขอบคุณครับ</a:t>
            </a:r>
            <a:endParaRPr lang="en-US" sz="5200" dirty="0"/>
          </a:p>
        </p:txBody>
      </p:sp>
      <p:sp>
        <p:nvSpPr>
          <p:cNvPr id="17" name="Text 14"/>
          <p:cNvSpPr txBox="1"/>
          <p:nvPr/>
        </p:nvSpPr>
        <p:spPr>
          <a:xfrm>
            <a:off x="812800" y="2490391"/>
            <a:ext cx="768096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2000" dirty="0">
                <a:solidFill>
                  <a:srgbClr val="F4A261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ถาม–ตอบ (Q&amp;A)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12800" y="3163491"/>
            <a:ext cx="80924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spc="50" kern="0" dirty="0">
                <a:solidFill>
                  <a:srgbClr val="F4A261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จัดทำโดย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2800" y="3493691"/>
            <a:ext cx="7493000" cy="6350"/>
          </a:xfrm>
          <a:prstGeom prst="rect">
            <a:avLst/>
          </a:prstGeom>
          <a:solidFill>
            <a:srgbClr val="3E50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12800" y="3601641"/>
            <a:ext cx="27432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นายสิทธิพันธุ์ ฮงเจริญ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505200" y="3639741"/>
            <a:ext cx="977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4A26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68070182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483100" y="3627041"/>
            <a:ext cx="412851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บทนำ ทฤษฎี ความต้องการ และซอฟต์แวร์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2800" y="3995341"/>
            <a:ext cx="7493000" cy="6350"/>
          </a:xfrm>
          <a:prstGeom prst="rect">
            <a:avLst/>
          </a:prstGeom>
          <a:solidFill>
            <a:srgbClr val="3E507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12800" y="4103291"/>
            <a:ext cx="27432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นายจิราธิวัชร ทะวิลา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505200" y="4141391"/>
            <a:ext cx="977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4A26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68070228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483100" y="4128691"/>
            <a:ext cx="412851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ลำดับการทำงาน กฎทางธุรกิจ และ ERD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2800" y="4496991"/>
            <a:ext cx="7493000" cy="6350"/>
          </a:xfrm>
          <a:prstGeom prst="rect">
            <a:avLst/>
          </a:prstGeom>
          <a:solidFill>
            <a:srgbClr val="3E50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12800" y="4604941"/>
            <a:ext cx="27432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นายภรัมพรหม เหลืองภุมรัตน์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505200" y="4643041"/>
            <a:ext cx="977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4A26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68070229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483100" y="4630341"/>
            <a:ext cx="412851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Normalization พจนานุกรมข้อมูล DDL และข้อมูลตัวอย่าง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812800" y="4998641"/>
            <a:ext cx="7493000" cy="6350"/>
          </a:xfrm>
          <a:prstGeom prst="rect">
            <a:avLst/>
          </a:prstGeom>
          <a:solidFill>
            <a:srgbClr val="3E507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12800" y="5106591"/>
            <a:ext cx="27432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นายพูนพิพัฒน์ ช่างเกวียน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505200" y="5144691"/>
            <a:ext cx="977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4A26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68070329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4483100" y="5131991"/>
            <a:ext cx="412851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การทดสอบ SQL สรุปผล และถาม–ตอบ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Online Car Rental System</dc:title>
  <dc:subject>PptxGenJS Presentation</dc:subject>
  <dc:creator>PptxGenJS</dc:creator>
  <cp:lastModifiedBy>PptxGenJS</cp:lastModifiedBy>
  <cp:revision>1</cp:revision>
  <dcterms:created xsi:type="dcterms:W3CDTF">2026-10-11T16:07:40Z</dcterms:created>
  <dcterms:modified xsi:type="dcterms:W3CDTF">2026-10-11T16:07:40Z</dcterms:modified>
</cp:coreProperties>
</file>