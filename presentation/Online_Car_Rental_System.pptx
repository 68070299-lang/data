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1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บทนำ" id="{90f43157-8be3-8008-5179-fcb0de0aca95}">
          <p14:sldIdLst>
            <p14:sldId id="256"/>
            <p14:sldId id="257"/>
            <p14:sldId id="258"/>
            <p14:sldId id="259"/>
          </p14:sldIdLst>
        </p14:section>
        <p14:section name="การออกแบบ" id="{046560fb-2315-8c8c-523f-218e024e93f7}">
          <p14:sldIdLst>
            <p14:sldId id="260"/>
            <p14:sldId id="261"/>
            <p14:sldId id="262"/>
            <p14:sldId id="263"/>
            <p14:sldId id="264"/>
            <p14:sldId id="265"/>
          </p14:sldIdLst>
        </p14:section>
        <p14:section name="การสร้างและทดสอบ" id="{45f2cdb4-a24e-874b-104d-87e62c41fe6f}">
          <p14:sldIdLst>
            <p14:sldId id="266"/>
            <p14:sldId id="267"/>
            <p14:sldId id="268"/>
            <p14:sldId id="269"/>
            <p14:sldId id="270"/>
            <p14:sldId id="271"/>
          </p14:sldIdLst>
        </p14:section>
        <p14:section name="สรุป" id="{7c8d39ed-8533-3ff1-d401-400e7fdd2d52}">
          <p14:sldIdLst>
            <p14:sldId id="272"/>
            <p14:sldId id="27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94A3B8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94A3B8"/>
                </a:solidFill>
                <a:latin typeface="+mn-lt"/>
              </a:rPr>
              <a:t>ผล M2: ค่าเช่าเฉลี่ยต่อวันตามประเภท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ค่าเช่าเฉลี่ย (บาท/วัน)</c:v>
                </c:pt>
              </c:strCache>
            </c:strRef>
          </c:tx>
          <c:spPr>
            <a:solidFill>
              <a:srgbClr val="2DD4B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F1F5F9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Van</c:v>
                  </c:pt>
                  <c:pt idx="1">
                    <c:v>SUV</c:v>
                  </c:pt>
                  <c:pt idx="2">
                    <c:v>Sedan</c:v>
                  </c:pt>
                  <c:pt idx="3">
                    <c:v>Eco Car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2900</c:v>
                </c:pt>
                <c:pt idx="1">
                  <c:v>2400</c:v>
                </c:pt>
                <c:pt idx="2">
                  <c:v>1650</c:v>
                </c:pt>
                <c:pt idx="3">
                  <c:v>925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F1F5F9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F1F5F9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สวัสดีครับ กลุ่มของเรานำเสนอโครงงาน Online Car Rental System ระบบเช่ารถยนต์ออนไลน์ วิชาแนวคิดระบบฐานข้อมูล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ปัญหาหลักของร้านเช่ารถแบบเดิมคือข้อมูลกระจัดกระจาย ซ้ำซ้อน และเสี่ยงต่อการจองรถคันเดียวกันซ้อนกัน เราจึงออกแบบฐานข้อมูลกลางเพื่อแก้ปัญหาเหล่านี้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วัตถุประสงค์มี 3 ข้อ ขอบเขตครอบคลุมผู้ใช้ 2 กลุ่ม คือลูกค้าและผู้ดูแลระบบ และฐานข้อมูล 6 ตาราง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ความต้องการแบ่งเป็น 4 ระบบย่อยด้านฟังก์ชัน และ 2 ด้านที่ไม่ใช่ฟังก์ชัน คือความปลอดภัยและความถูกต้องของข้อมูล ซึ่งเราบังคับไว้ในฐานข้อมูลโดยตรง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เราเลือก PostgreSQL เพราะข้อมูลมีความสัมพันธ์ชัดเจน และมี EXCLUDE constraint ที่ใช้กันการจองซ้อนได้ ซึ่ง MySQL ไม่มี ต้องเขียน trigger เอง ระบบออกแบบเป็น 3-Tier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ระบบมี 5 ขั้นตอนหลัก ตั้งแต่ลงทะเบียน ค้นหารถ จองและเช่า ชำระเงิน จนถึงคืนรถ แต่ละขั้นจะอ่านหรือเขียนตารางที่แสดงอยู่ด้านล่าง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กฎทางธุรกิจทั้ง 7 ข้อ เราแปลงเป็น constraint ในฐานข้อมูล ข้อสำคัญคือ BR2 ใช้ EXCLUDE constraint ป้องกันการจองซ้อน และ BR7 ใช้ CHECK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ERD มี 6 เอนทิตี BOOKING เป็นศูนย์กลาง เชื่อมกับลูกค้าและรถแบบ N:1 การจองหนึ่งครั้งกลายเป็นการเช่าได้ไม่เกิน 1 ครั้ง และมีการชำระเงินได้หลายครั้ง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เริ่มจาก 1NF ที่ข้อมูลลูกค้าปนอยู่ในตารางการจอง ขั้น 2NF แยกตารางลูกค้า ขั้น 3NF แยกประเภทรถ เพราะ TypeName ขึ้นกับ CarTypeID ไม่ใช่ CarID โดยตรง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Data Dictionary สรุปคีย์หลักและคีย์นอกของทั้ง 6 ตาราง ด้านขวาเป็นตัวอย่างรายละเอียดตาราง BOOKING ส่วนตารางอื่นอยู่ในรายงาน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ตัวอย่าง DDL ของตาราง booking ซึ่งสำคัญที่สุด มี PK FK CHECK และ EXCLUDE constraint ที่ป้องกันการจองรถคันเดียวกันในเวลาที่ทับซ้อน รวมทั้งระบบมี 30 constraints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ข้อมูลตัวอย่างออกแบบให้ครอบคลุมทุกสถานะ เพื่อให้คำสั่งทดสอบทุกข้อมีผลลัพธ์ที่มีความหมาย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ระดับง่ายเป็นคำสั่งตารางเดียว ทั้ง SELECT INSERT UPDATE DELETE ตัวอย่าง E1 หารถที่ว่างเรียงตามราคา ได้ 5 คัน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ระดับปานกลางใช้ JOIN หลายตาราง GROUP BY และ HAVING ตัวอย่าง M2 หาค่าเช่าเฉลี่ยตามประเภทรถ Van แพงที่สุด 2,900 บาทต่อวัน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ระดับซับซ้อนใช้ CTE, Window Function, NOT EXISTS กับช่วงเวลา, Subquery และ Transaction ตัวอย่าง C1 คำนวณยอดค้างชำระของแต่ละการเช่า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ทดสอบโดยตั้งใจใส่ข้อมูลผิด ฐานข้อมูลปฏิเสธทั้ง 2 กรณี: การจองซ้อนถูก EXCLUDE constraint ปฏิเสธ และวันคืนก่อนวันรับถูก CHECK ปฏิเสธ (แนะนำให้สาธิตสดใน Supabase)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สรุป เราออกแบบฐานข้อมูล 6 ตาราง ถึง 3NF รองรับกฎทางธุรกิจครบ 7 ข้อ ทดสอบผ่าน 18 คำสั่ง ข้อจำกัดคือยังไม่มีหน้าเว็บจริง แนวทางต่อไปคือพัฒนา Web App บน Supabase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ขอบคุณครับ ยินดีตอบคำถาม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  <a:latin typeface="Kanit" pitchFamily="34" charset="0"/>
                <a:ea typeface="Kanit" pitchFamily="34" charset="-122"/>
                <a:cs typeface="Kanit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Online Car Rental System  |  06066300 แนวคิดระบบฐานข้อมูล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image" Target="../media/image-5-8.png"/><Relationship Id="rId9" Type="http://schemas.openxmlformats.org/officeDocument/2006/relationships/image" Target="../media/image-5-9.png"/><Relationship Id="rId10" Type="http://schemas.openxmlformats.org/officeDocument/2006/relationships/image" Target="../media/image-5-10.png"/><Relationship Id="rId11" Type="http://schemas.openxmlformats.org/officeDocument/2006/relationships/slideLayout" Target="../slideLayouts/slideLayout3.xml"/><Relationship Id="rId1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6-8.png"/><Relationship Id="rId9" Type="http://schemas.openxmlformats.org/officeDocument/2006/relationships/image" Target="../media/image-6-9.png"/><Relationship Id="rId10" Type="http://schemas.openxmlformats.org/officeDocument/2006/relationships/slideLayout" Target="../slideLayouts/slideLayout3.xml"/><Relationship Id="rId11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00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06066300 แนวคิดระบบฐานข้อมูล  ·  คณะเทคโนโลยีสารสนเทศ สจล.</a:t>
            </a:r>
            <a:endParaRPr lang="en-US" sz="14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1188720"/>
            <a:ext cx="69494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chemeClr val="bg1"/>
                </a:solidFill>
                <a:latin typeface="Kanit" pitchFamily="34" charset="0"/>
                <a:ea typeface="Kanit" pitchFamily="34" charset="-122"/>
                <a:cs typeface="Kanit" pitchFamily="34" charset="-120"/>
              </a:rPr>
              <a:t>Online Car</a:t>
            </a:r>
            <a:endParaRPr lang="en-US" sz="5400" dirty="0"/>
          </a:p>
          <a:p>
            <a:pPr indent="0" marL="0">
              <a:buNone/>
            </a:pPr>
            <a:r>
              <a:rPr lang="en-US" sz="5400" b="1" dirty="0">
                <a:solidFill>
                  <a:schemeClr val="bg1"/>
                </a:solidFill>
                <a:latin typeface="Kanit" pitchFamily="34" charset="0"/>
                <a:ea typeface="Kanit" pitchFamily="34" charset="-122"/>
                <a:cs typeface="Kanit" pitchFamily="34" charset="-120"/>
              </a:rPr>
              <a:t>Rental System</a:t>
            </a:r>
            <a:endParaRPr lang="en-US" sz="5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154680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2"/>
                </a:solidFill>
                <a:latin typeface="Kanit" pitchFamily="34" charset="0"/>
                <a:ea typeface="Kanit" pitchFamily="34" charset="-122"/>
                <a:cs typeface="Kanit" pitchFamily="34" charset="-120"/>
              </a:rPr>
              <a:t>ระบบเช่ารถยนต์ออนไลน์</a:t>
            </a:r>
            <a:endParaRPr lang="en-US" sz="2800" dirty="0"/>
          </a:p>
        </p:txBody>
      </p:sp>
      <p:sp>
        <p:nvSpPr>
          <p:cNvPr id="5" name="member card"/>
          <p:cNvSpPr/>
          <p:nvPr/>
        </p:nvSpPr>
        <p:spPr>
          <a:xfrm>
            <a:off x="548640" y="4069080"/>
            <a:ext cx="3291840" cy="640080"/>
          </a:xfrm>
          <a:prstGeom prst="roundRect">
            <a:avLst>
              <a:gd name="adj" fmla="val 17143"/>
            </a:avLst>
          </a:prstGeom>
          <a:solidFill>
            <a:schemeClr val="tx2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6" name="member"/>
          <p:cNvSpPr txBox="1"/>
          <p:nvPr/>
        </p:nvSpPr>
        <p:spPr>
          <a:xfrm>
            <a:off x="731520" y="4142232"/>
            <a:ext cx="2926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สิทธิพันธุ์ ฮงเจริญ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68070182</a:t>
            </a:r>
            <a:endParaRPr lang="en-US" sz="1400" dirty="0"/>
          </a:p>
        </p:txBody>
      </p:sp>
      <p:sp>
        <p:nvSpPr>
          <p:cNvPr id="7" name="member card"/>
          <p:cNvSpPr/>
          <p:nvPr/>
        </p:nvSpPr>
        <p:spPr>
          <a:xfrm>
            <a:off x="4023360" y="4069080"/>
            <a:ext cx="3291840" cy="640080"/>
          </a:xfrm>
          <a:prstGeom prst="roundRect">
            <a:avLst>
              <a:gd name="adj" fmla="val 17143"/>
            </a:avLst>
          </a:prstGeom>
          <a:solidFill>
            <a:schemeClr val="tx2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8" name="member"/>
          <p:cNvSpPr txBox="1"/>
          <p:nvPr/>
        </p:nvSpPr>
        <p:spPr>
          <a:xfrm>
            <a:off x="4206240" y="4142232"/>
            <a:ext cx="2926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จิราธิวัชร ทะวิลา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68070228</a:t>
            </a:r>
            <a:endParaRPr lang="en-US" sz="1400" dirty="0"/>
          </a:p>
        </p:txBody>
      </p:sp>
      <p:sp>
        <p:nvSpPr>
          <p:cNvPr id="9" name="member card"/>
          <p:cNvSpPr/>
          <p:nvPr/>
        </p:nvSpPr>
        <p:spPr>
          <a:xfrm>
            <a:off x="548640" y="4846320"/>
            <a:ext cx="3291840" cy="640080"/>
          </a:xfrm>
          <a:prstGeom prst="roundRect">
            <a:avLst>
              <a:gd name="adj" fmla="val 17143"/>
            </a:avLst>
          </a:prstGeom>
          <a:solidFill>
            <a:schemeClr val="tx2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10" name="member"/>
          <p:cNvSpPr txBox="1"/>
          <p:nvPr/>
        </p:nvSpPr>
        <p:spPr>
          <a:xfrm>
            <a:off x="731520" y="4919472"/>
            <a:ext cx="2926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ภรัมพรหม เหลืองภุมรัตน์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68070229</a:t>
            </a:r>
            <a:endParaRPr lang="en-US" sz="1400" dirty="0"/>
          </a:p>
        </p:txBody>
      </p:sp>
      <p:sp>
        <p:nvSpPr>
          <p:cNvPr id="11" name="member card"/>
          <p:cNvSpPr/>
          <p:nvPr/>
        </p:nvSpPr>
        <p:spPr>
          <a:xfrm>
            <a:off x="4023360" y="4846320"/>
            <a:ext cx="3291840" cy="640080"/>
          </a:xfrm>
          <a:prstGeom prst="roundRect">
            <a:avLst>
              <a:gd name="adj" fmla="val 17143"/>
            </a:avLst>
          </a:prstGeom>
          <a:solidFill>
            <a:schemeClr val="tx2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12" name="member"/>
          <p:cNvSpPr txBox="1"/>
          <p:nvPr/>
        </p:nvSpPr>
        <p:spPr>
          <a:xfrm>
            <a:off x="4206240" y="4919472"/>
            <a:ext cx="2926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พูนพิพัฒน์ ช่างเกวียน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68070329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5806440"/>
            <a:ext cx="6949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อาจารย์ผู้สอน  ผศ.ดร.พัฒนพงษ์ ฉันทมิตรโอภาส</a:t>
            </a:r>
            <a:endParaRPr lang="en-US" sz="1400" dirty="0"/>
          </a:p>
        </p:txBody>
      </p:sp>
      <p:sp>
        <p:nvSpPr>
          <p:cNvPr id="14" name="hero ring"/>
          <p:cNvSpPr/>
          <p:nvPr/>
        </p:nvSpPr>
        <p:spPr>
          <a:xfrm>
            <a:off x="7818120" y="1234440"/>
            <a:ext cx="3749040" cy="3749040"/>
          </a:xfrm>
          <a:prstGeom prst="ellipse">
            <a:avLst/>
          </a:prstGeom>
          <a:solidFill>
            <a:schemeClr val="tx2"/>
          </a:solidFill>
          <a:ln w="25400">
            <a:solidFill>
              <a:schemeClr val="accent1"/>
            </a:solidFill>
            <a:prstDash val="solid"/>
          </a:ln>
        </p:spPr>
      </p:sp>
      <p:pic>
        <p:nvPicPr>
          <p:cNvPr id="15" name="hero car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49640" y="2057400"/>
            <a:ext cx="2286000" cy="2286000"/>
          </a:xfrm>
          <a:prstGeom prst="rect">
            <a:avLst/>
          </a:prstGeom>
        </p:spPr>
      </p:pic>
      <p:sp>
        <p:nvSpPr>
          <p:cNvPr id="16" name="hero database circle"/>
          <p:cNvSpPr/>
          <p:nvPr/>
        </p:nvSpPr>
        <p:spPr>
          <a:xfrm>
            <a:off x="10469880" y="3886200"/>
            <a:ext cx="1005840" cy="100584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7" name="hero databas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91165" y="4107485"/>
            <a:ext cx="563270" cy="56327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Kanit" pitchFamily="34" charset="0"/>
                <a:ea typeface="Kanit" pitchFamily="34" charset="-122"/>
                <a:cs typeface="Kanit" pitchFamily="34" charset="-120"/>
              </a:rPr>
              <a:t>ที่มาและความสำคัญของปัญหา</a:t>
            </a:r>
            <a:endParaRPr lang="en-US" sz="3000" dirty="0"/>
          </a:p>
        </p:txBody>
      </p:sp>
      <p:sp>
        <p:nvSpPr>
          <p:cNvPr id="3" name="problem card"/>
          <p:cNvSpPr/>
          <p:nvPr/>
        </p:nvSpPr>
        <p:spPr>
          <a:xfrm>
            <a:off x="548640" y="1371600"/>
            <a:ext cx="2606040" cy="2880360"/>
          </a:xfrm>
          <a:prstGeom prst="roundRect">
            <a:avLst>
              <a:gd name="adj" fmla="val 4211"/>
            </a:avLst>
          </a:prstGeom>
          <a:solidFill>
            <a:schemeClr val="tx2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4" name="problem icon circle"/>
          <p:cNvSpPr/>
          <p:nvPr/>
        </p:nvSpPr>
        <p:spPr>
          <a:xfrm>
            <a:off x="822960" y="1691640"/>
            <a:ext cx="822960" cy="82296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5" name="problem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4011" y="1872691"/>
            <a:ext cx="460858" cy="46085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22960" y="269748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Kanit" pitchFamily="34" charset="0"/>
                <a:ea typeface="Kanit" pitchFamily="34" charset="-122"/>
                <a:cs typeface="Kanit" pitchFamily="34" charset="-120"/>
              </a:rPr>
              <a:t>จดบันทึกกระดาษ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200400"/>
            <a:ext cx="2103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ข้อมูลกระจายหลายแหล่ง ไม่เชื่อมโยงกัน ค้นหาช้า</a:t>
            </a:r>
            <a:endParaRPr lang="en-US" sz="1600" dirty="0"/>
          </a:p>
        </p:txBody>
      </p:sp>
      <p:sp>
        <p:nvSpPr>
          <p:cNvPr id="8" name="problem card"/>
          <p:cNvSpPr/>
          <p:nvPr/>
        </p:nvSpPr>
        <p:spPr>
          <a:xfrm>
            <a:off x="3364992" y="1371600"/>
            <a:ext cx="2606040" cy="2880360"/>
          </a:xfrm>
          <a:prstGeom prst="roundRect">
            <a:avLst>
              <a:gd name="adj" fmla="val 4211"/>
            </a:avLst>
          </a:prstGeom>
          <a:solidFill>
            <a:schemeClr val="tx2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9" name="problem icon circle"/>
          <p:cNvSpPr/>
          <p:nvPr/>
        </p:nvSpPr>
        <p:spPr>
          <a:xfrm>
            <a:off x="3639312" y="1691640"/>
            <a:ext cx="822960" cy="82296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10" name="problem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20363" y="1872691"/>
            <a:ext cx="460858" cy="460858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639312" y="269748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Kanit" pitchFamily="34" charset="0"/>
                <a:ea typeface="Kanit" pitchFamily="34" charset="-122"/>
                <a:cs typeface="Kanit" pitchFamily="34" charset="-120"/>
              </a:rPr>
              <a:t>ข้อมูลซ้ำซ้อน</a:t>
            </a:r>
            <a:endParaRPr lang="en-US" sz="2000" dirty="0"/>
          </a:p>
        </p:txBody>
      </p:sp>
      <p:sp>
        <p:nvSpPr>
          <p:cNvPr id="12" name="Text 8"/>
          <p:cNvSpPr txBox="1"/>
          <p:nvPr/>
        </p:nvSpPr>
        <p:spPr>
          <a:xfrm>
            <a:off x="3639312" y="3200400"/>
            <a:ext cx="2103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ลูกค้า รถ ราคา สถานะ บันทึกซ้ำและคลาดเคลื่อน</a:t>
            </a:r>
            <a:endParaRPr lang="en-US" sz="1600" dirty="0"/>
          </a:p>
        </p:txBody>
      </p:sp>
      <p:sp>
        <p:nvSpPr>
          <p:cNvPr id="13" name="problem card"/>
          <p:cNvSpPr/>
          <p:nvPr/>
        </p:nvSpPr>
        <p:spPr>
          <a:xfrm>
            <a:off x="6181344" y="1371600"/>
            <a:ext cx="2606040" cy="2880360"/>
          </a:xfrm>
          <a:prstGeom prst="roundRect">
            <a:avLst>
              <a:gd name="adj" fmla="val 4211"/>
            </a:avLst>
          </a:prstGeom>
          <a:solidFill>
            <a:schemeClr val="tx2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14" name="problem icon circle"/>
          <p:cNvSpPr/>
          <p:nvPr/>
        </p:nvSpPr>
        <p:spPr>
          <a:xfrm>
            <a:off x="6455664" y="1691640"/>
            <a:ext cx="822960" cy="82296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15" name="problem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36715" y="1872691"/>
            <a:ext cx="460858" cy="46085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455664" y="269748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Kanit" pitchFamily="34" charset="0"/>
                <a:ea typeface="Kanit" pitchFamily="34" charset="-122"/>
                <a:cs typeface="Kanit" pitchFamily="34" charset="-120"/>
              </a:rPr>
              <a:t>จองซ้อน</a:t>
            </a:r>
            <a:endParaRPr lang="en-US" sz="2000" dirty="0"/>
          </a:p>
        </p:txBody>
      </p:sp>
      <p:sp>
        <p:nvSpPr>
          <p:cNvPr id="17" name="Text 12"/>
          <p:cNvSpPr txBox="1"/>
          <p:nvPr/>
        </p:nvSpPr>
        <p:spPr>
          <a:xfrm>
            <a:off x="6455664" y="3200400"/>
            <a:ext cx="2103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รถคันเดียวถูกจองในช่วงเวลาทับซ้อน (Double Booking)</a:t>
            </a:r>
            <a:endParaRPr lang="en-US" sz="1600" dirty="0"/>
          </a:p>
        </p:txBody>
      </p:sp>
      <p:sp>
        <p:nvSpPr>
          <p:cNvPr id="18" name="problem card"/>
          <p:cNvSpPr/>
          <p:nvPr/>
        </p:nvSpPr>
        <p:spPr>
          <a:xfrm>
            <a:off x="8997696" y="1371600"/>
            <a:ext cx="2606040" cy="2880360"/>
          </a:xfrm>
          <a:prstGeom prst="roundRect">
            <a:avLst>
              <a:gd name="adj" fmla="val 4211"/>
            </a:avLst>
          </a:prstGeom>
          <a:solidFill>
            <a:schemeClr val="tx2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19" name="problem icon circle"/>
          <p:cNvSpPr/>
          <p:nvPr/>
        </p:nvSpPr>
        <p:spPr>
          <a:xfrm>
            <a:off x="9272016" y="1691640"/>
            <a:ext cx="822960" cy="82296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20" name="problem 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53067" y="1872691"/>
            <a:ext cx="460858" cy="460858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9272016" y="269748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Kanit" pitchFamily="34" charset="0"/>
                <a:ea typeface="Kanit" pitchFamily="34" charset="-122"/>
                <a:cs typeface="Kanit" pitchFamily="34" charset="-120"/>
              </a:rPr>
              <a:t>ต้องโทรถาม</a:t>
            </a:r>
            <a:endParaRPr lang="en-US" sz="2000" dirty="0"/>
          </a:p>
        </p:txBody>
      </p:sp>
      <p:sp>
        <p:nvSpPr>
          <p:cNvPr id="22" name="Text 16"/>
          <p:cNvSpPr txBox="1"/>
          <p:nvPr/>
        </p:nvSpPr>
        <p:spPr>
          <a:xfrm>
            <a:off x="9272016" y="3200400"/>
            <a:ext cx="2103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ลูกค้าตรวจสอบสถานะรถเองไม่ได้ เพิ่มภาระพนักงาน</a:t>
            </a:r>
            <a:endParaRPr lang="en-US" sz="1600" dirty="0"/>
          </a:p>
        </p:txBody>
      </p:sp>
      <p:sp>
        <p:nvSpPr>
          <p:cNvPr id="23" name="solution banner"/>
          <p:cNvSpPr/>
          <p:nvPr/>
        </p:nvSpPr>
        <p:spPr>
          <a:xfrm>
            <a:off x="548640" y="4526280"/>
            <a:ext cx="11094415" cy="1097280"/>
          </a:xfrm>
          <a:prstGeom prst="roundRect">
            <a:avLst>
              <a:gd name="adj" fmla="val 10000"/>
            </a:avLst>
          </a:prstGeom>
          <a:solidFill>
            <a:schemeClr val="accent4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24" name="solution icon circle"/>
          <p:cNvSpPr/>
          <p:nvPr/>
        </p:nvSpPr>
        <p:spPr>
          <a:xfrm>
            <a:off x="822960" y="470916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5" name="solution 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3894" y="4870094"/>
            <a:ext cx="409651" cy="409651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1783080" y="4617720"/>
            <a:ext cx="9509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ทางออก  </a:t>
            </a:r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ฐานข้อมูลกลางที่รวมลูกค้า รถ การจอง การเช่า และการชำระเงินไว้ในระบบเดียว ตรวจสถานะได้ทันที และป้องกันการจองซ้อนอัตโนมัติ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Kanit" pitchFamily="34" charset="0"/>
                <a:ea typeface="Kanit" pitchFamily="34" charset="-122"/>
                <a:cs typeface="Kanit" pitchFamily="34" charset="-120"/>
              </a:rPr>
              <a:t>วัตถุประสงค์และขอบเขต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5303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2"/>
                </a:solidFill>
                <a:latin typeface="Kanit" pitchFamily="34" charset="0"/>
                <a:ea typeface="Kanit" pitchFamily="34" charset="-122"/>
                <a:cs typeface="Kanit" pitchFamily="34" charset="-120"/>
              </a:rPr>
              <a:t>วัตถุประสงค์</a:t>
            </a:r>
            <a:endParaRPr lang="en-US" sz="2000" dirty="0"/>
          </a:p>
        </p:txBody>
      </p:sp>
      <p:sp>
        <p:nvSpPr>
          <p:cNvPr id="4" name="objective card"/>
          <p:cNvSpPr/>
          <p:nvPr/>
        </p:nvSpPr>
        <p:spPr>
          <a:xfrm>
            <a:off x="548640" y="1874520"/>
            <a:ext cx="5394960" cy="1188720"/>
          </a:xfrm>
          <a:prstGeom prst="roundRect">
            <a:avLst>
              <a:gd name="adj" fmla="val 9231"/>
            </a:avLst>
          </a:prstGeom>
          <a:solidFill>
            <a:schemeClr val="tx2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2057400"/>
            <a:ext cx="731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Kanit" pitchFamily="34" charset="0"/>
                <a:ea typeface="Kanit" pitchFamily="34" charset="-122"/>
                <a:cs typeface="Kanit" pitchFamily="34" charset="-120"/>
              </a:rPr>
              <a:t>1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1554480" y="2011680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ศึกษาและวิเคราะห์กระบวนการเช่ารถ แล้วนำหลักการฐานข้อมูลมาออกแบบ</a:t>
            </a:r>
            <a:endParaRPr lang="en-US" sz="1600" dirty="0"/>
          </a:p>
        </p:txBody>
      </p:sp>
      <p:sp>
        <p:nvSpPr>
          <p:cNvPr id="7" name="objective card"/>
          <p:cNvSpPr/>
          <p:nvPr/>
        </p:nvSpPr>
        <p:spPr>
          <a:xfrm>
            <a:off x="548640" y="3246120"/>
            <a:ext cx="5394960" cy="1188720"/>
          </a:xfrm>
          <a:prstGeom prst="roundRect">
            <a:avLst>
              <a:gd name="adj" fmla="val 9231"/>
            </a:avLst>
          </a:prstGeom>
          <a:solidFill>
            <a:schemeClr val="tx2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3429000"/>
            <a:ext cx="731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Kanit" pitchFamily="34" charset="0"/>
                <a:ea typeface="Kanit" pitchFamily="34" charset="-122"/>
                <a:cs typeface="Kanit" pitchFamily="34" charset="-120"/>
              </a:rPr>
              <a:t>2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1554480" y="3383280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ออกแบบระบบให้จัดเก็บ สืบค้น ตรวจสอบ และปรับปรุงข้อมูลได้อย่างเป็นระบบ</a:t>
            </a:r>
            <a:endParaRPr lang="en-US" sz="1600" dirty="0"/>
          </a:p>
        </p:txBody>
      </p:sp>
      <p:sp>
        <p:nvSpPr>
          <p:cNvPr id="10" name="objective card"/>
          <p:cNvSpPr/>
          <p:nvPr/>
        </p:nvSpPr>
        <p:spPr>
          <a:xfrm>
            <a:off x="548640" y="4617720"/>
            <a:ext cx="5394960" cy="1188720"/>
          </a:xfrm>
          <a:prstGeom prst="roundRect">
            <a:avLst>
              <a:gd name="adj" fmla="val 9231"/>
            </a:avLst>
          </a:prstGeom>
          <a:solidFill>
            <a:schemeClr val="tx2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7240" y="4800600"/>
            <a:ext cx="731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Kanit" pitchFamily="34" charset="0"/>
                <a:ea typeface="Kanit" pitchFamily="34" charset="-122"/>
                <a:cs typeface="Kanit" pitchFamily="34" charset="-120"/>
              </a:rPr>
              <a:t>3</a:t>
            </a:r>
            <a:endParaRPr lang="en-US" sz="4000" dirty="0"/>
          </a:p>
        </p:txBody>
      </p:sp>
      <p:sp>
        <p:nvSpPr>
          <p:cNvPr id="12" name="Text 10"/>
          <p:cNvSpPr txBox="1"/>
          <p:nvPr/>
        </p:nvSpPr>
        <p:spPr>
          <a:xfrm>
            <a:off x="1554480" y="4754880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ลดความซ้ำซ้อนและความคลาดเคลื่อนในการจัดการรถ การจอง การรับและคืนรถ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0" y="1325880"/>
            <a:ext cx="5212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2"/>
                </a:solidFill>
                <a:latin typeface="Kanit" pitchFamily="34" charset="0"/>
                <a:ea typeface="Kanit" pitchFamily="34" charset="-122"/>
                <a:cs typeface="Kanit" pitchFamily="34" charset="-120"/>
              </a:rPr>
              <a:t>ขอบเขตของระบบ</a:t>
            </a:r>
            <a:endParaRPr lang="en-US" sz="2000" dirty="0"/>
          </a:p>
        </p:txBody>
      </p:sp>
      <p:sp>
        <p:nvSpPr>
          <p:cNvPr id="14" name="user card"/>
          <p:cNvSpPr/>
          <p:nvPr/>
        </p:nvSpPr>
        <p:spPr>
          <a:xfrm>
            <a:off x="6400800" y="1874520"/>
            <a:ext cx="5239512" cy="1188720"/>
          </a:xfrm>
          <a:prstGeom prst="roundRect">
            <a:avLst>
              <a:gd name="adj" fmla="val 9231"/>
            </a:avLst>
          </a:prstGeom>
          <a:solidFill>
            <a:schemeClr val="tx2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15" name="user icon circle"/>
          <p:cNvSpPr/>
          <p:nvPr/>
        </p:nvSpPr>
        <p:spPr>
          <a:xfrm>
            <a:off x="6629400" y="2103120"/>
            <a:ext cx="731520" cy="73152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16" name="user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90334" y="2264054"/>
            <a:ext cx="409651" cy="409651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7589520" y="2011680"/>
            <a:ext cx="3931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ลูกค้า (Customer)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</a:rPr>
              <a:t>สมัคร ค้นหารถ จอง ชำระเงิน ติดตามสถานะ</a:t>
            </a:r>
            <a:endParaRPr lang="en-US" sz="1500" dirty="0"/>
          </a:p>
        </p:txBody>
      </p:sp>
      <p:sp>
        <p:nvSpPr>
          <p:cNvPr id="18" name="user card"/>
          <p:cNvSpPr/>
          <p:nvPr/>
        </p:nvSpPr>
        <p:spPr>
          <a:xfrm>
            <a:off x="6400800" y="3246120"/>
            <a:ext cx="5239512" cy="1188720"/>
          </a:xfrm>
          <a:prstGeom prst="roundRect">
            <a:avLst>
              <a:gd name="adj" fmla="val 9231"/>
            </a:avLst>
          </a:prstGeom>
          <a:solidFill>
            <a:schemeClr val="tx2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19" name="user icon circle"/>
          <p:cNvSpPr/>
          <p:nvPr/>
        </p:nvSpPr>
        <p:spPr>
          <a:xfrm>
            <a:off x="6629400" y="3474720"/>
            <a:ext cx="731520" cy="73152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20" name="user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90334" y="3635654"/>
            <a:ext cx="409651" cy="409651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7589520" y="3383280"/>
            <a:ext cx="3931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ผู้ดูแลระบบ (Admin)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</a:rPr>
              <a:t>จัดการรถ ประเภทรถ ราคา การจอง การรับ-คืนรถ</a:t>
            </a:r>
            <a:endParaRPr lang="en-US" sz="1500" dirty="0"/>
          </a:p>
        </p:txBody>
      </p:sp>
      <p:sp>
        <p:nvSpPr>
          <p:cNvPr id="22" name="Text 18"/>
          <p:cNvSpPr txBox="1"/>
          <p:nvPr/>
        </p:nvSpPr>
        <p:spPr>
          <a:xfrm>
            <a:off x="6400800" y="470916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bg2"/>
                </a:solidFill>
              </a:rPr>
              <a:t>6 ตารางหลัก</a:t>
            </a:r>
            <a:endParaRPr lang="en-US" sz="1500" dirty="0"/>
          </a:p>
        </p:txBody>
      </p:sp>
      <p:sp>
        <p:nvSpPr>
          <p:cNvPr id="23" name="table chip bg"/>
          <p:cNvSpPr/>
          <p:nvPr/>
        </p:nvSpPr>
        <p:spPr>
          <a:xfrm>
            <a:off x="6400800" y="5120640"/>
            <a:ext cx="1645920" cy="347472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/>
        </p:spPr>
      </p:sp>
      <p:sp>
        <p:nvSpPr>
          <p:cNvPr id="24" name="table chip"/>
          <p:cNvSpPr txBox="1"/>
          <p:nvPr/>
        </p:nvSpPr>
        <p:spPr>
          <a:xfrm>
            <a:off x="6400800" y="5120640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CUSTOMER</a:t>
            </a:r>
            <a:endParaRPr lang="en-US" sz="1200" dirty="0"/>
          </a:p>
        </p:txBody>
      </p:sp>
      <p:sp>
        <p:nvSpPr>
          <p:cNvPr id="25" name="table chip bg"/>
          <p:cNvSpPr/>
          <p:nvPr/>
        </p:nvSpPr>
        <p:spPr>
          <a:xfrm>
            <a:off x="8165592" y="5120640"/>
            <a:ext cx="1645920" cy="347472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/>
        </p:spPr>
      </p:sp>
      <p:sp>
        <p:nvSpPr>
          <p:cNvPr id="26" name="table chip"/>
          <p:cNvSpPr txBox="1"/>
          <p:nvPr/>
        </p:nvSpPr>
        <p:spPr>
          <a:xfrm>
            <a:off x="8165592" y="5120640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CAR_TYPE</a:t>
            </a:r>
            <a:endParaRPr lang="en-US" sz="1200" dirty="0"/>
          </a:p>
        </p:txBody>
      </p:sp>
      <p:sp>
        <p:nvSpPr>
          <p:cNvPr id="27" name="table chip bg"/>
          <p:cNvSpPr/>
          <p:nvPr/>
        </p:nvSpPr>
        <p:spPr>
          <a:xfrm>
            <a:off x="9930384" y="5120640"/>
            <a:ext cx="1645920" cy="347472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/>
        </p:spPr>
      </p:sp>
      <p:sp>
        <p:nvSpPr>
          <p:cNvPr id="28" name="table chip"/>
          <p:cNvSpPr txBox="1"/>
          <p:nvPr/>
        </p:nvSpPr>
        <p:spPr>
          <a:xfrm>
            <a:off x="9930384" y="5120640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CAR</a:t>
            </a:r>
            <a:endParaRPr lang="en-US" sz="1200" dirty="0"/>
          </a:p>
        </p:txBody>
      </p:sp>
      <p:sp>
        <p:nvSpPr>
          <p:cNvPr id="29" name="table chip bg"/>
          <p:cNvSpPr/>
          <p:nvPr/>
        </p:nvSpPr>
        <p:spPr>
          <a:xfrm>
            <a:off x="6400800" y="5577840"/>
            <a:ext cx="1645920" cy="347472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/>
        </p:spPr>
      </p:sp>
      <p:sp>
        <p:nvSpPr>
          <p:cNvPr id="30" name="table chip"/>
          <p:cNvSpPr txBox="1"/>
          <p:nvPr/>
        </p:nvSpPr>
        <p:spPr>
          <a:xfrm>
            <a:off x="6400800" y="5577840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BOOKING</a:t>
            </a:r>
            <a:endParaRPr lang="en-US" sz="1200" dirty="0"/>
          </a:p>
        </p:txBody>
      </p:sp>
      <p:sp>
        <p:nvSpPr>
          <p:cNvPr id="31" name="table chip bg"/>
          <p:cNvSpPr/>
          <p:nvPr/>
        </p:nvSpPr>
        <p:spPr>
          <a:xfrm>
            <a:off x="8165592" y="5577840"/>
            <a:ext cx="1645920" cy="347472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/>
        </p:spPr>
      </p:sp>
      <p:sp>
        <p:nvSpPr>
          <p:cNvPr id="32" name="table chip"/>
          <p:cNvSpPr txBox="1"/>
          <p:nvPr/>
        </p:nvSpPr>
        <p:spPr>
          <a:xfrm>
            <a:off x="8165592" y="5577840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RENTAL</a:t>
            </a:r>
            <a:endParaRPr lang="en-US" sz="1200" dirty="0"/>
          </a:p>
        </p:txBody>
      </p:sp>
      <p:sp>
        <p:nvSpPr>
          <p:cNvPr id="33" name="table chip bg"/>
          <p:cNvSpPr/>
          <p:nvPr/>
        </p:nvSpPr>
        <p:spPr>
          <a:xfrm>
            <a:off x="9930384" y="5577840"/>
            <a:ext cx="1645920" cy="347472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/>
        </p:spPr>
      </p:sp>
      <p:sp>
        <p:nvSpPr>
          <p:cNvPr id="34" name="table chip"/>
          <p:cNvSpPr txBox="1"/>
          <p:nvPr/>
        </p:nvSpPr>
        <p:spPr>
          <a:xfrm>
            <a:off x="9930384" y="5577840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PAYMENT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Kanit" pitchFamily="34" charset="0"/>
                <a:ea typeface="Kanit" pitchFamily="34" charset="-122"/>
                <a:cs typeface="Kanit" pitchFamily="34" charset="-120"/>
              </a:rPr>
              <a:t>ความต้องการของผู้ใช้ (User Requirements)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6766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Kanit" pitchFamily="34" charset="0"/>
                <a:ea typeface="Kanit" pitchFamily="34" charset="-122"/>
                <a:cs typeface="Kanit" pitchFamily="34" charset="-120"/>
              </a:rPr>
              <a:t>Functional Requirements</a:t>
            </a:r>
            <a:endParaRPr lang="en-US" sz="2000" dirty="0"/>
          </a:p>
        </p:txBody>
      </p:sp>
      <p:sp>
        <p:nvSpPr>
          <p:cNvPr id="4" name="requirement card"/>
          <p:cNvSpPr/>
          <p:nvPr/>
        </p:nvSpPr>
        <p:spPr>
          <a:xfrm>
            <a:off x="548640" y="1874520"/>
            <a:ext cx="6766560" cy="914400"/>
          </a:xfrm>
          <a:prstGeom prst="roundRect">
            <a:avLst>
              <a:gd name="adj" fmla="val 12000"/>
            </a:avLst>
          </a:prstGeom>
          <a:solidFill>
            <a:schemeClr val="tx2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5" name="requirement icon circle"/>
          <p:cNvSpPr/>
          <p:nvPr/>
        </p:nvSpPr>
        <p:spPr>
          <a:xfrm>
            <a:off x="731520" y="2011680"/>
            <a:ext cx="640080" cy="64008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6" name="requirement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2338" y="2152498"/>
            <a:ext cx="358445" cy="358445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54480" y="1965960"/>
            <a:ext cx="5577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ระบบลูกค้า  </a:t>
            </a:r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</a:rPr>
              <a:t>CRUD ข้อมูลลูกค้า และตรวจสอบเลขใบขับขี่ (LicenseNo)</a:t>
            </a:r>
            <a:endParaRPr lang="en-US" sz="1500" dirty="0"/>
          </a:p>
        </p:txBody>
      </p:sp>
      <p:sp>
        <p:nvSpPr>
          <p:cNvPr id="8" name="requirement card"/>
          <p:cNvSpPr/>
          <p:nvPr/>
        </p:nvSpPr>
        <p:spPr>
          <a:xfrm>
            <a:off x="548640" y="2926080"/>
            <a:ext cx="6766560" cy="914400"/>
          </a:xfrm>
          <a:prstGeom prst="roundRect">
            <a:avLst>
              <a:gd name="adj" fmla="val 12000"/>
            </a:avLst>
          </a:prstGeom>
          <a:solidFill>
            <a:schemeClr val="tx2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9" name="requirement icon circle"/>
          <p:cNvSpPr/>
          <p:nvPr/>
        </p:nvSpPr>
        <p:spPr>
          <a:xfrm>
            <a:off x="731520" y="3063240"/>
            <a:ext cx="640080" cy="64008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10" name="requirement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2338" y="3204058"/>
            <a:ext cx="358445" cy="358445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554480" y="3017520"/>
            <a:ext cx="5577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ระบบรถยนต์  </a:t>
            </a:r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</a:rPr>
              <a:t>จัดหมวดหมู่ Sedan / SUV / Van / Eco Car และอัปเดตสถานะรถ</a:t>
            </a:r>
            <a:endParaRPr lang="en-US" sz="1500" dirty="0"/>
          </a:p>
        </p:txBody>
      </p:sp>
      <p:sp>
        <p:nvSpPr>
          <p:cNvPr id="12" name="requirement card"/>
          <p:cNvSpPr/>
          <p:nvPr/>
        </p:nvSpPr>
        <p:spPr>
          <a:xfrm>
            <a:off x="548640" y="3977640"/>
            <a:ext cx="6766560" cy="914400"/>
          </a:xfrm>
          <a:prstGeom prst="roundRect">
            <a:avLst>
              <a:gd name="adj" fmla="val 12000"/>
            </a:avLst>
          </a:prstGeom>
          <a:solidFill>
            <a:schemeClr val="tx2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13" name="requirement icon circle"/>
          <p:cNvSpPr/>
          <p:nvPr/>
        </p:nvSpPr>
        <p:spPr>
          <a:xfrm>
            <a:off x="731520" y="4114800"/>
            <a:ext cx="640080" cy="64008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14" name="requirement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2338" y="4255618"/>
            <a:ext cx="358445" cy="358445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554480" y="4069080"/>
            <a:ext cx="5577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ระบบการเช่า  </a:t>
            </a:r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</a:rPr>
              <a:t>กำหนดวันรับ-คืนรถ คำนวณ TotalAmount อัตโนมัติ</a:t>
            </a:r>
            <a:endParaRPr lang="en-US" sz="1500" dirty="0"/>
          </a:p>
        </p:txBody>
      </p:sp>
      <p:sp>
        <p:nvSpPr>
          <p:cNvPr id="16" name="requirement card"/>
          <p:cNvSpPr/>
          <p:nvPr/>
        </p:nvSpPr>
        <p:spPr>
          <a:xfrm>
            <a:off x="548640" y="5029200"/>
            <a:ext cx="6766560" cy="914400"/>
          </a:xfrm>
          <a:prstGeom prst="roundRect">
            <a:avLst>
              <a:gd name="adj" fmla="val 12000"/>
            </a:avLst>
          </a:prstGeom>
          <a:solidFill>
            <a:schemeClr val="tx2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17" name="requirement icon circle"/>
          <p:cNvSpPr/>
          <p:nvPr/>
        </p:nvSpPr>
        <p:spPr>
          <a:xfrm>
            <a:off x="731520" y="5166360"/>
            <a:ext cx="640080" cy="64008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18" name="requirement 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2338" y="5307178"/>
            <a:ext cx="358445" cy="358445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554480" y="5120640"/>
            <a:ext cx="5577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ระบบชำระเงิน  </a:t>
            </a:r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</a:rPr>
              <a:t>แบ่งจ่ายได้หลายครั้ง: มัดจำ ค่าเช่า ค่าปรับ</a:t>
            </a:r>
            <a:endParaRPr lang="en-US" sz="1500" dirty="0"/>
          </a:p>
        </p:txBody>
      </p:sp>
      <p:sp>
        <p:nvSpPr>
          <p:cNvPr id="20" name="Text 14"/>
          <p:cNvSpPr txBox="1"/>
          <p:nvPr/>
        </p:nvSpPr>
        <p:spPr>
          <a:xfrm>
            <a:off x="7680960" y="132588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2"/>
                </a:solidFill>
                <a:latin typeface="Kanit" pitchFamily="34" charset="0"/>
                <a:ea typeface="Kanit" pitchFamily="34" charset="-122"/>
                <a:cs typeface="Kanit" pitchFamily="34" charset="-120"/>
              </a:rPr>
              <a:t>Non-functional</a:t>
            </a:r>
            <a:endParaRPr lang="en-US" sz="2000" dirty="0"/>
          </a:p>
        </p:txBody>
      </p:sp>
      <p:sp>
        <p:nvSpPr>
          <p:cNvPr id="21" name="nfr card"/>
          <p:cNvSpPr/>
          <p:nvPr/>
        </p:nvSpPr>
        <p:spPr>
          <a:xfrm>
            <a:off x="7680960" y="1874520"/>
            <a:ext cx="3959352" cy="1947672"/>
          </a:xfrm>
          <a:prstGeom prst="roundRect">
            <a:avLst>
              <a:gd name="adj" fmla="val 5634"/>
            </a:avLst>
          </a:prstGeom>
          <a:solidFill>
            <a:schemeClr val="tx2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22" name="nfr icon circle"/>
          <p:cNvSpPr/>
          <p:nvPr/>
        </p:nvSpPr>
        <p:spPr>
          <a:xfrm>
            <a:off x="7909560" y="2103120"/>
            <a:ext cx="640080" cy="64008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23" name="nfr 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50378" y="2243938"/>
            <a:ext cx="358445" cy="358445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8686800" y="214884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Security</a:t>
            </a:r>
            <a:endParaRPr lang="en-US" sz="1800" dirty="0"/>
          </a:p>
        </p:txBody>
      </p:sp>
      <p:sp>
        <p:nvSpPr>
          <p:cNvPr id="25" name="Text 18"/>
          <p:cNvSpPr txBox="1"/>
          <p:nvPr/>
        </p:nvSpPr>
        <p:spPr>
          <a:xfrm>
            <a:off x="7909560" y="2834640"/>
            <a:ext cx="3520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</a:rPr>
              <a:t>ข้อมูลใบขับขี่และข้อมูลส่วนบุคคลต้องเข้ารหัสและเก็บอย่างปลอดภัย</a:t>
            </a:r>
            <a:endParaRPr lang="en-US" sz="1500" dirty="0"/>
          </a:p>
        </p:txBody>
      </p:sp>
      <p:sp>
        <p:nvSpPr>
          <p:cNvPr id="26" name="nfr card"/>
          <p:cNvSpPr/>
          <p:nvPr/>
        </p:nvSpPr>
        <p:spPr>
          <a:xfrm>
            <a:off x="7680960" y="4005072"/>
            <a:ext cx="3959352" cy="1947672"/>
          </a:xfrm>
          <a:prstGeom prst="roundRect">
            <a:avLst>
              <a:gd name="adj" fmla="val 5634"/>
            </a:avLst>
          </a:prstGeom>
          <a:solidFill>
            <a:schemeClr val="tx2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27" name="nfr icon circle"/>
          <p:cNvSpPr/>
          <p:nvPr/>
        </p:nvSpPr>
        <p:spPr>
          <a:xfrm>
            <a:off x="7909560" y="4233672"/>
            <a:ext cx="640080" cy="64008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28" name="nfr icon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50378" y="4374490"/>
            <a:ext cx="358445" cy="358445"/>
          </a:xfrm>
          <a:prstGeom prst="rect">
            <a:avLst/>
          </a:prstGeom>
        </p:spPr>
      </p:pic>
      <p:sp>
        <p:nvSpPr>
          <p:cNvPr id="29" name="Text 21"/>
          <p:cNvSpPr txBox="1"/>
          <p:nvPr/>
        </p:nvSpPr>
        <p:spPr>
          <a:xfrm>
            <a:off x="8686800" y="4279392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Data Integrity</a:t>
            </a:r>
            <a:endParaRPr lang="en-US" sz="1800" dirty="0"/>
          </a:p>
        </p:txBody>
      </p:sp>
      <p:sp>
        <p:nvSpPr>
          <p:cNvPr id="30" name="Text 22"/>
          <p:cNvSpPr txBox="1"/>
          <p:nvPr/>
        </p:nvSpPr>
        <p:spPr>
          <a:xfrm>
            <a:off x="7909560" y="4965192"/>
            <a:ext cx="3520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</a:rPr>
              <a:t>ห้ามจองรถคันเดียวกันในช่วงเวลาทับซ้อน และวันคืนต้องหลังวันรับ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Kanit" pitchFamily="34" charset="0"/>
                <a:ea typeface="Kanit" pitchFamily="34" charset="-122"/>
                <a:cs typeface="Kanit" pitchFamily="34" charset="-120"/>
              </a:rPr>
              <a:t>การเลือกใช้ซอฟต์แวร์และสถาปัตยกรรม</a:t>
            </a:r>
            <a:endParaRPr lang="en-US" sz="3000" dirty="0"/>
          </a:p>
        </p:txBody>
      </p:sp>
      <p:sp>
        <p:nvSpPr>
          <p:cNvPr id="3" name="why postgres card"/>
          <p:cNvSpPr/>
          <p:nvPr/>
        </p:nvSpPr>
        <p:spPr>
          <a:xfrm>
            <a:off x="548640" y="1325880"/>
            <a:ext cx="5669280" cy="4754880"/>
          </a:xfrm>
          <a:prstGeom prst="roundRect">
            <a:avLst>
              <a:gd name="adj" fmla="val 2308"/>
            </a:avLst>
          </a:prstGeom>
          <a:solidFill>
            <a:schemeClr val="tx2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4" name="postgres icon circle"/>
          <p:cNvSpPr/>
          <p:nvPr/>
        </p:nvSpPr>
        <p:spPr>
          <a:xfrm>
            <a:off x="822960" y="1554480"/>
            <a:ext cx="822960" cy="8229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postgres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4011" y="1735531"/>
            <a:ext cx="460858" cy="46085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828800" y="1554480"/>
            <a:ext cx="4206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Kanit" pitchFamily="34" charset="0"/>
                <a:ea typeface="Kanit" pitchFamily="34" charset="-122"/>
                <a:cs typeface="Kanit" pitchFamily="34" charset="-120"/>
              </a:rPr>
              <a:t>PostgreSQL 16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accent1"/>
                </a:solidFill>
                <a:latin typeface="Kanit" pitchFamily="34" charset="0"/>
                <a:ea typeface="Kanit" pitchFamily="34" charset="-122"/>
                <a:cs typeface="Kanit" pitchFamily="34" charset="-120"/>
              </a:rPr>
              <a:t>บน Supabase (Managed Cloud)</a:t>
            </a:r>
            <a:endParaRPr lang="en-US" sz="1500" dirty="0"/>
          </a:p>
        </p:txBody>
      </p:sp>
      <p:pic>
        <p:nvPicPr>
          <p:cNvPr id="7" name="check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2788920"/>
            <a:ext cx="292608" cy="29260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325880" y="27432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ข้อมูลมีความสัมพันธ์ชัดเจน เหมาะกับ Relational Database</a:t>
            </a:r>
            <a:endParaRPr lang="en-US" sz="1500" dirty="0"/>
          </a:p>
        </p:txBody>
      </p:sp>
      <p:pic>
        <p:nvPicPr>
          <p:cNvPr id="9" name="check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3593592"/>
            <a:ext cx="292608" cy="292608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1325880" y="3547872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รองรับ CHECK, FOREIGN KEY และ EXCLUDE ใช้กันการจองซ้อนได้ในตัว</a:t>
            </a:r>
            <a:endParaRPr lang="en-US" sz="1500" dirty="0"/>
          </a:p>
        </p:txBody>
      </p:sp>
      <p:pic>
        <p:nvPicPr>
          <p:cNvPr id="11" name="check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4398264"/>
            <a:ext cx="292608" cy="292608"/>
          </a:xfrm>
          <a:prstGeom prst="rect">
            <a:avLst/>
          </a:prstGeom>
        </p:spPr>
      </p:pic>
      <p:sp>
        <p:nvSpPr>
          <p:cNvPr id="12" name="Text 6"/>
          <p:cNvSpPr txBox="1"/>
          <p:nvPr/>
        </p:nvSpPr>
        <p:spPr>
          <a:xfrm>
            <a:off x="1325880" y="4352544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รองรับ Transaction (ACID), CTE และ Window Function</a:t>
            </a:r>
            <a:endParaRPr lang="en-US" sz="1500" dirty="0"/>
          </a:p>
        </p:txBody>
      </p:sp>
      <p:pic>
        <p:nvPicPr>
          <p:cNvPr id="13" name="check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" y="5202936"/>
            <a:ext cx="292608" cy="292608"/>
          </a:xfrm>
          <a:prstGeom prst="rect">
            <a:avLst/>
          </a:prstGeom>
        </p:spPr>
      </p:pic>
      <p:sp>
        <p:nvSpPr>
          <p:cNvPr id="14" name="Text 7"/>
          <p:cNvSpPr txBox="1"/>
          <p:nvPr/>
        </p:nvSpPr>
        <p:spPr>
          <a:xfrm>
            <a:off x="1325880" y="5157216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Supabase ให้ใช้ฟรี ออนไลน์ 24 ชั่วโมง มี SQL Editor ในเว็บ</a:t>
            </a:r>
            <a:endParaRPr lang="en-US" sz="1500" dirty="0"/>
          </a:p>
        </p:txBody>
      </p:sp>
      <p:sp>
        <p:nvSpPr>
          <p:cNvPr id="15" name="tier card"/>
          <p:cNvSpPr/>
          <p:nvPr/>
        </p:nvSpPr>
        <p:spPr>
          <a:xfrm>
            <a:off x="6583680" y="1325880"/>
            <a:ext cx="5056632" cy="96012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16" name="tier icon circle"/>
          <p:cNvSpPr/>
          <p:nvPr/>
        </p:nvSpPr>
        <p:spPr>
          <a:xfrm>
            <a:off x="6766560" y="1481328"/>
            <a:ext cx="640080" cy="64008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17" name="tier icon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07378" y="1622146"/>
            <a:ext cx="358445" cy="358445"/>
          </a:xfrm>
          <a:prstGeom prst="rect">
            <a:avLst/>
          </a:prstGeom>
        </p:spPr>
      </p:pic>
      <p:sp>
        <p:nvSpPr>
          <p:cNvPr id="18" name="Text 10"/>
          <p:cNvSpPr txBox="1"/>
          <p:nvPr/>
        </p:nvSpPr>
        <p:spPr>
          <a:xfrm>
            <a:off x="7589520" y="1417320"/>
            <a:ext cx="3931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Frontend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React / Flutter บน Vercel</a:t>
            </a:r>
            <a:endParaRPr lang="en-US" sz="1700" dirty="0"/>
          </a:p>
        </p:txBody>
      </p:sp>
      <p:pic>
        <p:nvPicPr>
          <p:cNvPr id="19" name="tier arrow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988552" y="2331720"/>
            <a:ext cx="274320" cy="274320"/>
          </a:xfrm>
          <a:prstGeom prst="rect">
            <a:avLst/>
          </a:prstGeom>
        </p:spPr>
      </p:pic>
      <p:sp>
        <p:nvSpPr>
          <p:cNvPr id="20" name="tier card"/>
          <p:cNvSpPr/>
          <p:nvPr/>
        </p:nvSpPr>
        <p:spPr>
          <a:xfrm>
            <a:off x="6583680" y="2651760"/>
            <a:ext cx="5056632" cy="96012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21" name="tier icon circle"/>
          <p:cNvSpPr/>
          <p:nvPr/>
        </p:nvSpPr>
        <p:spPr>
          <a:xfrm>
            <a:off x="6766560" y="2807208"/>
            <a:ext cx="640080" cy="64008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22" name="tier icon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907378" y="2948026"/>
            <a:ext cx="358445" cy="358445"/>
          </a:xfrm>
          <a:prstGeom prst="rect">
            <a:avLst/>
          </a:prstGeom>
        </p:spPr>
      </p:pic>
      <p:sp>
        <p:nvSpPr>
          <p:cNvPr id="23" name="Text 13"/>
          <p:cNvSpPr txBox="1"/>
          <p:nvPr/>
        </p:nvSpPr>
        <p:spPr>
          <a:xfrm>
            <a:off x="7589520" y="2743200"/>
            <a:ext cx="3931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Backend API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RESTful API ด้วย FastAPI / Node.js</a:t>
            </a:r>
            <a:endParaRPr lang="en-US" sz="1700" dirty="0"/>
          </a:p>
        </p:txBody>
      </p:sp>
      <p:pic>
        <p:nvPicPr>
          <p:cNvPr id="24" name="tier arrow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988552" y="3657600"/>
            <a:ext cx="274320" cy="274320"/>
          </a:xfrm>
          <a:prstGeom prst="rect">
            <a:avLst/>
          </a:prstGeom>
        </p:spPr>
      </p:pic>
      <p:sp>
        <p:nvSpPr>
          <p:cNvPr id="25" name="tier card"/>
          <p:cNvSpPr/>
          <p:nvPr/>
        </p:nvSpPr>
        <p:spPr>
          <a:xfrm>
            <a:off x="6583680" y="3977640"/>
            <a:ext cx="5056632" cy="960120"/>
          </a:xfrm>
          <a:prstGeom prst="roundRect">
            <a:avLst>
              <a:gd name="adj" fmla="val 11429"/>
            </a:avLst>
          </a:prstGeom>
          <a:solidFill>
            <a:schemeClr val="accent4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26" name="tier icon circle"/>
          <p:cNvSpPr/>
          <p:nvPr/>
        </p:nvSpPr>
        <p:spPr>
          <a:xfrm>
            <a:off x="6766560" y="4133088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7" name="tier icon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907378" y="4273906"/>
            <a:ext cx="358445" cy="358445"/>
          </a:xfrm>
          <a:prstGeom prst="rect">
            <a:avLst/>
          </a:prstGeom>
        </p:spPr>
      </p:pic>
      <p:sp>
        <p:nvSpPr>
          <p:cNvPr id="28" name="Text 16"/>
          <p:cNvSpPr txBox="1"/>
          <p:nvPr/>
        </p:nvSpPr>
        <p:spPr>
          <a:xfrm>
            <a:off x="7589520" y="4069080"/>
            <a:ext cx="3931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Database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PostgreSQL 16 (Supabase)</a:t>
            </a:r>
            <a:endParaRPr lang="en-US" sz="1700" dirty="0"/>
          </a:p>
        </p:txBody>
      </p:sp>
      <p:sp>
        <p:nvSpPr>
          <p:cNvPr id="29" name="Text 17"/>
          <p:cNvSpPr txBox="1"/>
          <p:nvPr/>
        </p:nvSpPr>
        <p:spPr>
          <a:xfrm>
            <a:off x="6583680" y="5349240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2"/>
                </a:solidFill>
              </a:rPr>
              <a:t>เครื่องมือ</a:t>
            </a:r>
            <a:endParaRPr lang="en-US" sz="1400" dirty="0"/>
          </a:p>
        </p:txBody>
      </p:sp>
      <p:sp>
        <p:nvSpPr>
          <p:cNvPr id="30" name="tool chip bg"/>
          <p:cNvSpPr/>
          <p:nvPr/>
        </p:nvSpPr>
        <p:spPr>
          <a:xfrm>
            <a:off x="7635240" y="5349240"/>
            <a:ext cx="1965960" cy="347472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/>
        </p:spPr>
      </p:sp>
      <p:sp>
        <p:nvSpPr>
          <p:cNvPr id="31" name="tool chip"/>
          <p:cNvSpPr txBox="1"/>
          <p:nvPr/>
        </p:nvSpPr>
        <p:spPr>
          <a:xfrm>
            <a:off x="7635240" y="5349240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Mermaid / draw.io (ERD)</a:t>
            </a:r>
            <a:endParaRPr lang="en-US" sz="1100" dirty="0"/>
          </a:p>
        </p:txBody>
      </p:sp>
      <p:sp>
        <p:nvSpPr>
          <p:cNvPr id="32" name="tool chip bg"/>
          <p:cNvSpPr/>
          <p:nvPr/>
        </p:nvSpPr>
        <p:spPr>
          <a:xfrm>
            <a:off x="9692640" y="5349240"/>
            <a:ext cx="1965960" cy="347472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/>
        </p:spPr>
      </p:sp>
      <p:sp>
        <p:nvSpPr>
          <p:cNvPr id="33" name="tool chip"/>
          <p:cNvSpPr txBox="1"/>
          <p:nvPr/>
        </p:nvSpPr>
        <p:spPr>
          <a:xfrm>
            <a:off x="9692640" y="5349240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pgAdmin / Supabase SQL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Kanit" pitchFamily="34" charset="0"/>
                <a:ea typeface="Kanit" pitchFamily="34" charset="-122"/>
                <a:cs typeface="Kanit" pitchFamily="34" charset="-120"/>
              </a:rPr>
              <a:t>การทำงานของระบบ 5 ขั้นตอน</a:t>
            </a:r>
            <a:endParaRPr lang="en-US" sz="3000" dirty="0"/>
          </a:p>
        </p:txBody>
      </p:sp>
      <p:sp>
        <p:nvSpPr>
          <p:cNvPr id="3" name="step card"/>
          <p:cNvSpPr/>
          <p:nvPr/>
        </p:nvSpPr>
        <p:spPr>
          <a:xfrm>
            <a:off x="548640" y="1417320"/>
            <a:ext cx="2057400" cy="4297680"/>
          </a:xfrm>
          <a:prstGeom prst="roundRect">
            <a:avLst>
              <a:gd name="adj" fmla="val 5333"/>
            </a:avLst>
          </a:prstGeom>
          <a:solidFill>
            <a:schemeClr val="tx2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4" name="step icon circle"/>
          <p:cNvSpPr/>
          <p:nvPr/>
        </p:nvSpPr>
        <p:spPr>
          <a:xfrm>
            <a:off x="1120140" y="1691640"/>
            <a:ext cx="914400" cy="9144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step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21308" y="1892808"/>
            <a:ext cx="512064" cy="51206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31520" y="274320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ขั้นที่ 1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306324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Kanit" pitchFamily="34" charset="0"/>
                <a:ea typeface="Kanit" pitchFamily="34" charset="-122"/>
                <a:cs typeface="Kanit" pitchFamily="34" charset="-120"/>
              </a:rPr>
              <a:t>ลงทะเบียน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3611880"/>
            <a:ext cx="1691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บันทึกลูกค้าและตรวจใบขับขี่</a:t>
            </a:r>
            <a:endParaRPr lang="en-US" sz="1400" dirty="0"/>
          </a:p>
        </p:txBody>
      </p:sp>
      <p:sp>
        <p:nvSpPr>
          <p:cNvPr id="9" name="step table bg"/>
          <p:cNvSpPr/>
          <p:nvPr/>
        </p:nvSpPr>
        <p:spPr>
          <a:xfrm>
            <a:off x="685800" y="5120640"/>
            <a:ext cx="1783080" cy="347472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/>
        </p:spPr>
      </p:sp>
      <p:sp>
        <p:nvSpPr>
          <p:cNvPr id="10" name="step table"/>
          <p:cNvSpPr txBox="1"/>
          <p:nvPr/>
        </p:nvSpPr>
        <p:spPr>
          <a:xfrm>
            <a:off x="685800" y="5120640"/>
            <a:ext cx="1783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CUSTOMER</a:t>
            </a:r>
            <a:endParaRPr lang="en-US" sz="1100" dirty="0"/>
          </a:p>
        </p:txBody>
      </p:sp>
      <p:pic>
        <p:nvPicPr>
          <p:cNvPr id="11" name="step arrow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06383" y="2011680"/>
            <a:ext cx="201168" cy="274320"/>
          </a:xfrm>
          <a:prstGeom prst="rect">
            <a:avLst/>
          </a:prstGeom>
        </p:spPr>
      </p:pic>
      <p:sp>
        <p:nvSpPr>
          <p:cNvPr id="12" name="step card"/>
          <p:cNvSpPr/>
          <p:nvPr/>
        </p:nvSpPr>
        <p:spPr>
          <a:xfrm>
            <a:off x="2807894" y="1417320"/>
            <a:ext cx="2057400" cy="4297680"/>
          </a:xfrm>
          <a:prstGeom prst="roundRect">
            <a:avLst>
              <a:gd name="adj" fmla="val 5333"/>
            </a:avLst>
          </a:prstGeom>
          <a:solidFill>
            <a:schemeClr val="tx2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13" name="step icon circle"/>
          <p:cNvSpPr/>
          <p:nvPr/>
        </p:nvSpPr>
        <p:spPr>
          <a:xfrm>
            <a:off x="3379394" y="1691640"/>
            <a:ext cx="914400" cy="9144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4" name="step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80562" y="1892808"/>
            <a:ext cx="512064" cy="512064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2990774" y="274320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ขั้นที่ 2</a:t>
            </a:r>
            <a:endParaRPr lang="en-US" sz="1300" dirty="0"/>
          </a:p>
        </p:txBody>
      </p:sp>
      <p:sp>
        <p:nvSpPr>
          <p:cNvPr id="16" name="Text 11"/>
          <p:cNvSpPr txBox="1"/>
          <p:nvPr/>
        </p:nvSpPr>
        <p:spPr>
          <a:xfrm>
            <a:off x="2990774" y="306324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Kanit" pitchFamily="34" charset="0"/>
                <a:ea typeface="Kanit" pitchFamily="34" charset="-122"/>
                <a:cs typeface="Kanit" pitchFamily="34" charset="-120"/>
              </a:rPr>
              <a:t>ค้นหารถ</a:t>
            </a:r>
            <a:endParaRPr lang="en-US" sz="2000" dirty="0"/>
          </a:p>
        </p:txBody>
      </p:sp>
      <p:sp>
        <p:nvSpPr>
          <p:cNvPr id="17" name="Text 12"/>
          <p:cNvSpPr txBox="1"/>
          <p:nvPr/>
        </p:nvSpPr>
        <p:spPr>
          <a:xfrm>
            <a:off x="2990774" y="3611880"/>
            <a:ext cx="1691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แสดงเฉพาะรถที่ Status = Available</a:t>
            </a:r>
            <a:endParaRPr lang="en-US" sz="1400" dirty="0"/>
          </a:p>
        </p:txBody>
      </p:sp>
      <p:sp>
        <p:nvSpPr>
          <p:cNvPr id="18" name="step table bg"/>
          <p:cNvSpPr/>
          <p:nvPr/>
        </p:nvSpPr>
        <p:spPr>
          <a:xfrm>
            <a:off x="2945054" y="5120640"/>
            <a:ext cx="1783080" cy="347472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/>
        </p:spPr>
      </p:sp>
      <p:sp>
        <p:nvSpPr>
          <p:cNvPr id="19" name="step table"/>
          <p:cNvSpPr txBox="1"/>
          <p:nvPr/>
        </p:nvSpPr>
        <p:spPr>
          <a:xfrm>
            <a:off x="2945054" y="5120640"/>
            <a:ext cx="1783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CAR · CAR_TYPE</a:t>
            </a:r>
            <a:endParaRPr lang="en-US" sz="1100" dirty="0"/>
          </a:p>
        </p:txBody>
      </p:sp>
      <p:pic>
        <p:nvPicPr>
          <p:cNvPr id="20" name="step arrow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65637" y="2011680"/>
            <a:ext cx="201168" cy="274320"/>
          </a:xfrm>
          <a:prstGeom prst="rect">
            <a:avLst/>
          </a:prstGeom>
        </p:spPr>
      </p:pic>
      <p:sp>
        <p:nvSpPr>
          <p:cNvPr id="21" name="step card"/>
          <p:cNvSpPr/>
          <p:nvPr/>
        </p:nvSpPr>
        <p:spPr>
          <a:xfrm>
            <a:off x="5067148" y="1417320"/>
            <a:ext cx="2057400" cy="4297680"/>
          </a:xfrm>
          <a:prstGeom prst="roundRect">
            <a:avLst>
              <a:gd name="adj" fmla="val 5333"/>
            </a:avLst>
          </a:prstGeom>
          <a:solidFill>
            <a:schemeClr val="tx2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22" name="step icon circle"/>
          <p:cNvSpPr/>
          <p:nvPr/>
        </p:nvSpPr>
        <p:spPr>
          <a:xfrm>
            <a:off x="5638648" y="1691640"/>
            <a:ext cx="914400" cy="91440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23" name="step 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39816" y="1892808"/>
            <a:ext cx="512064" cy="512064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5250028" y="274320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ขั้นที่ 3</a:t>
            </a:r>
            <a:endParaRPr lang="en-US" sz="1300" dirty="0"/>
          </a:p>
        </p:txBody>
      </p:sp>
      <p:sp>
        <p:nvSpPr>
          <p:cNvPr id="25" name="Text 18"/>
          <p:cNvSpPr txBox="1"/>
          <p:nvPr/>
        </p:nvSpPr>
        <p:spPr>
          <a:xfrm>
            <a:off x="5250028" y="306324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Kanit" pitchFamily="34" charset="0"/>
                <a:ea typeface="Kanit" pitchFamily="34" charset="-122"/>
                <a:cs typeface="Kanit" pitchFamily="34" charset="-120"/>
              </a:rPr>
              <a:t>จองและเช่า</a:t>
            </a:r>
            <a:endParaRPr lang="en-US" sz="2000" dirty="0"/>
          </a:p>
        </p:txBody>
      </p:sp>
      <p:sp>
        <p:nvSpPr>
          <p:cNvPr id="26" name="Text 19"/>
          <p:cNvSpPr txBox="1"/>
          <p:nvPr/>
        </p:nvSpPr>
        <p:spPr>
          <a:xfrm>
            <a:off x="5250028" y="3611880"/>
            <a:ext cx="1691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TotalAmount = จำนวนวัน × DailyRate รถเปลี่ยนเป็น Rented</a:t>
            </a:r>
            <a:endParaRPr lang="en-US" sz="1400" dirty="0"/>
          </a:p>
        </p:txBody>
      </p:sp>
      <p:sp>
        <p:nvSpPr>
          <p:cNvPr id="27" name="step table bg"/>
          <p:cNvSpPr/>
          <p:nvPr/>
        </p:nvSpPr>
        <p:spPr>
          <a:xfrm>
            <a:off x="5204308" y="5120640"/>
            <a:ext cx="1783080" cy="347472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/>
        </p:spPr>
      </p:sp>
      <p:sp>
        <p:nvSpPr>
          <p:cNvPr id="28" name="step table"/>
          <p:cNvSpPr txBox="1"/>
          <p:nvPr/>
        </p:nvSpPr>
        <p:spPr>
          <a:xfrm>
            <a:off x="5204308" y="5120640"/>
            <a:ext cx="1783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BOOKING · RENTAL</a:t>
            </a:r>
            <a:endParaRPr lang="en-US" sz="1100" dirty="0"/>
          </a:p>
        </p:txBody>
      </p:sp>
      <p:pic>
        <p:nvPicPr>
          <p:cNvPr id="29" name="step arrow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24891" y="2011680"/>
            <a:ext cx="201168" cy="274320"/>
          </a:xfrm>
          <a:prstGeom prst="rect">
            <a:avLst/>
          </a:prstGeom>
        </p:spPr>
      </p:pic>
      <p:sp>
        <p:nvSpPr>
          <p:cNvPr id="30" name="step card"/>
          <p:cNvSpPr/>
          <p:nvPr/>
        </p:nvSpPr>
        <p:spPr>
          <a:xfrm>
            <a:off x="7326401" y="1417320"/>
            <a:ext cx="2057400" cy="4297680"/>
          </a:xfrm>
          <a:prstGeom prst="roundRect">
            <a:avLst>
              <a:gd name="adj" fmla="val 5333"/>
            </a:avLst>
          </a:prstGeom>
          <a:solidFill>
            <a:schemeClr val="tx2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31" name="step icon circle"/>
          <p:cNvSpPr/>
          <p:nvPr/>
        </p:nvSpPr>
        <p:spPr>
          <a:xfrm>
            <a:off x="7897901" y="1691640"/>
            <a:ext cx="914400" cy="9144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32" name="step icon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99069" y="1892808"/>
            <a:ext cx="512064" cy="512064"/>
          </a:xfrm>
          <a:prstGeom prst="rect">
            <a:avLst/>
          </a:prstGeom>
        </p:spPr>
      </p:pic>
      <p:sp>
        <p:nvSpPr>
          <p:cNvPr id="33" name="Text 24"/>
          <p:cNvSpPr txBox="1"/>
          <p:nvPr/>
        </p:nvSpPr>
        <p:spPr>
          <a:xfrm>
            <a:off x="7509281" y="274320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ขั้นที่ 4</a:t>
            </a:r>
            <a:endParaRPr lang="en-US" sz="1300" dirty="0"/>
          </a:p>
        </p:txBody>
      </p:sp>
      <p:sp>
        <p:nvSpPr>
          <p:cNvPr id="34" name="Text 25"/>
          <p:cNvSpPr txBox="1"/>
          <p:nvPr/>
        </p:nvSpPr>
        <p:spPr>
          <a:xfrm>
            <a:off x="7509281" y="306324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Kanit" pitchFamily="34" charset="0"/>
                <a:ea typeface="Kanit" pitchFamily="34" charset="-122"/>
                <a:cs typeface="Kanit" pitchFamily="34" charset="-120"/>
              </a:rPr>
              <a:t>ชำระเงิน</a:t>
            </a:r>
            <a:endParaRPr lang="en-US" sz="2000" dirty="0"/>
          </a:p>
        </p:txBody>
      </p:sp>
      <p:sp>
        <p:nvSpPr>
          <p:cNvPr id="35" name="Text 26"/>
          <p:cNvSpPr txBox="1"/>
          <p:nvPr/>
        </p:nvSpPr>
        <p:spPr>
          <a:xfrm>
            <a:off x="7509281" y="3611880"/>
            <a:ext cx="1691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บันทึกการจ่าย การจองเป็น Confirmed</a:t>
            </a:r>
            <a:endParaRPr lang="en-US" sz="1400" dirty="0"/>
          </a:p>
        </p:txBody>
      </p:sp>
      <p:sp>
        <p:nvSpPr>
          <p:cNvPr id="36" name="step table bg"/>
          <p:cNvSpPr/>
          <p:nvPr/>
        </p:nvSpPr>
        <p:spPr>
          <a:xfrm>
            <a:off x="7463561" y="5120640"/>
            <a:ext cx="1783080" cy="347472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/>
        </p:spPr>
      </p:sp>
      <p:sp>
        <p:nvSpPr>
          <p:cNvPr id="37" name="step table"/>
          <p:cNvSpPr txBox="1"/>
          <p:nvPr/>
        </p:nvSpPr>
        <p:spPr>
          <a:xfrm>
            <a:off x="7463561" y="5120640"/>
            <a:ext cx="1783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PAYMENT</a:t>
            </a:r>
            <a:endParaRPr lang="en-US" sz="1100" dirty="0"/>
          </a:p>
        </p:txBody>
      </p:sp>
      <p:pic>
        <p:nvPicPr>
          <p:cNvPr id="38" name="step arrow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384144" y="2011680"/>
            <a:ext cx="201168" cy="274320"/>
          </a:xfrm>
          <a:prstGeom prst="rect">
            <a:avLst/>
          </a:prstGeom>
        </p:spPr>
      </p:pic>
      <p:sp>
        <p:nvSpPr>
          <p:cNvPr id="39" name="step card"/>
          <p:cNvSpPr/>
          <p:nvPr/>
        </p:nvSpPr>
        <p:spPr>
          <a:xfrm>
            <a:off x="9585655" y="1417320"/>
            <a:ext cx="2057400" cy="4297680"/>
          </a:xfrm>
          <a:prstGeom prst="roundRect">
            <a:avLst>
              <a:gd name="adj" fmla="val 5333"/>
            </a:avLst>
          </a:prstGeom>
          <a:solidFill>
            <a:schemeClr val="tx2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40" name="step icon circle"/>
          <p:cNvSpPr/>
          <p:nvPr/>
        </p:nvSpPr>
        <p:spPr>
          <a:xfrm>
            <a:off x="10157155" y="1691640"/>
            <a:ext cx="914400" cy="9144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41" name="step icon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358323" y="1892808"/>
            <a:ext cx="512064" cy="512064"/>
          </a:xfrm>
          <a:prstGeom prst="rect">
            <a:avLst/>
          </a:prstGeom>
        </p:spPr>
      </p:pic>
      <p:sp>
        <p:nvSpPr>
          <p:cNvPr id="42" name="Text 31"/>
          <p:cNvSpPr txBox="1"/>
          <p:nvPr/>
        </p:nvSpPr>
        <p:spPr>
          <a:xfrm>
            <a:off x="9768535" y="274320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ขั้นที่ 5</a:t>
            </a:r>
            <a:endParaRPr lang="en-US" sz="1300" dirty="0"/>
          </a:p>
        </p:txBody>
      </p:sp>
      <p:sp>
        <p:nvSpPr>
          <p:cNvPr id="43" name="Text 32"/>
          <p:cNvSpPr txBox="1"/>
          <p:nvPr/>
        </p:nvSpPr>
        <p:spPr>
          <a:xfrm>
            <a:off x="9768535" y="306324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Kanit" pitchFamily="34" charset="0"/>
                <a:ea typeface="Kanit" pitchFamily="34" charset="-122"/>
                <a:cs typeface="Kanit" pitchFamily="34" charset="-120"/>
              </a:rPr>
              <a:t>คืนรถ</a:t>
            </a:r>
            <a:endParaRPr lang="en-US" sz="2000" dirty="0"/>
          </a:p>
        </p:txBody>
      </p:sp>
      <p:sp>
        <p:nvSpPr>
          <p:cNvPr id="44" name="Text 33"/>
          <p:cNvSpPr txBox="1"/>
          <p:nvPr/>
        </p:nvSpPr>
        <p:spPr>
          <a:xfrm>
            <a:off x="9768535" y="3611880"/>
            <a:ext cx="1691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Admin ตรวจสภาพ RENTAL = Completed รถกลับเป็น Available</a:t>
            </a:r>
            <a:endParaRPr lang="en-US" sz="1400" dirty="0"/>
          </a:p>
        </p:txBody>
      </p:sp>
      <p:sp>
        <p:nvSpPr>
          <p:cNvPr id="45" name="step table bg"/>
          <p:cNvSpPr/>
          <p:nvPr/>
        </p:nvSpPr>
        <p:spPr>
          <a:xfrm>
            <a:off x="9722815" y="5120640"/>
            <a:ext cx="1783080" cy="347472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/>
        </p:spPr>
      </p:sp>
      <p:sp>
        <p:nvSpPr>
          <p:cNvPr id="46" name="step table"/>
          <p:cNvSpPr txBox="1"/>
          <p:nvPr/>
        </p:nvSpPr>
        <p:spPr>
          <a:xfrm>
            <a:off x="9722815" y="5120640"/>
            <a:ext cx="1783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RENTAL · CAR</a:t>
            </a:r>
            <a:endParaRPr lang="en-US" sz="1100" dirty="0"/>
          </a:p>
        </p:txBody>
      </p:sp>
      <p:sp>
        <p:nvSpPr>
          <p:cNvPr id="47" name="Text 36"/>
          <p:cNvSpPr txBox="1"/>
          <p:nvPr/>
        </p:nvSpPr>
        <p:spPr>
          <a:xfrm>
            <a:off x="548640" y="589788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2"/>
                </a:solidFill>
              </a:rPr>
              <a:t>สถานะรถ:  Available → Rented → Available        สถานะการจอง:  Pending → Confirmed → Completed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Kanit" pitchFamily="34" charset="0"/>
                <a:ea typeface="Kanit" pitchFamily="34" charset="-122"/>
                <a:cs typeface="Kanit" pitchFamily="34" charset="-120"/>
              </a:rPr>
              <a:t>กฎทางธุรกิจ (Business Rules) → Constraint</a:t>
            </a:r>
            <a:endParaRPr lang="en-US" sz="3000" dirty="0"/>
          </a:p>
        </p:txBody>
      </p:sp>
      <p:graphicFrame>
        <p:nvGraphicFramePr>
          <p:cNvPr id="8" name="business rules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4415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5852160"/>
                <a:gridCol w="4325112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กฎ</a:t>
                      </a:r>
                      <a:endParaRPr lang="en-US" sz="1500" dirty="0"/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ความหมาย</a:t>
                      </a:r>
                      <a:endParaRPr lang="en-US" sz="1500" dirty="0"/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บังคับด้วย</a:t>
                      </a:r>
                      <a:endParaRPr lang="en-US" sz="1500" dirty="0"/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2"/>
                          </a:solidFill>
                        </a:rPr>
                        <a:t>BR1</a:t>
                      </a:r>
                      <a:endParaRPr lang="en-US" sz="1500" dirty="0"/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bg1"/>
                          </a:solidFill>
                        </a:rPr>
                        <a:t>ลูกค้า 1 คนเช่าได้หลายรายการ แต่ 1 รายการเป็นของลูกค้า 1 คน</a:t>
                      </a:r>
                      <a:endParaRPr lang="en-US" sz="1500" dirty="0"/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accent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FK customer_id ใน BOOKING (1:N)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2"/>
                          </a:solidFill>
                        </a:rPr>
                        <a:t>BR2</a:t>
                      </a:r>
                      <a:endParaRPr lang="en-US" sz="1500" dirty="0"/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bg1"/>
                          </a:solidFill>
                        </a:rPr>
                        <a:t>รถ 1 คันห้ามถูกจองซ้อนในช่วงเวลาเดียวกัน</a:t>
                      </a:r>
                      <a:endParaRPr lang="en-US" sz="1500" dirty="0"/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accent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EXCLUDE constraint no_overlap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2"/>
                          </a:solidFill>
                        </a:rPr>
                        <a:t>BR3</a:t>
                      </a:r>
                      <a:endParaRPr lang="en-US" sz="1500" dirty="0"/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bg1"/>
                          </a:solidFill>
                        </a:rPr>
                        <a:t>รถแต่ละคันอยู่ใน 1 ประเภท ประเภทหนึ่งมีรถได้หลายคัน</a:t>
                      </a:r>
                      <a:endParaRPr lang="en-US" sz="1500" dirty="0"/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accent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FK car_type_id NOT NULL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2"/>
                          </a:solidFill>
                        </a:rPr>
                        <a:t>BR4</a:t>
                      </a:r>
                      <a:endParaRPr lang="en-US" sz="1500" dirty="0"/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bg1"/>
                          </a:solidFill>
                        </a:rPr>
                        <a:t>การเช่าต้องระบุรถ วันที่เช่า และวันที่คืน</a:t>
                      </a:r>
                      <a:endParaRPr lang="en-US" sz="1500" dirty="0"/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accent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NOT NULL car_id, start_date, end_date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2"/>
                          </a:solidFill>
                        </a:rPr>
                        <a:t>BR5</a:t>
                      </a:r>
                      <a:endParaRPr lang="en-US" sz="1500" dirty="0"/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bg1"/>
                          </a:solidFill>
                        </a:rPr>
                        <a:t>การเช่า 1 รายการชำระได้หลายครั้ง (มัดจำ + ส่วนที่เหลือ)</a:t>
                      </a:r>
                      <a:endParaRPr lang="en-US" sz="1500" dirty="0"/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accent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PAYMENT → BOOKING (1:N)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2"/>
                          </a:solidFill>
                        </a:rPr>
                        <a:t>BR6</a:t>
                      </a:r>
                      <a:endParaRPr lang="en-US" sz="1500" dirty="0"/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bg1"/>
                          </a:solidFill>
                        </a:rPr>
                        <a:t>เช่าได้เฉพาะรถที่สถานะ Available</a:t>
                      </a:r>
                      <a:endParaRPr lang="en-US" sz="1500" dirty="0"/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accent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กรองสถานะใน query ค้นหารถว่าง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2"/>
                          </a:solidFill>
                        </a:rPr>
                        <a:t>BR7</a:t>
                      </a:r>
                      <a:endParaRPr lang="en-US" sz="1500" dirty="0"/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bg1"/>
                          </a:solidFill>
                        </a:rPr>
                        <a:t>วันที่คืนต้องไม่อยู่ก่อนวันที่เช่า</a:t>
                      </a:r>
                      <a:endParaRPr lang="en-US" sz="1500" dirty="0"/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accent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CHECK (end_date &gt; start_date)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Kanit" pitchFamily="34" charset="0"/>
                <a:ea typeface="Kanit" pitchFamily="34" charset="-122"/>
                <a:cs typeface="Kanit" pitchFamily="34" charset="-120"/>
              </a:rPr>
              <a:t>Entity Relationship Diagram (ERD)</a:t>
            </a:r>
            <a:endParaRPr lang="en-US" sz="3000" dirty="0"/>
          </a:p>
        </p:txBody>
      </p:sp>
      <p:sp>
        <p:nvSpPr>
          <p:cNvPr id="3" name="CUSTOMER entity"/>
          <p:cNvSpPr/>
          <p:nvPr/>
        </p:nvSpPr>
        <p:spPr>
          <a:xfrm>
            <a:off x="548640" y="1371600"/>
            <a:ext cx="2240280" cy="1664208"/>
          </a:xfrm>
          <a:prstGeom prst="roundRect">
            <a:avLst>
              <a:gd name="adj" fmla="val 4396"/>
            </a:avLst>
          </a:prstGeom>
          <a:solidFill>
            <a:schemeClr val="tx2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4" name="CUSTOMER name"/>
          <p:cNvSpPr txBox="1"/>
          <p:nvPr/>
        </p:nvSpPr>
        <p:spPr>
          <a:xfrm>
            <a:off x="548640" y="137160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CUSTOMER</a:t>
            </a:r>
            <a:endParaRPr lang="en-US" sz="1400" dirty="0"/>
          </a:p>
        </p:txBody>
      </p:sp>
      <p:sp>
        <p:nvSpPr>
          <p:cNvPr id="5" name="CUSTOMER fields"/>
          <p:cNvSpPr txBox="1"/>
          <p:nvPr/>
        </p:nvSpPr>
        <p:spPr>
          <a:xfrm>
            <a:off x="713232" y="1755648"/>
            <a:ext cx="1965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70"/>
              </a:lnSpc>
              <a:buNone/>
            </a:pPr>
            <a:r>
              <a:rPr lang="en-US" sz="1100" b="1" dirty="0">
                <a:solidFill>
                  <a:srgbClr val="FBB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CustomerID  PK</a:t>
            </a:r>
            <a:endParaRPr lang="en-US" sz="1100" dirty="0"/>
          </a:p>
          <a:p>
            <a:pPr indent="0" marL="0">
              <a:lnSpc>
                <a:spcPts val="1870"/>
              </a:lnSpc>
              <a:buNone/>
            </a:pPr>
            <a:r>
              <a:rPr lang="en-US" sz="11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</a:t>
            </a:r>
            <a:endParaRPr lang="en-US" sz="1100" dirty="0"/>
          </a:p>
          <a:p>
            <a:pPr indent="0" marL="0">
              <a:lnSpc>
                <a:spcPts val="1870"/>
              </a:lnSpc>
              <a:buNone/>
            </a:pPr>
            <a:r>
              <a:rPr lang="en-US" sz="11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Phone</a:t>
            </a:r>
            <a:endParaRPr lang="en-US" sz="1100" dirty="0"/>
          </a:p>
          <a:p>
            <a:pPr indent="0" marL="0">
              <a:lnSpc>
                <a:spcPts val="1870"/>
              </a:lnSpc>
              <a:buNone/>
            </a:pPr>
            <a:r>
              <a:rPr lang="en-US" sz="11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Email</a:t>
            </a:r>
            <a:endParaRPr lang="en-US" sz="1100" dirty="0"/>
          </a:p>
          <a:p>
            <a:pPr indent="0" marL="0">
              <a:lnSpc>
                <a:spcPts val="1870"/>
              </a:lnSpc>
              <a:buNone/>
            </a:pPr>
            <a:r>
              <a:rPr lang="en-US" sz="11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LicenseNo</a:t>
            </a:r>
            <a:endParaRPr lang="en-US" sz="1100" dirty="0"/>
          </a:p>
        </p:txBody>
      </p:sp>
      <p:sp>
        <p:nvSpPr>
          <p:cNvPr id="6" name="BOOKING entity"/>
          <p:cNvSpPr/>
          <p:nvPr/>
        </p:nvSpPr>
        <p:spPr>
          <a:xfrm>
            <a:off x="3429000" y="1371600"/>
            <a:ext cx="2240280" cy="2139696"/>
          </a:xfrm>
          <a:prstGeom prst="roundRect">
            <a:avLst>
              <a:gd name="adj" fmla="val 3419"/>
            </a:avLst>
          </a:prstGeom>
          <a:solidFill>
            <a:schemeClr val="tx2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7" name="BOOKING name"/>
          <p:cNvSpPr txBox="1"/>
          <p:nvPr/>
        </p:nvSpPr>
        <p:spPr>
          <a:xfrm>
            <a:off x="3429000" y="137160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BOOKING</a:t>
            </a:r>
            <a:endParaRPr lang="en-US" sz="1400" dirty="0"/>
          </a:p>
        </p:txBody>
      </p:sp>
      <p:sp>
        <p:nvSpPr>
          <p:cNvPr id="8" name="BOOKING fields"/>
          <p:cNvSpPr txBox="1"/>
          <p:nvPr/>
        </p:nvSpPr>
        <p:spPr>
          <a:xfrm>
            <a:off x="3593592" y="1755648"/>
            <a:ext cx="1965960" cy="1664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70"/>
              </a:lnSpc>
              <a:buNone/>
            </a:pPr>
            <a:r>
              <a:rPr lang="en-US" sz="1100" b="1" dirty="0">
                <a:solidFill>
                  <a:srgbClr val="FBB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BookingID  PK</a:t>
            </a:r>
            <a:endParaRPr lang="en-US" sz="1100" dirty="0"/>
          </a:p>
          <a:p>
            <a:pPr indent="0" marL="0">
              <a:lnSpc>
                <a:spcPts val="1870"/>
              </a:lnSpc>
              <a:buNone/>
            </a:pPr>
            <a:r>
              <a:rPr lang="en-US" sz="1100" b="1" dirty="0">
                <a:solidFill>
                  <a:srgbClr val="60A5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CustomerID  FK</a:t>
            </a:r>
            <a:endParaRPr lang="en-US" sz="1100" dirty="0"/>
          </a:p>
          <a:p>
            <a:pPr indent="0" marL="0">
              <a:lnSpc>
                <a:spcPts val="1870"/>
              </a:lnSpc>
              <a:buNone/>
            </a:pPr>
            <a:r>
              <a:rPr lang="en-US" sz="1100" b="1" dirty="0">
                <a:solidFill>
                  <a:srgbClr val="60A5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CarID  FK</a:t>
            </a:r>
            <a:endParaRPr lang="en-US" sz="1100" dirty="0"/>
          </a:p>
          <a:p>
            <a:pPr indent="0" marL="0">
              <a:lnSpc>
                <a:spcPts val="1870"/>
              </a:lnSpc>
              <a:buNone/>
            </a:pPr>
            <a:r>
              <a:rPr lang="en-US" sz="11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StartDate</a:t>
            </a:r>
            <a:endParaRPr lang="en-US" sz="1100" dirty="0"/>
          </a:p>
          <a:p>
            <a:pPr indent="0" marL="0">
              <a:lnSpc>
                <a:spcPts val="1870"/>
              </a:lnSpc>
              <a:buNone/>
            </a:pPr>
            <a:r>
              <a:rPr lang="en-US" sz="11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EndDate</a:t>
            </a:r>
            <a:endParaRPr lang="en-US" sz="1100" dirty="0"/>
          </a:p>
          <a:p>
            <a:pPr indent="0" marL="0">
              <a:lnSpc>
                <a:spcPts val="1870"/>
              </a:lnSpc>
              <a:buNone/>
            </a:pPr>
            <a:r>
              <a:rPr lang="en-US" sz="11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DepositAmount</a:t>
            </a:r>
            <a:endParaRPr lang="en-US" sz="1100" dirty="0"/>
          </a:p>
          <a:p>
            <a:pPr indent="0" marL="0">
              <a:lnSpc>
                <a:spcPts val="1870"/>
              </a:lnSpc>
              <a:buNone/>
            </a:pPr>
            <a:r>
              <a:rPr lang="en-US" sz="11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</a:t>
            </a:r>
            <a:endParaRPr lang="en-US" sz="1100" dirty="0"/>
          </a:p>
        </p:txBody>
      </p:sp>
      <p:sp>
        <p:nvSpPr>
          <p:cNvPr id="9" name="CAR entity"/>
          <p:cNvSpPr/>
          <p:nvPr/>
        </p:nvSpPr>
        <p:spPr>
          <a:xfrm>
            <a:off x="6309360" y="1371600"/>
            <a:ext cx="2240280" cy="1901952"/>
          </a:xfrm>
          <a:prstGeom prst="roundRect">
            <a:avLst>
              <a:gd name="adj" fmla="val 3846"/>
            </a:avLst>
          </a:prstGeom>
          <a:solidFill>
            <a:schemeClr val="tx2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10" name="CAR name"/>
          <p:cNvSpPr txBox="1"/>
          <p:nvPr/>
        </p:nvSpPr>
        <p:spPr>
          <a:xfrm>
            <a:off x="6309360" y="137160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CAR</a:t>
            </a:r>
            <a:endParaRPr lang="en-US" sz="1400" dirty="0"/>
          </a:p>
        </p:txBody>
      </p:sp>
      <p:sp>
        <p:nvSpPr>
          <p:cNvPr id="11" name="CAR fields"/>
          <p:cNvSpPr txBox="1"/>
          <p:nvPr/>
        </p:nvSpPr>
        <p:spPr>
          <a:xfrm>
            <a:off x="6473952" y="1755648"/>
            <a:ext cx="1965960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70"/>
              </a:lnSpc>
              <a:buNone/>
            </a:pPr>
            <a:r>
              <a:rPr lang="en-US" sz="1100" b="1" dirty="0">
                <a:solidFill>
                  <a:srgbClr val="FBB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CarID  PK</a:t>
            </a:r>
            <a:endParaRPr lang="en-US" sz="1100" dirty="0"/>
          </a:p>
          <a:p>
            <a:pPr indent="0" marL="0">
              <a:lnSpc>
                <a:spcPts val="1870"/>
              </a:lnSpc>
              <a:buNone/>
            </a:pPr>
            <a:r>
              <a:rPr lang="en-US" sz="1100" b="1" dirty="0">
                <a:solidFill>
                  <a:srgbClr val="60A5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CarTypeID  FK</a:t>
            </a:r>
            <a:endParaRPr lang="en-US" sz="1100" dirty="0"/>
          </a:p>
          <a:p>
            <a:pPr indent="0" marL="0">
              <a:lnSpc>
                <a:spcPts val="1870"/>
              </a:lnSpc>
              <a:buNone/>
            </a:pPr>
            <a:r>
              <a:rPr lang="en-US" sz="11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LicensePlate</a:t>
            </a:r>
            <a:endParaRPr lang="en-US" sz="1100" dirty="0"/>
          </a:p>
          <a:p>
            <a:pPr indent="0" marL="0">
              <a:lnSpc>
                <a:spcPts val="1870"/>
              </a:lnSpc>
              <a:buNone/>
            </a:pPr>
            <a:r>
              <a:rPr lang="en-US" sz="11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Brand / Model</a:t>
            </a:r>
            <a:endParaRPr lang="en-US" sz="1100" dirty="0"/>
          </a:p>
          <a:p>
            <a:pPr indent="0" marL="0">
              <a:lnSpc>
                <a:spcPts val="1870"/>
              </a:lnSpc>
              <a:buNone/>
            </a:pPr>
            <a:r>
              <a:rPr lang="en-US" sz="11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DailyRate</a:t>
            </a:r>
            <a:endParaRPr lang="en-US" sz="1100" dirty="0"/>
          </a:p>
          <a:p>
            <a:pPr indent="0" marL="0">
              <a:lnSpc>
                <a:spcPts val="1870"/>
              </a:lnSpc>
              <a:buNone/>
            </a:pPr>
            <a:r>
              <a:rPr lang="en-US" sz="11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</a:t>
            </a:r>
            <a:endParaRPr lang="en-US" sz="1100" dirty="0"/>
          </a:p>
        </p:txBody>
      </p:sp>
      <p:sp>
        <p:nvSpPr>
          <p:cNvPr id="12" name="CAR_TYPE entity"/>
          <p:cNvSpPr/>
          <p:nvPr/>
        </p:nvSpPr>
        <p:spPr>
          <a:xfrm>
            <a:off x="9189720" y="1371600"/>
            <a:ext cx="2240280" cy="1188720"/>
          </a:xfrm>
          <a:prstGeom prst="roundRect">
            <a:avLst>
              <a:gd name="adj" fmla="val 6154"/>
            </a:avLst>
          </a:prstGeom>
          <a:solidFill>
            <a:schemeClr val="tx2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13" name="CAR_TYPE name"/>
          <p:cNvSpPr txBox="1"/>
          <p:nvPr/>
        </p:nvSpPr>
        <p:spPr>
          <a:xfrm>
            <a:off x="9189720" y="137160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CAR_TYPE</a:t>
            </a:r>
            <a:endParaRPr lang="en-US" sz="1400" dirty="0"/>
          </a:p>
        </p:txBody>
      </p:sp>
      <p:sp>
        <p:nvSpPr>
          <p:cNvPr id="14" name="CAR_TYPE fields"/>
          <p:cNvSpPr txBox="1"/>
          <p:nvPr/>
        </p:nvSpPr>
        <p:spPr>
          <a:xfrm>
            <a:off x="9354312" y="1755648"/>
            <a:ext cx="19659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70"/>
              </a:lnSpc>
              <a:buNone/>
            </a:pPr>
            <a:r>
              <a:rPr lang="en-US" sz="1100" b="1" dirty="0">
                <a:solidFill>
                  <a:srgbClr val="FBB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CarTypeID  PK</a:t>
            </a:r>
            <a:endParaRPr lang="en-US" sz="1100" dirty="0"/>
          </a:p>
          <a:p>
            <a:pPr indent="0" marL="0">
              <a:lnSpc>
                <a:spcPts val="1870"/>
              </a:lnSpc>
              <a:buNone/>
            </a:pPr>
            <a:r>
              <a:rPr lang="en-US" sz="11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TypeName</a:t>
            </a:r>
            <a:endParaRPr lang="en-US" sz="1100" dirty="0"/>
          </a:p>
          <a:p>
            <a:pPr indent="0" marL="0">
              <a:lnSpc>
                <a:spcPts val="1870"/>
              </a:lnSpc>
              <a:buNone/>
            </a:pPr>
            <a:r>
              <a:rPr lang="en-US" sz="11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Description</a:t>
            </a:r>
            <a:endParaRPr lang="en-US" sz="1100" dirty="0"/>
          </a:p>
        </p:txBody>
      </p:sp>
      <p:sp>
        <p:nvSpPr>
          <p:cNvPr id="15" name="RENTAL entity"/>
          <p:cNvSpPr/>
          <p:nvPr/>
        </p:nvSpPr>
        <p:spPr>
          <a:xfrm>
            <a:off x="1737360" y="4069080"/>
            <a:ext cx="2240280" cy="1901952"/>
          </a:xfrm>
          <a:prstGeom prst="roundRect">
            <a:avLst>
              <a:gd name="adj" fmla="val 3846"/>
            </a:avLst>
          </a:prstGeom>
          <a:solidFill>
            <a:schemeClr val="tx2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16" name="RENTAL name"/>
          <p:cNvSpPr txBox="1"/>
          <p:nvPr/>
        </p:nvSpPr>
        <p:spPr>
          <a:xfrm>
            <a:off x="1737360" y="406908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RENTAL</a:t>
            </a:r>
            <a:endParaRPr lang="en-US" sz="1400" dirty="0"/>
          </a:p>
        </p:txBody>
      </p:sp>
      <p:sp>
        <p:nvSpPr>
          <p:cNvPr id="17" name="RENTAL fields"/>
          <p:cNvSpPr txBox="1"/>
          <p:nvPr/>
        </p:nvSpPr>
        <p:spPr>
          <a:xfrm>
            <a:off x="1901952" y="4453128"/>
            <a:ext cx="1965960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70"/>
              </a:lnSpc>
              <a:buNone/>
            </a:pPr>
            <a:r>
              <a:rPr lang="en-US" sz="1100" b="1" dirty="0">
                <a:solidFill>
                  <a:srgbClr val="FBB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RentalID  PK</a:t>
            </a:r>
            <a:endParaRPr lang="en-US" sz="1100" dirty="0"/>
          </a:p>
          <a:p>
            <a:pPr indent="0" marL="0">
              <a:lnSpc>
                <a:spcPts val="1870"/>
              </a:lnSpc>
              <a:buNone/>
            </a:pPr>
            <a:r>
              <a:rPr lang="en-US" sz="1100" b="1" dirty="0">
                <a:solidFill>
                  <a:srgbClr val="60A5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BookingID  FK</a:t>
            </a:r>
            <a:endParaRPr lang="en-US" sz="1100" dirty="0"/>
          </a:p>
          <a:p>
            <a:pPr indent="0" marL="0">
              <a:lnSpc>
                <a:spcPts val="1870"/>
              </a:lnSpc>
              <a:buNone/>
            </a:pPr>
            <a:r>
              <a:rPr lang="en-US" sz="11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ActualRentDate</a:t>
            </a:r>
            <a:endParaRPr lang="en-US" sz="1100" dirty="0"/>
          </a:p>
          <a:p>
            <a:pPr indent="0" marL="0">
              <a:lnSpc>
                <a:spcPts val="1870"/>
              </a:lnSpc>
              <a:buNone/>
            </a:pPr>
            <a:r>
              <a:rPr lang="en-US" sz="11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ActualReturnDate</a:t>
            </a:r>
            <a:endParaRPr lang="en-US" sz="1100" dirty="0"/>
          </a:p>
          <a:p>
            <a:pPr indent="0" marL="0">
              <a:lnSpc>
                <a:spcPts val="1870"/>
              </a:lnSpc>
              <a:buNone/>
            </a:pPr>
            <a:r>
              <a:rPr lang="en-US" sz="11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TotalAmount</a:t>
            </a:r>
            <a:endParaRPr lang="en-US" sz="1100" dirty="0"/>
          </a:p>
          <a:p>
            <a:pPr indent="0" marL="0">
              <a:lnSpc>
                <a:spcPts val="1870"/>
              </a:lnSpc>
              <a:buNone/>
            </a:pPr>
            <a:r>
              <a:rPr lang="en-US" sz="11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</a:t>
            </a:r>
            <a:endParaRPr lang="en-US" sz="1100" dirty="0"/>
          </a:p>
        </p:txBody>
      </p:sp>
      <p:sp>
        <p:nvSpPr>
          <p:cNvPr id="18" name="PAYMENT entity"/>
          <p:cNvSpPr/>
          <p:nvPr/>
        </p:nvSpPr>
        <p:spPr>
          <a:xfrm>
            <a:off x="5120640" y="4069080"/>
            <a:ext cx="2240280" cy="1901952"/>
          </a:xfrm>
          <a:prstGeom prst="roundRect">
            <a:avLst>
              <a:gd name="adj" fmla="val 3846"/>
            </a:avLst>
          </a:prstGeom>
          <a:solidFill>
            <a:schemeClr val="tx2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19" name="PAYMENT name"/>
          <p:cNvSpPr txBox="1"/>
          <p:nvPr/>
        </p:nvSpPr>
        <p:spPr>
          <a:xfrm>
            <a:off x="5120640" y="406908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PAYMENT</a:t>
            </a:r>
            <a:endParaRPr lang="en-US" sz="1400" dirty="0"/>
          </a:p>
        </p:txBody>
      </p:sp>
      <p:sp>
        <p:nvSpPr>
          <p:cNvPr id="20" name="PAYMENT fields"/>
          <p:cNvSpPr txBox="1"/>
          <p:nvPr/>
        </p:nvSpPr>
        <p:spPr>
          <a:xfrm>
            <a:off x="5285232" y="4453128"/>
            <a:ext cx="1965960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70"/>
              </a:lnSpc>
              <a:buNone/>
            </a:pPr>
            <a:r>
              <a:rPr lang="en-US" sz="1100" b="1" dirty="0">
                <a:solidFill>
                  <a:srgbClr val="FBB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PaymentID  PK</a:t>
            </a:r>
            <a:endParaRPr lang="en-US" sz="1100" dirty="0"/>
          </a:p>
          <a:p>
            <a:pPr indent="0" marL="0">
              <a:lnSpc>
                <a:spcPts val="1870"/>
              </a:lnSpc>
              <a:buNone/>
            </a:pPr>
            <a:r>
              <a:rPr lang="en-US" sz="1100" b="1" dirty="0">
                <a:solidFill>
                  <a:srgbClr val="60A5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BookingID  FK</a:t>
            </a:r>
            <a:endParaRPr lang="en-US" sz="1100" dirty="0"/>
          </a:p>
          <a:p>
            <a:pPr indent="0" marL="0">
              <a:lnSpc>
                <a:spcPts val="1870"/>
              </a:lnSpc>
              <a:buNone/>
            </a:pPr>
            <a:r>
              <a:rPr lang="en-US" sz="1100" b="1" dirty="0">
                <a:solidFill>
                  <a:srgbClr val="60A5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RentalID  FK</a:t>
            </a:r>
            <a:endParaRPr lang="en-US" sz="1100" dirty="0"/>
          </a:p>
          <a:p>
            <a:pPr indent="0" marL="0">
              <a:lnSpc>
                <a:spcPts val="1870"/>
              </a:lnSpc>
              <a:buNone/>
            </a:pPr>
            <a:r>
              <a:rPr lang="en-US" sz="11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Amount</a:t>
            </a:r>
            <a:endParaRPr lang="en-US" sz="1100" dirty="0"/>
          </a:p>
          <a:p>
            <a:pPr indent="0" marL="0">
              <a:lnSpc>
                <a:spcPts val="1870"/>
              </a:lnSpc>
              <a:buNone/>
            </a:pPr>
            <a:r>
              <a:rPr lang="en-US" sz="11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PaymentMethod</a:t>
            </a:r>
            <a:endParaRPr lang="en-US" sz="1100" dirty="0"/>
          </a:p>
          <a:p>
            <a:pPr indent="0" marL="0">
              <a:lnSpc>
                <a:spcPts val="1870"/>
              </a:lnSpc>
              <a:buNone/>
            </a:pPr>
            <a:r>
              <a:rPr lang="en-US" sz="11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PaymentType</a:t>
            </a:r>
            <a:endParaRPr lang="en-US" sz="1100" dirty="0"/>
          </a:p>
        </p:txBody>
      </p:sp>
      <p:sp>
        <p:nvSpPr>
          <p:cNvPr id="21" name="relationship 1 : N"/>
          <p:cNvSpPr/>
          <p:nvPr/>
        </p:nvSpPr>
        <p:spPr>
          <a:xfrm>
            <a:off x="2788920" y="2057400"/>
            <a:ext cx="640080" cy="914"/>
          </a:xfrm>
          <a:prstGeom prst="line">
            <a:avLst/>
          </a:prstGeom>
          <a:noFill/>
          <a:ln w="22225">
            <a:solidFill>
              <a:schemeClr val="accent2"/>
            </a:solidFill>
            <a:prstDash val="solid"/>
          </a:ln>
        </p:spPr>
      </p:sp>
      <p:sp>
        <p:nvSpPr>
          <p:cNvPr id="22" name="cardinality"/>
          <p:cNvSpPr txBox="1"/>
          <p:nvPr/>
        </p:nvSpPr>
        <p:spPr>
          <a:xfrm>
            <a:off x="2697480" y="175564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1 : N</a:t>
            </a:r>
            <a:endParaRPr lang="en-US" sz="1100" dirty="0"/>
          </a:p>
        </p:txBody>
      </p:sp>
      <p:sp>
        <p:nvSpPr>
          <p:cNvPr id="23" name="relationship N : 1"/>
          <p:cNvSpPr/>
          <p:nvPr/>
        </p:nvSpPr>
        <p:spPr>
          <a:xfrm>
            <a:off x="5669280" y="2057400"/>
            <a:ext cx="640080" cy="914"/>
          </a:xfrm>
          <a:prstGeom prst="line">
            <a:avLst/>
          </a:prstGeom>
          <a:noFill/>
          <a:ln w="22225">
            <a:solidFill>
              <a:schemeClr val="accent2"/>
            </a:solidFill>
            <a:prstDash val="solid"/>
          </a:ln>
        </p:spPr>
      </p:sp>
      <p:sp>
        <p:nvSpPr>
          <p:cNvPr id="24" name="cardinality"/>
          <p:cNvSpPr txBox="1"/>
          <p:nvPr/>
        </p:nvSpPr>
        <p:spPr>
          <a:xfrm>
            <a:off x="5577840" y="175564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N : 1</a:t>
            </a:r>
            <a:endParaRPr lang="en-US" sz="1100" dirty="0"/>
          </a:p>
        </p:txBody>
      </p:sp>
      <p:sp>
        <p:nvSpPr>
          <p:cNvPr id="25" name="relationship N : 1"/>
          <p:cNvSpPr/>
          <p:nvPr/>
        </p:nvSpPr>
        <p:spPr>
          <a:xfrm>
            <a:off x="8549640" y="2057400"/>
            <a:ext cx="640080" cy="914"/>
          </a:xfrm>
          <a:prstGeom prst="line">
            <a:avLst/>
          </a:prstGeom>
          <a:noFill/>
          <a:ln w="22225">
            <a:solidFill>
              <a:schemeClr val="accent2"/>
            </a:solidFill>
            <a:prstDash val="solid"/>
          </a:ln>
        </p:spPr>
      </p:sp>
      <p:sp>
        <p:nvSpPr>
          <p:cNvPr id="26" name="cardinality"/>
          <p:cNvSpPr txBox="1"/>
          <p:nvPr/>
        </p:nvSpPr>
        <p:spPr>
          <a:xfrm>
            <a:off x="8458200" y="175564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N : 1</a:t>
            </a:r>
            <a:endParaRPr lang="en-US" sz="1100" dirty="0"/>
          </a:p>
        </p:txBody>
      </p:sp>
      <p:sp>
        <p:nvSpPr>
          <p:cNvPr id="27" name="relationship 1 : 0..1"/>
          <p:cNvSpPr/>
          <p:nvPr/>
        </p:nvSpPr>
        <p:spPr>
          <a:xfrm flipH="1">
            <a:off x="2857500" y="3511296"/>
            <a:ext cx="1348740" cy="557784"/>
          </a:xfrm>
          <a:prstGeom prst="line">
            <a:avLst/>
          </a:prstGeom>
          <a:noFill/>
          <a:ln w="22225">
            <a:solidFill>
              <a:schemeClr val="accent2"/>
            </a:solidFill>
            <a:prstDash val="solid"/>
          </a:ln>
        </p:spPr>
      </p:sp>
      <p:sp>
        <p:nvSpPr>
          <p:cNvPr id="28" name="cardinality"/>
          <p:cNvSpPr txBox="1"/>
          <p:nvPr/>
        </p:nvSpPr>
        <p:spPr>
          <a:xfrm>
            <a:off x="2743200" y="3611880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1 : 0..1</a:t>
            </a:r>
            <a:endParaRPr lang="en-US" sz="1100" dirty="0"/>
          </a:p>
        </p:txBody>
      </p:sp>
      <p:sp>
        <p:nvSpPr>
          <p:cNvPr id="29" name="relationship 1 : N"/>
          <p:cNvSpPr/>
          <p:nvPr/>
        </p:nvSpPr>
        <p:spPr>
          <a:xfrm>
            <a:off x="4937760" y="3511296"/>
            <a:ext cx="1303020" cy="557784"/>
          </a:xfrm>
          <a:prstGeom prst="line">
            <a:avLst/>
          </a:prstGeom>
          <a:noFill/>
          <a:ln w="22225">
            <a:solidFill>
              <a:schemeClr val="accent2"/>
            </a:solidFill>
            <a:prstDash val="solid"/>
          </a:ln>
        </p:spPr>
      </p:sp>
      <p:sp>
        <p:nvSpPr>
          <p:cNvPr id="30" name="cardinality"/>
          <p:cNvSpPr txBox="1"/>
          <p:nvPr/>
        </p:nvSpPr>
        <p:spPr>
          <a:xfrm>
            <a:off x="5623560" y="3611880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1 : N</a:t>
            </a:r>
            <a:endParaRPr lang="en-US" sz="1100" dirty="0"/>
          </a:p>
        </p:txBody>
      </p:sp>
      <p:sp>
        <p:nvSpPr>
          <p:cNvPr id="31" name="relationship 1 : N"/>
          <p:cNvSpPr/>
          <p:nvPr/>
        </p:nvSpPr>
        <p:spPr>
          <a:xfrm>
            <a:off x="3977640" y="4846320"/>
            <a:ext cx="1143000" cy="914"/>
          </a:xfrm>
          <a:prstGeom prst="line">
            <a:avLst/>
          </a:prstGeom>
          <a:noFill/>
          <a:ln w="22225">
            <a:solidFill>
              <a:schemeClr val="accent2"/>
            </a:solidFill>
            <a:prstDash val="solid"/>
          </a:ln>
        </p:spPr>
      </p:sp>
      <p:sp>
        <p:nvSpPr>
          <p:cNvPr id="32" name="cardinality"/>
          <p:cNvSpPr txBox="1"/>
          <p:nvPr/>
        </p:nvSpPr>
        <p:spPr>
          <a:xfrm>
            <a:off x="3931920" y="4553712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1 : N</a:t>
            </a:r>
            <a:endParaRPr lang="en-US" sz="1100" dirty="0"/>
          </a:p>
        </p:txBody>
      </p:sp>
      <p:sp>
        <p:nvSpPr>
          <p:cNvPr id="33" name="erd notes"/>
          <p:cNvSpPr/>
          <p:nvPr/>
        </p:nvSpPr>
        <p:spPr>
          <a:xfrm>
            <a:off x="7863840" y="4069080"/>
            <a:ext cx="3776472" cy="2011680"/>
          </a:xfrm>
          <a:prstGeom prst="roundRect">
            <a:avLst>
              <a:gd name="adj" fmla="val 5455"/>
            </a:avLst>
          </a:prstGeom>
          <a:solidFill>
            <a:schemeClr val="accent4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8092440" y="4206240"/>
            <a:ext cx="338328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chemeClr val="accent2"/>
                </a:solidFill>
              </a:rPr>
              <a:t>PK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chemeClr val="bg1"/>
                </a:solidFill>
              </a:rPr>
              <a:t> Primary Key   </a:t>
            </a:r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chemeClr val="accent5"/>
                </a:solidFill>
              </a:rPr>
              <a:t>FK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chemeClr val="bg1"/>
                </a:solidFill>
              </a:rPr>
              <a:t> Foreign Key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chemeClr val="accent1"/>
                </a:solidFill>
              </a:rPr>
              <a:t>ทำไมแยก BOOKING กับ RENTAL?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chemeClr val="bg2"/>
                </a:solidFill>
              </a:rPr>
              <a:t>การจองยกเลิกได้และจ่ายมัดจำก่อน ส่วนการเช่าคือการรับรถจริง จึงเป็น 1 : 0..1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Kanit" pitchFamily="34" charset="0"/>
                <a:ea typeface="Kanit" pitchFamily="34" charset="-122"/>
                <a:cs typeface="Kanit" pitchFamily="34" charset="-120"/>
              </a:rPr>
              <a:t>Normalization: 1NF → 2NF → 3NF</a:t>
            </a:r>
            <a:endParaRPr lang="en-US" sz="3000" dirty="0"/>
          </a:p>
        </p:txBody>
      </p:sp>
      <p:sp>
        <p:nvSpPr>
          <p:cNvPr id="3" name="normal form card"/>
          <p:cNvSpPr/>
          <p:nvPr/>
        </p:nvSpPr>
        <p:spPr>
          <a:xfrm>
            <a:off x="548640" y="1371600"/>
            <a:ext cx="6949440" cy="1298448"/>
          </a:xfrm>
          <a:prstGeom prst="roundRect">
            <a:avLst>
              <a:gd name="adj" fmla="val 8451"/>
            </a:avLst>
          </a:prstGeom>
          <a:solidFill>
            <a:schemeClr val="tx2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4" name="1NF tag"/>
          <p:cNvSpPr/>
          <p:nvPr/>
        </p:nvSpPr>
        <p:spPr>
          <a:xfrm>
            <a:off x="749808" y="1609344"/>
            <a:ext cx="1097280" cy="822960"/>
          </a:xfrm>
          <a:prstGeom prst="roundRect">
            <a:avLst>
              <a:gd name="adj" fmla="val 11111"/>
            </a:avLst>
          </a:prstGeom>
          <a:solidFill>
            <a:schemeClr val="accent3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49808" y="1609344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Kanit" pitchFamily="34" charset="0"/>
                <a:ea typeface="Kanit" pitchFamily="34" charset="-122"/>
                <a:cs typeface="Kanit" pitchFamily="34" charset="-120"/>
              </a:rPr>
              <a:t>1NF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2057400" y="1481328"/>
            <a:ext cx="5257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ตาราง BOOKING มีข้อมูลลูกค้าปนอยู่ (Name, Phone, Email, LicenseNo) และ CAR มี TypeName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ค่าทุกช่องเป็นค่าเดี่ยว แต่ยังซ้ำซ้อน</a:t>
            </a:r>
            <a:endParaRPr lang="en-US" sz="1500" dirty="0"/>
          </a:p>
        </p:txBody>
      </p:sp>
      <p:sp>
        <p:nvSpPr>
          <p:cNvPr id="7" name="normal form card"/>
          <p:cNvSpPr/>
          <p:nvPr/>
        </p:nvSpPr>
        <p:spPr>
          <a:xfrm>
            <a:off x="548640" y="2852928"/>
            <a:ext cx="6949440" cy="1298448"/>
          </a:xfrm>
          <a:prstGeom prst="roundRect">
            <a:avLst>
              <a:gd name="adj" fmla="val 8451"/>
            </a:avLst>
          </a:prstGeom>
          <a:solidFill>
            <a:schemeClr val="tx2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8" name="2NF tag"/>
          <p:cNvSpPr/>
          <p:nvPr/>
        </p:nvSpPr>
        <p:spPr>
          <a:xfrm>
            <a:off x="749808" y="3090672"/>
            <a:ext cx="1097280" cy="822960"/>
          </a:xfrm>
          <a:prstGeom prst="roundRect">
            <a:avLst>
              <a:gd name="adj" fmla="val 11111"/>
            </a:avLst>
          </a:prstGeom>
          <a:solidFill>
            <a:schemeClr val="accent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49808" y="3090672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Kanit" pitchFamily="34" charset="0"/>
                <a:ea typeface="Kanit" pitchFamily="34" charset="-122"/>
                <a:cs typeface="Kanit" pitchFamily="34" charset="-120"/>
              </a:rPr>
              <a:t>2NF</a:t>
            </a:r>
            <a:endParaRPr lang="en-US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2057400" y="2962656"/>
            <a:ext cx="5257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แยก CUSTOMER ออกจาก BOOKING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ตัด Partial Dependency: ข้อมูลลูกค้าขึ้นกับ CustomerID ไม่ใช่ BookingID</a:t>
            </a:r>
            <a:endParaRPr lang="en-US" sz="1500" dirty="0"/>
          </a:p>
        </p:txBody>
      </p:sp>
      <p:sp>
        <p:nvSpPr>
          <p:cNvPr id="11" name="normal form card"/>
          <p:cNvSpPr/>
          <p:nvPr/>
        </p:nvSpPr>
        <p:spPr>
          <a:xfrm>
            <a:off x="548640" y="4334256"/>
            <a:ext cx="6949440" cy="1298448"/>
          </a:xfrm>
          <a:prstGeom prst="roundRect">
            <a:avLst>
              <a:gd name="adj" fmla="val 8451"/>
            </a:avLst>
          </a:prstGeom>
          <a:solidFill>
            <a:schemeClr val="tx2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12" name="3NF tag"/>
          <p:cNvSpPr/>
          <p:nvPr/>
        </p:nvSpPr>
        <p:spPr>
          <a:xfrm>
            <a:off x="749808" y="4572000"/>
            <a:ext cx="1097280" cy="822960"/>
          </a:xfrm>
          <a:prstGeom prst="roundRect">
            <a:avLst>
              <a:gd name="adj" fmla="val 11111"/>
            </a:avLst>
          </a:prstGeom>
          <a:solidFill>
            <a:schemeClr val="accent1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49808" y="457200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Kanit" pitchFamily="34" charset="0"/>
                <a:ea typeface="Kanit" pitchFamily="34" charset="-122"/>
                <a:cs typeface="Kanit" pitchFamily="34" charset="-120"/>
              </a:rPr>
              <a:t>3NF</a:t>
            </a:r>
            <a:endParaRPr lang="en-US" sz="2400" dirty="0"/>
          </a:p>
        </p:txBody>
      </p:sp>
      <p:sp>
        <p:nvSpPr>
          <p:cNvPr id="14" name="Text 12"/>
          <p:cNvSpPr txBox="1"/>
          <p:nvPr/>
        </p:nvSpPr>
        <p:spPr>
          <a:xfrm>
            <a:off x="2057400" y="4443984"/>
            <a:ext cx="5257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แยก CAR_TYPE ออกจาก CAR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ตัด Transitive Dependency: CarID → CarTypeID → TypeName</a:t>
            </a:r>
            <a:endParaRPr lang="en-US" sz="1500" dirty="0"/>
          </a:p>
        </p:txBody>
      </p:sp>
      <p:sp>
        <p:nvSpPr>
          <p:cNvPr id="15" name="nf result"/>
          <p:cNvSpPr/>
          <p:nvPr/>
        </p:nvSpPr>
        <p:spPr>
          <a:xfrm>
            <a:off x="548640" y="5806440"/>
            <a:ext cx="6949440" cy="411480"/>
          </a:xfrm>
          <a:prstGeom prst="roundRect">
            <a:avLst>
              <a:gd name="adj" fmla="val 26667"/>
            </a:avLst>
          </a:prstGeom>
          <a:solidFill>
            <a:schemeClr val="tx1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5833872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ผลลัพธ์: 6 ตาราง ไม่มี Insertion / Update / Deletion Anomaly</a:t>
            </a:r>
            <a:endParaRPr lang="en-US" sz="1500" dirty="0"/>
          </a:p>
        </p:txBody>
      </p:sp>
      <p:sp>
        <p:nvSpPr>
          <p:cNvPr id="17" name="normalization diagram"/>
          <p:cNvSpPr/>
          <p:nvPr/>
        </p:nvSpPr>
        <p:spPr>
          <a:xfrm>
            <a:off x="7818120" y="1371600"/>
            <a:ext cx="3822192" cy="4846320"/>
          </a:xfrm>
          <a:prstGeom prst="roundRect">
            <a:avLst>
              <a:gd name="adj" fmla="val 2871"/>
            </a:avLst>
          </a:prstGeom>
          <a:solidFill>
            <a:schemeClr val="tx2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046720" y="150876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ก่อน (1NF)</a:t>
            </a:r>
            <a:endParaRPr lang="en-US" sz="1500" dirty="0"/>
          </a:p>
        </p:txBody>
      </p:sp>
      <p:sp>
        <p:nvSpPr>
          <p:cNvPr id="19" name="1NF booking box"/>
          <p:cNvSpPr/>
          <p:nvPr/>
        </p:nvSpPr>
        <p:spPr>
          <a:xfrm>
            <a:off x="8046720" y="1874520"/>
            <a:ext cx="3383280" cy="868680"/>
          </a:xfrm>
          <a:prstGeom prst="roundRect">
            <a:avLst>
              <a:gd name="adj" fmla="val 8421"/>
            </a:avLst>
          </a:prstGeom>
          <a:solidFill>
            <a:schemeClr val="accent6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20" name="1NF booking"/>
          <p:cNvSpPr txBox="1"/>
          <p:nvPr/>
        </p:nvSpPr>
        <p:spPr>
          <a:xfrm>
            <a:off x="8183880" y="1929384"/>
            <a:ext cx="315468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D4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BOOKING  </a:t>
            </a:r>
            <a:pPr indent="0" marL="0">
              <a:buNone/>
            </a:pPr>
            <a:r>
              <a:rPr lang="en-US" sz="11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BookingID, CarID, StartDate, EndDate, Status, </a:t>
            </a:r>
            <a:pPr indent="0" marL="0">
              <a:buNone/>
            </a:pPr>
            <a:r>
              <a:rPr lang="en-US" sz="1100" b="1" dirty="0">
                <a:solidFill>
                  <a:srgbClr val="FB71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Name, Phone, Email, LicenseNo</a:t>
            </a:r>
            <a:endParaRPr lang="en-US" sz="1100" dirty="0"/>
          </a:p>
        </p:txBody>
      </p:sp>
      <p:sp>
        <p:nvSpPr>
          <p:cNvPr id="21" name="1NF car box"/>
          <p:cNvSpPr/>
          <p:nvPr/>
        </p:nvSpPr>
        <p:spPr>
          <a:xfrm>
            <a:off x="8046720" y="2834640"/>
            <a:ext cx="3383280" cy="868680"/>
          </a:xfrm>
          <a:prstGeom prst="roundRect">
            <a:avLst>
              <a:gd name="adj" fmla="val 8421"/>
            </a:avLst>
          </a:prstGeom>
          <a:solidFill>
            <a:schemeClr val="accent6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22" name="1NF car"/>
          <p:cNvSpPr txBox="1"/>
          <p:nvPr/>
        </p:nvSpPr>
        <p:spPr>
          <a:xfrm>
            <a:off x="8183880" y="2889504"/>
            <a:ext cx="315468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D4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  </a:t>
            </a:r>
            <a:pPr indent="0" marL="0">
              <a:buNone/>
            </a:pPr>
            <a:r>
              <a:rPr lang="en-US" sz="11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CarID, CarTypeID, Brand, Model, DailyRate, </a:t>
            </a:r>
            <a:pPr indent="0" marL="0">
              <a:buNone/>
            </a:pPr>
            <a:r>
              <a:rPr lang="en-US" sz="1100" b="1" dirty="0">
                <a:solidFill>
                  <a:srgbClr val="FB71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TypeName</a:t>
            </a:r>
            <a:endParaRPr lang="en-US" sz="1100" dirty="0"/>
          </a:p>
        </p:txBody>
      </p:sp>
      <p:pic>
        <p:nvPicPr>
          <p:cNvPr id="23" name="normalize arrow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73768" y="3767328"/>
            <a:ext cx="320040" cy="320040"/>
          </a:xfrm>
          <a:prstGeom prst="rect">
            <a:avLst/>
          </a:prstGeom>
        </p:spPr>
      </p:pic>
      <p:sp>
        <p:nvSpPr>
          <p:cNvPr id="24" name="Text 21"/>
          <p:cNvSpPr txBox="1"/>
          <p:nvPr/>
        </p:nvSpPr>
        <p:spPr>
          <a:xfrm>
            <a:off x="8046720" y="411480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หลัง (3NF)</a:t>
            </a:r>
            <a:endParaRPr lang="en-US" sz="1500" dirty="0"/>
          </a:p>
        </p:txBody>
      </p:sp>
      <p:sp>
        <p:nvSpPr>
          <p:cNvPr id="25" name="3NF table bg"/>
          <p:cNvSpPr/>
          <p:nvPr/>
        </p:nvSpPr>
        <p:spPr>
          <a:xfrm>
            <a:off x="8046720" y="4526280"/>
            <a:ext cx="1645920" cy="347472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/>
        </p:spPr>
      </p:sp>
      <p:sp>
        <p:nvSpPr>
          <p:cNvPr id="26" name="3NF table"/>
          <p:cNvSpPr txBox="1"/>
          <p:nvPr/>
        </p:nvSpPr>
        <p:spPr>
          <a:xfrm>
            <a:off x="8046720" y="4526280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BOOKING</a:t>
            </a:r>
            <a:endParaRPr lang="en-US" sz="1200" dirty="0"/>
          </a:p>
        </p:txBody>
      </p:sp>
      <p:sp>
        <p:nvSpPr>
          <p:cNvPr id="27" name="3NF table bg"/>
          <p:cNvSpPr/>
          <p:nvPr/>
        </p:nvSpPr>
        <p:spPr>
          <a:xfrm>
            <a:off x="9784080" y="4526280"/>
            <a:ext cx="1645920" cy="347472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28" name="3NF table"/>
          <p:cNvSpPr txBox="1"/>
          <p:nvPr/>
        </p:nvSpPr>
        <p:spPr>
          <a:xfrm>
            <a:off x="9784080" y="4526280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CUSTOMER</a:t>
            </a:r>
            <a:endParaRPr lang="en-US" sz="1200" dirty="0"/>
          </a:p>
        </p:txBody>
      </p:sp>
      <p:sp>
        <p:nvSpPr>
          <p:cNvPr id="29" name="3NF table bg"/>
          <p:cNvSpPr/>
          <p:nvPr/>
        </p:nvSpPr>
        <p:spPr>
          <a:xfrm>
            <a:off x="8046720" y="5029200"/>
            <a:ext cx="1645920" cy="347472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/>
        </p:spPr>
      </p:sp>
      <p:sp>
        <p:nvSpPr>
          <p:cNvPr id="30" name="3NF table"/>
          <p:cNvSpPr txBox="1"/>
          <p:nvPr/>
        </p:nvSpPr>
        <p:spPr>
          <a:xfrm>
            <a:off x="8046720" y="5029200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CAR</a:t>
            </a:r>
            <a:endParaRPr lang="en-US" sz="1200" dirty="0"/>
          </a:p>
        </p:txBody>
      </p:sp>
      <p:sp>
        <p:nvSpPr>
          <p:cNvPr id="31" name="3NF table bg"/>
          <p:cNvSpPr/>
          <p:nvPr/>
        </p:nvSpPr>
        <p:spPr>
          <a:xfrm>
            <a:off x="9784080" y="5029200"/>
            <a:ext cx="1645920" cy="347472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32" name="3NF table"/>
          <p:cNvSpPr txBox="1"/>
          <p:nvPr/>
        </p:nvSpPr>
        <p:spPr>
          <a:xfrm>
            <a:off x="9784080" y="5029200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CAR_TYPE</a:t>
            </a:r>
            <a:endParaRPr lang="en-US" sz="1200" dirty="0"/>
          </a:p>
        </p:txBody>
      </p:sp>
      <p:sp>
        <p:nvSpPr>
          <p:cNvPr id="33" name="3NF table bg"/>
          <p:cNvSpPr/>
          <p:nvPr/>
        </p:nvSpPr>
        <p:spPr>
          <a:xfrm>
            <a:off x="8046720" y="5532120"/>
            <a:ext cx="1645920" cy="347472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/>
        </p:spPr>
      </p:sp>
      <p:sp>
        <p:nvSpPr>
          <p:cNvPr id="34" name="3NF table"/>
          <p:cNvSpPr txBox="1"/>
          <p:nvPr/>
        </p:nvSpPr>
        <p:spPr>
          <a:xfrm>
            <a:off x="8046720" y="5532120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RENTAL</a:t>
            </a:r>
            <a:endParaRPr lang="en-US" sz="1200" dirty="0"/>
          </a:p>
        </p:txBody>
      </p:sp>
      <p:sp>
        <p:nvSpPr>
          <p:cNvPr id="35" name="3NF table bg"/>
          <p:cNvSpPr/>
          <p:nvPr/>
        </p:nvSpPr>
        <p:spPr>
          <a:xfrm>
            <a:off x="9784080" y="5532120"/>
            <a:ext cx="1645920" cy="347472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/>
        </p:spPr>
      </p:sp>
      <p:sp>
        <p:nvSpPr>
          <p:cNvPr id="36" name="3NF table"/>
          <p:cNvSpPr txBox="1"/>
          <p:nvPr/>
        </p:nvSpPr>
        <p:spPr>
          <a:xfrm>
            <a:off x="9784080" y="5532120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PAYMENT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Kanit" pitchFamily="34" charset="0"/>
                <a:ea typeface="Kanit" pitchFamily="34" charset="-122"/>
                <a:cs typeface="Kanit" pitchFamily="34" charset="-120"/>
              </a:rPr>
              <a:t>Data Dictionary</a:t>
            </a:r>
            <a:endParaRPr lang="en-US" sz="3000" dirty="0"/>
          </a:p>
        </p:txBody>
      </p:sp>
      <p:graphicFrame>
        <p:nvGraphicFramePr>
          <p:cNvPr id="11" name="key summary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53949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554480"/>
                <a:gridCol w="237744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ตาราง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PK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FK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CUSTOMER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accent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CustomerID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accent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–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CAR_TYPE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accent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CarTypeID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accent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–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CAR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accent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CarID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accent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CarTypeID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BOOKING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accent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BookingID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accent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CustomerID, CarID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RENTAL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accent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RentalID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accent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BookingID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PAYMENT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accent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PaymentID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accent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BookingID, RentalID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489204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bg2"/>
                </a:solidFill>
              </a:rPr>
              <a:t>ชนิดข้อมูลที่ใช้</a:t>
            </a:r>
            <a:endParaRPr lang="en-US" sz="1500" dirty="0"/>
          </a:p>
        </p:txBody>
      </p:sp>
      <p:sp>
        <p:nvSpPr>
          <p:cNvPr id="5" name="type chip bg"/>
          <p:cNvSpPr/>
          <p:nvPr/>
        </p:nvSpPr>
        <p:spPr>
          <a:xfrm>
            <a:off x="548640" y="5303520"/>
            <a:ext cx="2606040" cy="347472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/>
        </p:spPr>
      </p:sp>
      <p:sp>
        <p:nvSpPr>
          <p:cNvPr id="6" name="type chip"/>
          <p:cNvSpPr txBox="1"/>
          <p:nvPr/>
        </p:nvSpPr>
        <p:spPr>
          <a:xfrm>
            <a:off x="548640" y="5303520"/>
            <a:ext cx="2606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INT / SERIAL</a:t>
            </a:r>
            <a:endParaRPr lang="en-US" sz="1200" dirty="0"/>
          </a:p>
        </p:txBody>
      </p:sp>
      <p:sp>
        <p:nvSpPr>
          <p:cNvPr id="7" name="type chip bg"/>
          <p:cNvSpPr/>
          <p:nvPr/>
        </p:nvSpPr>
        <p:spPr>
          <a:xfrm>
            <a:off x="3273552" y="5303520"/>
            <a:ext cx="2606040" cy="347472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/>
        </p:spPr>
      </p:sp>
      <p:sp>
        <p:nvSpPr>
          <p:cNvPr id="8" name="type chip"/>
          <p:cNvSpPr txBox="1"/>
          <p:nvPr/>
        </p:nvSpPr>
        <p:spPr>
          <a:xfrm>
            <a:off x="3273552" y="5303520"/>
            <a:ext cx="2606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VARCHAR(n)</a:t>
            </a:r>
            <a:endParaRPr lang="en-US" sz="1200" dirty="0"/>
          </a:p>
        </p:txBody>
      </p:sp>
      <p:sp>
        <p:nvSpPr>
          <p:cNvPr id="9" name="type chip bg"/>
          <p:cNvSpPr/>
          <p:nvPr/>
        </p:nvSpPr>
        <p:spPr>
          <a:xfrm>
            <a:off x="548640" y="5742432"/>
            <a:ext cx="2606040" cy="347472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/>
        </p:spPr>
      </p:sp>
      <p:sp>
        <p:nvSpPr>
          <p:cNvPr id="10" name="type chip"/>
          <p:cNvSpPr txBox="1"/>
          <p:nvPr/>
        </p:nvSpPr>
        <p:spPr>
          <a:xfrm>
            <a:off x="548640" y="5742432"/>
            <a:ext cx="2606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DECIMAL(10,2)</a:t>
            </a:r>
            <a:endParaRPr lang="en-US" sz="1200" dirty="0"/>
          </a:p>
        </p:txBody>
      </p:sp>
      <p:sp>
        <p:nvSpPr>
          <p:cNvPr id="11" name="type chip bg"/>
          <p:cNvSpPr/>
          <p:nvPr/>
        </p:nvSpPr>
        <p:spPr>
          <a:xfrm>
            <a:off x="3273552" y="5742432"/>
            <a:ext cx="2606040" cy="347472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/>
        </p:spPr>
      </p:sp>
      <p:sp>
        <p:nvSpPr>
          <p:cNvPr id="12" name="type chip"/>
          <p:cNvSpPr txBox="1"/>
          <p:nvPr/>
        </p:nvSpPr>
        <p:spPr>
          <a:xfrm>
            <a:off x="3273552" y="5742432"/>
            <a:ext cx="2606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TIMESTAMP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6263640" y="1371600"/>
            <a:ext cx="5376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ตัวอย่างรายละเอียด: ตาราง BOOKING</a:t>
            </a:r>
            <a:endParaRPr lang="en-US" sz="1500" dirty="0"/>
          </a:p>
        </p:txBody>
      </p:sp>
      <p:graphicFrame>
        <p:nvGraphicFramePr>
          <p:cNvPr id="21" name="booking dictionary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63640" y="1783080"/>
          <a:ext cx="5376672" cy="914400"/>
        </p:xfrm>
        <a:graphic>
          <a:graphicData uri="http://schemas.openxmlformats.org/drawingml/2006/table">
            <a:tbl>
              <a:tblPr/>
              <a:tblGrid>
                <a:gridCol w="1508760"/>
                <a:gridCol w="1463040"/>
                <a:gridCol w="548640"/>
                <a:gridCol w="1856232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Field</a:t>
                      </a:r>
                      <a:endParaRPr lang="en-US" sz="1200" dirty="0"/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Type</a:t>
                      </a:r>
                      <a:endParaRPr lang="en-US" sz="1200" dirty="0"/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Key</a:t>
                      </a:r>
                      <a:endParaRPr lang="en-US" sz="1200" dirty="0"/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คำอธิบาย</a:t>
                      </a:r>
                      <a:endParaRPr lang="en-US" sz="1200" dirty="0"/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BookingID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bg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INT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2"/>
                          </a:solidFill>
                        </a:rPr>
                        <a:t>PK</a:t>
                      </a:r>
                      <a:endParaRPr lang="en-US" sz="1200" dirty="0"/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bg1"/>
                          </a:solidFill>
                        </a:rPr>
                        <a:t>รหัสการจอง</a:t>
                      </a:r>
                      <a:endParaRPr lang="en-US" sz="1200" dirty="0"/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CustomerID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bg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INT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5"/>
                          </a:solidFill>
                        </a:rPr>
                        <a:t>FK</a:t>
                      </a:r>
                      <a:endParaRPr lang="en-US" sz="1200" dirty="0"/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bg1"/>
                          </a:solidFill>
                        </a:rPr>
                        <a:t>ลูกค้าที่จอง</a:t>
                      </a:r>
                      <a:endParaRPr lang="en-US" sz="1200" dirty="0"/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CarID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bg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INT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5"/>
                          </a:solidFill>
                        </a:rPr>
                        <a:t>FK</a:t>
                      </a:r>
                      <a:endParaRPr lang="en-US" sz="1200" dirty="0"/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bg1"/>
                          </a:solidFill>
                        </a:rPr>
                        <a:t>รถที่จอง</a:t>
                      </a:r>
                      <a:endParaRPr lang="en-US" sz="1200" dirty="0"/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BookingDate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bg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TIMESTAMP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bg1"/>
                          </a:solidFill>
                        </a:rPr>
                        <a:t>วันเวลาที่จอง</a:t>
                      </a:r>
                      <a:endParaRPr lang="en-US" sz="1200" dirty="0"/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StartDate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bg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TIMESTAMP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bg1"/>
                          </a:solidFill>
                        </a:rPr>
                        <a:t>วันเริ่มเช่า</a:t>
                      </a:r>
                      <a:endParaRPr lang="en-US" sz="1200" dirty="0"/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EndDate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bg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TIMESTAMP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bg1"/>
                          </a:solidFill>
                        </a:rPr>
                        <a:t>วันสิ้นสุดการเช่า</a:t>
                      </a:r>
                      <a:endParaRPr lang="en-US" sz="1200" dirty="0"/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DepositAmount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bg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DECIMAL(10,2)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bg1"/>
                          </a:solidFill>
                        </a:rPr>
                        <a:t>เงินมัดจำ</a:t>
                      </a:r>
                      <a:endParaRPr lang="en-US" sz="1200" dirty="0"/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Status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bg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VARCHAR(20)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bg1"/>
                          </a:solidFill>
                        </a:rPr>
                        <a:t>สถานะการจอง</a:t>
                      </a:r>
                      <a:endParaRPr lang="en-US" sz="1200" dirty="0"/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Kanit" pitchFamily="34" charset="0"/>
                <a:ea typeface="Kanit" pitchFamily="34" charset="-122"/>
                <a:cs typeface="Kanit" pitchFamily="34" charset="-120"/>
              </a:rPr>
              <a:t>สร้างฐานข้อมูลด้วย SQL DDL</a:t>
            </a:r>
            <a:endParaRPr lang="en-US" sz="3000" dirty="0"/>
          </a:p>
        </p:txBody>
      </p:sp>
      <p:sp>
        <p:nvSpPr>
          <p:cNvPr id="3" name="booking ddl panel"/>
          <p:cNvSpPr/>
          <p:nvPr/>
        </p:nvSpPr>
        <p:spPr>
          <a:xfrm>
            <a:off x="548640" y="1325880"/>
            <a:ext cx="6949440" cy="4846320"/>
          </a:xfrm>
          <a:prstGeom prst="roundRect">
            <a:avLst>
              <a:gd name="adj" fmla="val 1887"/>
            </a:avLst>
          </a:prstGeom>
          <a:solidFill>
            <a:schemeClr val="accent6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4" name="booking ddl"/>
          <p:cNvSpPr txBox="1"/>
          <p:nvPr/>
        </p:nvSpPr>
        <p:spPr>
          <a:xfrm>
            <a:off x="777240" y="1508760"/>
            <a:ext cx="649224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BB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</a:t>
            </a:r>
            <a:pPr indent="0" marL="0">
              <a:buNone/>
            </a:pPr>
            <a:r>
              <a:rPr lang="en-US" sz="15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FBB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TABLE</a:t>
            </a:r>
            <a:pPr indent="0" marL="0">
              <a:buNone/>
            </a:pPr>
            <a:r>
              <a:rPr lang="en-US" sz="15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booking</a:t>
            </a:r>
            <a:pPr indent="0" marL="0">
              <a:buNone/>
            </a:pPr>
            <a:r>
              <a:rPr lang="en-US" sz="15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(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5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booking_id</a:t>
            </a:r>
            <a:pPr indent="0" marL="0">
              <a:buNone/>
            </a:pPr>
            <a:r>
              <a:rPr lang="en-US" sz="15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500" dirty="0">
                <a:solidFill>
                  <a:srgbClr val="FBB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SERIAL</a:t>
            </a:r>
            <a:pPr indent="0" marL="0">
              <a:buNone/>
            </a:pPr>
            <a:r>
              <a:rPr lang="en-US" sz="15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FBB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PRIMARY</a:t>
            </a:r>
            <a:pPr indent="0" marL="0">
              <a:buNone/>
            </a:pPr>
            <a:r>
              <a:rPr lang="en-US" sz="15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FBB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pPr indent="0" marL="0">
              <a:buNone/>
            </a:pPr>
            <a:r>
              <a:rPr lang="en-US" sz="15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5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customer_id</a:t>
            </a:r>
            <a:pPr indent="0" marL="0">
              <a:buNone/>
            </a:pPr>
            <a:r>
              <a:rPr lang="en-US" sz="15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FBB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</a:t>
            </a:r>
            <a:pPr indent="0" marL="0">
              <a:buNone/>
            </a:pPr>
            <a:r>
              <a:rPr lang="en-US" sz="15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FBB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</a:t>
            </a:r>
            <a:pPr indent="0" marL="0">
              <a:buNone/>
            </a:pPr>
            <a:r>
              <a:rPr lang="en-US" sz="15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FBB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</a:t>
            </a:r>
            <a:pPr indent="0" marL="0">
              <a:buNone/>
            </a:pPr>
            <a:r>
              <a:rPr lang="en-US" sz="15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FBB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REFERENCES</a:t>
            </a:r>
            <a:pPr indent="0" marL="0">
              <a:buNone/>
            </a:pPr>
            <a:r>
              <a:rPr lang="en-US" sz="15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customer</a:t>
            </a:r>
            <a:pPr indent="0" marL="0">
              <a:buNone/>
            </a:pPr>
            <a:r>
              <a:rPr lang="en-US" sz="15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5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car_id</a:t>
            </a:r>
            <a:pPr indent="0" marL="0">
              <a:buNone/>
            </a:pPr>
            <a:r>
              <a:rPr lang="en-US" sz="15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buNone/>
            </a:pPr>
            <a:r>
              <a:rPr lang="en-US" sz="1500" dirty="0">
                <a:solidFill>
                  <a:srgbClr val="FBB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</a:t>
            </a:r>
            <a:pPr indent="0" marL="0">
              <a:buNone/>
            </a:pPr>
            <a:r>
              <a:rPr lang="en-US" sz="15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FBB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</a:t>
            </a:r>
            <a:pPr indent="0" marL="0">
              <a:buNone/>
            </a:pPr>
            <a:r>
              <a:rPr lang="en-US" sz="15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FBB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</a:t>
            </a:r>
            <a:pPr indent="0" marL="0">
              <a:buNone/>
            </a:pPr>
            <a:r>
              <a:rPr lang="en-US" sz="15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FBB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REFERENCES</a:t>
            </a:r>
            <a:pPr indent="0" marL="0">
              <a:buNone/>
            </a:pPr>
            <a:r>
              <a:rPr lang="en-US" sz="15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</a:t>
            </a:r>
            <a:pPr indent="0" marL="0">
              <a:buNone/>
            </a:pPr>
            <a:r>
              <a:rPr lang="en-US" sz="15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5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start_date</a:t>
            </a:r>
            <a:pPr indent="0" marL="0">
              <a:buNone/>
            </a:pPr>
            <a:r>
              <a:rPr lang="en-US" sz="15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500" dirty="0">
                <a:solidFill>
                  <a:srgbClr val="FBB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TIMESTAMP</a:t>
            </a:r>
            <a:pPr indent="0" marL="0">
              <a:buNone/>
            </a:pPr>
            <a:r>
              <a:rPr lang="en-US" sz="15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FBB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</a:t>
            </a:r>
            <a:pPr indent="0" marL="0">
              <a:buNone/>
            </a:pPr>
            <a:r>
              <a:rPr lang="en-US" sz="15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FBB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</a:t>
            </a:r>
            <a:pPr indent="0" marL="0">
              <a:buNone/>
            </a:pPr>
            <a:r>
              <a:rPr lang="en-US" sz="15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5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end_date</a:t>
            </a:r>
            <a:pPr indent="0" marL="0">
              <a:buNone/>
            </a:pPr>
            <a:r>
              <a:rPr lang="en-US" sz="15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500" dirty="0">
                <a:solidFill>
                  <a:srgbClr val="FBB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TIMESTAMP</a:t>
            </a:r>
            <a:pPr indent="0" marL="0">
              <a:buNone/>
            </a:pPr>
            <a:r>
              <a:rPr lang="en-US" sz="15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FBB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</a:t>
            </a:r>
            <a:pPr indent="0" marL="0">
              <a:buNone/>
            </a:pPr>
            <a:r>
              <a:rPr lang="en-US" sz="15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FBB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</a:t>
            </a:r>
            <a:pPr indent="0" marL="0">
              <a:buNone/>
            </a:pPr>
            <a:r>
              <a:rPr lang="en-US" sz="15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5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deposit_amount</a:t>
            </a:r>
            <a:pPr indent="0" marL="0">
              <a:buNone/>
            </a:pPr>
            <a:r>
              <a:rPr lang="en-US" sz="15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FBB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DECIMAL</a:t>
            </a:r>
            <a:pPr indent="0" marL="0">
              <a:buNone/>
            </a:pPr>
            <a:r>
              <a:rPr lang="en-US" sz="15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(10,2) </a:t>
            </a:r>
            <a:pPr indent="0" marL="0">
              <a:buNone/>
            </a:pPr>
            <a:r>
              <a:rPr lang="en-US" sz="1500" dirty="0">
                <a:solidFill>
                  <a:srgbClr val="FBB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DEFAULT</a:t>
            </a:r>
            <a:pPr indent="0" marL="0">
              <a:buNone/>
            </a:pPr>
            <a:r>
              <a:rPr lang="en-US" sz="15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0,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5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</a:t>
            </a:r>
            <a:pPr indent="0" marL="0">
              <a:buNone/>
            </a:pPr>
            <a:r>
              <a:rPr lang="en-US" sz="15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FBB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VARCHAR</a:t>
            </a:r>
            <a:pPr indent="0" marL="0">
              <a:buNone/>
            </a:pPr>
            <a:r>
              <a:rPr lang="en-US" sz="15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(20) </a:t>
            </a:r>
            <a:pPr indent="0" marL="0">
              <a:buNone/>
            </a:pPr>
            <a:r>
              <a:rPr lang="en-US" sz="1500" dirty="0">
                <a:solidFill>
                  <a:srgbClr val="FBB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DEFAULT</a:t>
            </a:r>
            <a:pPr indent="0" marL="0">
              <a:buNone/>
            </a:pPr>
            <a:r>
              <a:rPr lang="en-US" sz="15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2DD4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'Pending'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500" dirty="0">
                <a:solidFill>
                  <a:srgbClr val="FBB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CHECK</a:t>
            </a:r>
            <a:pPr indent="0" marL="0">
              <a:buNone/>
            </a:pPr>
            <a:r>
              <a:rPr lang="en-US" sz="15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(</a:t>
            </a:r>
            <a:pPr indent="0" marL="0">
              <a:buNone/>
            </a:pPr>
            <a:r>
              <a:rPr lang="en-US" sz="15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</a:t>
            </a:r>
            <a:pPr indent="0" marL="0">
              <a:buNone/>
            </a:pPr>
            <a:r>
              <a:rPr lang="en-US" sz="15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FBB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pPr indent="0" marL="0">
              <a:buNone/>
            </a:pPr>
            <a:r>
              <a:rPr lang="en-US" sz="15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(</a:t>
            </a:r>
            <a:pPr indent="0" marL="0">
              <a:buNone/>
            </a:pPr>
            <a:r>
              <a:rPr lang="en-US" sz="1500" dirty="0">
                <a:solidFill>
                  <a:srgbClr val="2DD4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'Pending'</a:t>
            </a:r>
            <a:pPr indent="0" marL="0">
              <a:buNone/>
            </a:pPr>
            <a:r>
              <a:rPr lang="en-US" sz="15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1500" dirty="0">
                <a:solidFill>
                  <a:srgbClr val="2DD4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'Confirmed'</a:t>
            </a:r>
            <a:pPr indent="0" marL="0">
              <a:buNone/>
            </a:pPr>
            <a:r>
              <a:rPr lang="en-US" sz="15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</a:t>
            </a:r>
            <a:pPr indent="0" marL="0">
              <a:buNone/>
            </a:pPr>
            <a:r>
              <a:rPr lang="en-US" sz="1500" dirty="0">
                <a:solidFill>
                  <a:srgbClr val="2DD4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'Cancelled'</a:t>
            </a:r>
            <a:pPr indent="0" marL="0">
              <a:buNone/>
            </a:pPr>
            <a:r>
              <a:rPr lang="en-US" sz="15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1500" dirty="0">
                <a:solidFill>
                  <a:srgbClr val="2DD4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'Completed'</a:t>
            </a:r>
            <a:pPr indent="0" marL="0">
              <a:buNone/>
            </a:pPr>
            <a:r>
              <a:rPr lang="en-US" sz="15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)),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500" dirty="0">
                <a:solidFill>
                  <a:srgbClr val="FBB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CHECK</a:t>
            </a:r>
            <a:pPr indent="0" marL="0">
              <a:buNone/>
            </a:pPr>
            <a:r>
              <a:rPr lang="en-US" sz="15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(</a:t>
            </a:r>
            <a:pPr indent="0" marL="0">
              <a:buNone/>
            </a:pPr>
            <a:r>
              <a:rPr lang="en-US" sz="15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end_date</a:t>
            </a:r>
            <a:pPr indent="0" marL="0">
              <a:buNone/>
            </a:pPr>
            <a:r>
              <a:rPr lang="en-US" sz="15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&gt; </a:t>
            </a:r>
            <a:pPr indent="0" marL="0">
              <a:buNone/>
            </a:pPr>
            <a:r>
              <a:rPr lang="en-US" sz="15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start_date</a:t>
            </a:r>
            <a:pPr indent="0" marL="0">
              <a:buNone/>
            </a:pPr>
            <a:r>
              <a:rPr lang="en-US" sz="15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),       </a:t>
            </a:r>
            <a:pPr indent="0" marL="0">
              <a:buNone/>
            </a:pPr>
            <a:r>
              <a:rPr lang="en-US" sz="15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BR7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500" dirty="0">
                <a:solidFill>
                  <a:srgbClr val="FBB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EXCLUDE</a:t>
            </a:r>
            <a:pPr indent="0" marL="0">
              <a:buNone/>
            </a:pPr>
            <a:r>
              <a:rPr lang="en-US" sz="15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FBB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USING</a:t>
            </a:r>
            <a:pPr indent="0" marL="0">
              <a:buNone/>
            </a:pPr>
            <a:r>
              <a:rPr lang="en-US" sz="15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gist</a:t>
            </a:r>
            <a:pPr indent="0" marL="0">
              <a:buNone/>
            </a:pPr>
            <a:r>
              <a:rPr lang="en-US" sz="15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(</a:t>
            </a:r>
            <a:pPr indent="0" marL="0">
              <a:buNone/>
            </a:pPr>
            <a:r>
              <a:rPr lang="en-US" sz="15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car_id</a:t>
            </a:r>
            <a:pPr indent="0" marL="0">
              <a:buNone/>
            </a:pPr>
            <a:r>
              <a:rPr lang="en-US" sz="15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FBB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</a:t>
            </a:r>
            <a:pPr indent="0" marL="0">
              <a:buNone/>
            </a:pPr>
            <a:r>
              <a:rPr lang="en-US" sz="15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=,   </a:t>
            </a:r>
            <a:pPr indent="0" marL="0">
              <a:buNone/>
            </a:pPr>
            <a:r>
              <a:rPr lang="en-US" sz="15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BR2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5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tsrange</a:t>
            </a:r>
            <a:pPr indent="0" marL="0">
              <a:buNone/>
            </a:pPr>
            <a:r>
              <a:rPr lang="en-US" sz="15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5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start_date</a:t>
            </a:r>
            <a:pPr indent="0" marL="0">
              <a:buNone/>
            </a:pPr>
            <a:r>
              <a:rPr lang="en-US" sz="15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5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end_date</a:t>
            </a:r>
            <a:pPr indent="0" marL="0">
              <a:buNone/>
            </a:pPr>
            <a:r>
              <a:rPr lang="en-US" sz="15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 </a:t>
            </a:r>
            <a:pPr indent="0" marL="0">
              <a:buNone/>
            </a:pPr>
            <a:r>
              <a:rPr lang="en-US" sz="1500" dirty="0">
                <a:solidFill>
                  <a:srgbClr val="FBB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</a:t>
            </a:r>
            <a:pPr indent="0" marL="0">
              <a:buNone/>
            </a:pPr>
            <a:r>
              <a:rPr lang="en-US" sz="15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&amp;&amp;)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500" dirty="0">
                <a:solidFill>
                  <a:srgbClr val="FBB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</a:t>
            </a:r>
            <a:pPr indent="0" marL="0">
              <a:buNone/>
            </a:pPr>
            <a:r>
              <a:rPr lang="en-US" sz="15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(</a:t>
            </a:r>
            <a:pPr indent="0" marL="0">
              <a:buNone/>
            </a:pPr>
            <a:r>
              <a:rPr lang="en-US" sz="15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</a:t>
            </a:r>
            <a:pPr indent="0" marL="0">
              <a:buNone/>
            </a:pPr>
            <a:r>
              <a:rPr lang="en-US" sz="15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&lt;&gt; </a:t>
            </a:r>
            <a:pPr indent="0" marL="0">
              <a:buNone/>
            </a:pPr>
            <a:r>
              <a:rPr lang="en-US" sz="1500" dirty="0">
                <a:solidFill>
                  <a:srgbClr val="2DD4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'Cancelled'</a:t>
            </a:r>
            <a:pPr indent="0" marL="0">
              <a:buNone/>
            </a:pPr>
            <a:r>
              <a:rPr lang="en-US" sz="15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500" dirty="0"/>
          </a:p>
        </p:txBody>
      </p:sp>
      <p:sp>
        <p:nvSpPr>
          <p:cNvPr id="5" name="ddl icon circle"/>
          <p:cNvSpPr/>
          <p:nvPr/>
        </p:nvSpPr>
        <p:spPr>
          <a:xfrm>
            <a:off x="7818120" y="1399032"/>
            <a:ext cx="603504" cy="603504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6" name="ddl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50891" y="1531803"/>
            <a:ext cx="337962" cy="33796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595360" y="1325880"/>
            <a:ext cx="30449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PK / FK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เชื่อม customer และ car</a:t>
            </a:r>
            <a:endParaRPr lang="en-US" sz="1600" dirty="0"/>
          </a:p>
        </p:txBody>
      </p:sp>
      <p:sp>
        <p:nvSpPr>
          <p:cNvPr id="8" name="ddl icon circle"/>
          <p:cNvSpPr/>
          <p:nvPr/>
        </p:nvSpPr>
        <p:spPr>
          <a:xfrm>
            <a:off x="7818120" y="2295144"/>
            <a:ext cx="603504" cy="603504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9" name="ddl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0891" y="2427915"/>
            <a:ext cx="337962" cy="33796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8595360" y="2221992"/>
            <a:ext cx="30449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CHECK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จำกัดค่าสถานะ และวันคืน &gt; วันรับ (BR7)</a:t>
            </a:r>
            <a:endParaRPr lang="en-US" sz="1600" dirty="0"/>
          </a:p>
        </p:txBody>
      </p:sp>
      <p:sp>
        <p:nvSpPr>
          <p:cNvPr id="11" name="ddl icon circle"/>
          <p:cNvSpPr/>
          <p:nvPr/>
        </p:nvSpPr>
        <p:spPr>
          <a:xfrm>
            <a:off x="7818120" y="3191256"/>
            <a:ext cx="603504" cy="603504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12" name="ddl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0891" y="3324027"/>
            <a:ext cx="337962" cy="337962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8595360" y="3118104"/>
            <a:ext cx="30449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3"/>
                </a:solidFill>
              </a:rPr>
              <a:t>EXCLUDE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รถคันเดิม + ช่วงเวลาซ้อน = ปฏิเสธทันที (BR2)</a:t>
            </a:r>
            <a:endParaRPr lang="en-US" sz="1600" dirty="0"/>
          </a:p>
        </p:txBody>
      </p:sp>
      <p:sp>
        <p:nvSpPr>
          <p:cNvPr id="14" name="ddl icon circle"/>
          <p:cNvSpPr/>
          <p:nvPr/>
        </p:nvSpPr>
        <p:spPr>
          <a:xfrm>
            <a:off x="7818120" y="4087368"/>
            <a:ext cx="603504" cy="603504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15" name="ddl 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50891" y="4220139"/>
            <a:ext cx="337962" cy="337962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8595360" y="4014216"/>
            <a:ext cx="30449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INDEX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car(status), booking(car_id) ค้นหาเร็วขึ้น</a:t>
            </a:r>
            <a:endParaRPr lang="en-US" sz="1600" dirty="0"/>
          </a:p>
        </p:txBody>
      </p:sp>
      <p:sp>
        <p:nvSpPr>
          <p:cNvPr id="17" name="ddl stats"/>
          <p:cNvSpPr/>
          <p:nvPr/>
        </p:nvSpPr>
        <p:spPr>
          <a:xfrm>
            <a:off x="7818120" y="4983480"/>
            <a:ext cx="3822192" cy="1188720"/>
          </a:xfrm>
          <a:prstGeom prst="roundRect">
            <a:avLst>
              <a:gd name="adj" fmla="val 9231"/>
            </a:avLst>
          </a:prstGeom>
          <a:solidFill>
            <a:schemeClr val="accent4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18" name="Text 12"/>
          <p:cNvSpPr txBox="1"/>
          <p:nvPr/>
        </p:nvSpPr>
        <p:spPr>
          <a:xfrm>
            <a:off x="8001000" y="5029200"/>
            <a:ext cx="3566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Kanit" pitchFamily="34" charset="0"/>
                <a:ea typeface="Kanit" pitchFamily="34" charset="-122"/>
                <a:cs typeface="Kanit" pitchFamily="34" charset="-120"/>
              </a:rPr>
              <a:t>6</a:t>
            </a:r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  <a:latin typeface="Kanit" pitchFamily="34" charset="0"/>
                <a:ea typeface="Kanit" pitchFamily="34" charset="-122"/>
                <a:cs typeface="Kanit" pitchFamily="34" charset="-120"/>
              </a:rPr>
              <a:t> ตาราง    </a:t>
            </a:r>
            <a:pPr indent="0" marL="0">
              <a:buNone/>
            </a:pPr>
            <a:r>
              <a:rPr lang="en-US" sz="4000" b="1" dirty="0">
                <a:solidFill>
                  <a:schemeClr val="accent2"/>
                </a:solidFill>
                <a:latin typeface="Kanit" pitchFamily="34" charset="0"/>
                <a:ea typeface="Kanit" pitchFamily="34" charset="-122"/>
                <a:cs typeface="Kanit" pitchFamily="34" charset="-120"/>
              </a:rPr>
              <a:t>30</a:t>
            </a:r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  <a:latin typeface="Kanit" pitchFamily="34" charset="0"/>
                <a:ea typeface="Kanit" pitchFamily="34" charset="-122"/>
                <a:cs typeface="Kanit" pitchFamily="34" charset="-120"/>
              </a:rPr>
              <a:t> constraints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Kanit" pitchFamily="34" charset="0"/>
                <a:ea typeface="Kanit" pitchFamily="34" charset="-122"/>
                <a:cs typeface="Kanit" pitchFamily="34" charset="-120"/>
              </a:rPr>
              <a:t>ตัวอย่างข้อมูล (Sample Data)</a:t>
            </a:r>
            <a:endParaRPr lang="en-US" sz="3000" dirty="0"/>
          </a:p>
        </p:txBody>
      </p:sp>
      <p:sp>
        <p:nvSpPr>
          <p:cNvPr id="3" name="kpi card"/>
          <p:cNvSpPr/>
          <p:nvPr/>
        </p:nvSpPr>
        <p:spPr>
          <a:xfrm>
            <a:off x="548640" y="1325880"/>
            <a:ext cx="1658569" cy="1325880"/>
          </a:xfrm>
          <a:prstGeom prst="roundRect">
            <a:avLst>
              <a:gd name="adj" fmla="val 8276"/>
            </a:avLst>
          </a:prstGeom>
          <a:solidFill>
            <a:schemeClr val="tx2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371600"/>
            <a:ext cx="165856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chemeClr val="accent1"/>
                </a:solidFill>
                <a:latin typeface="Kanit" pitchFamily="34" charset="0"/>
                <a:ea typeface="Kanit" pitchFamily="34" charset="-122"/>
                <a:cs typeface="Kanit" pitchFamily="34" charset="-120"/>
              </a:rPr>
              <a:t>4</a:t>
            </a:r>
            <a:endParaRPr lang="en-US" sz="4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148840"/>
            <a:ext cx="165856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bg2"/>
                </a:solidFill>
              </a:rPr>
              <a:t>ประเภทรถ</a:t>
            </a:r>
            <a:endParaRPr lang="en-US" sz="1500" dirty="0"/>
          </a:p>
        </p:txBody>
      </p:sp>
      <p:sp>
        <p:nvSpPr>
          <p:cNvPr id="6" name="kpi card"/>
          <p:cNvSpPr/>
          <p:nvPr/>
        </p:nvSpPr>
        <p:spPr>
          <a:xfrm>
            <a:off x="2435809" y="1325880"/>
            <a:ext cx="1658569" cy="1325880"/>
          </a:xfrm>
          <a:prstGeom prst="roundRect">
            <a:avLst>
              <a:gd name="adj" fmla="val 8276"/>
            </a:avLst>
          </a:prstGeom>
          <a:solidFill>
            <a:schemeClr val="tx2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435809" y="1371600"/>
            <a:ext cx="165856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chemeClr val="accent2"/>
                </a:solidFill>
                <a:latin typeface="Kanit" pitchFamily="34" charset="0"/>
                <a:ea typeface="Kanit" pitchFamily="34" charset="-122"/>
                <a:cs typeface="Kanit" pitchFamily="34" charset="-120"/>
              </a:rPr>
              <a:t>8</a:t>
            </a:r>
            <a:endParaRPr lang="en-US" sz="4400" dirty="0"/>
          </a:p>
        </p:txBody>
      </p:sp>
      <p:sp>
        <p:nvSpPr>
          <p:cNvPr id="8" name="Text 6"/>
          <p:cNvSpPr txBox="1"/>
          <p:nvPr/>
        </p:nvSpPr>
        <p:spPr>
          <a:xfrm>
            <a:off x="2435809" y="2148840"/>
            <a:ext cx="165856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bg2"/>
                </a:solidFill>
              </a:rPr>
              <a:t>คัน</a:t>
            </a:r>
            <a:endParaRPr lang="en-US" sz="1500" dirty="0"/>
          </a:p>
        </p:txBody>
      </p:sp>
      <p:sp>
        <p:nvSpPr>
          <p:cNvPr id="9" name="kpi card"/>
          <p:cNvSpPr/>
          <p:nvPr/>
        </p:nvSpPr>
        <p:spPr>
          <a:xfrm>
            <a:off x="4322978" y="1325880"/>
            <a:ext cx="1658569" cy="1325880"/>
          </a:xfrm>
          <a:prstGeom prst="roundRect">
            <a:avLst>
              <a:gd name="adj" fmla="val 8276"/>
            </a:avLst>
          </a:prstGeom>
          <a:solidFill>
            <a:schemeClr val="tx2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322978" y="1371600"/>
            <a:ext cx="165856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chemeClr val="accent1"/>
                </a:solidFill>
                <a:latin typeface="Kanit" pitchFamily="34" charset="0"/>
                <a:ea typeface="Kanit" pitchFamily="34" charset="-122"/>
                <a:cs typeface="Kanit" pitchFamily="34" charset="-120"/>
              </a:rPr>
              <a:t>6</a:t>
            </a:r>
            <a:endParaRPr lang="en-US" sz="4400" dirty="0"/>
          </a:p>
        </p:txBody>
      </p:sp>
      <p:sp>
        <p:nvSpPr>
          <p:cNvPr id="11" name="Text 9"/>
          <p:cNvSpPr txBox="1"/>
          <p:nvPr/>
        </p:nvSpPr>
        <p:spPr>
          <a:xfrm>
            <a:off x="4322978" y="2148840"/>
            <a:ext cx="165856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bg2"/>
                </a:solidFill>
              </a:rPr>
              <a:t>ลูกค้า</a:t>
            </a:r>
            <a:endParaRPr lang="en-US" sz="1500" dirty="0"/>
          </a:p>
        </p:txBody>
      </p:sp>
      <p:sp>
        <p:nvSpPr>
          <p:cNvPr id="12" name="kpi card"/>
          <p:cNvSpPr/>
          <p:nvPr/>
        </p:nvSpPr>
        <p:spPr>
          <a:xfrm>
            <a:off x="6210148" y="1325880"/>
            <a:ext cx="1658569" cy="1325880"/>
          </a:xfrm>
          <a:prstGeom prst="roundRect">
            <a:avLst>
              <a:gd name="adj" fmla="val 8276"/>
            </a:avLst>
          </a:prstGeom>
          <a:solidFill>
            <a:schemeClr val="tx2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210148" y="1371600"/>
            <a:ext cx="165856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chemeClr val="accent2"/>
                </a:solidFill>
                <a:latin typeface="Kanit" pitchFamily="34" charset="0"/>
                <a:ea typeface="Kanit" pitchFamily="34" charset="-122"/>
                <a:cs typeface="Kanit" pitchFamily="34" charset="-120"/>
              </a:rPr>
              <a:t>8</a:t>
            </a:r>
            <a:endParaRPr lang="en-US" sz="4400" dirty="0"/>
          </a:p>
        </p:txBody>
      </p:sp>
      <p:sp>
        <p:nvSpPr>
          <p:cNvPr id="14" name="Text 12"/>
          <p:cNvSpPr txBox="1"/>
          <p:nvPr/>
        </p:nvSpPr>
        <p:spPr>
          <a:xfrm>
            <a:off x="6210148" y="2148840"/>
            <a:ext cx="165856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bg2"/>
                </a:solidFill>
              </a:rPr>
              <a:t>การจอง</a:t>
            </a:r>
            <a:endParaRPr lang="en-US" sz="1500" dirty="0"/>
          </a:p>
        </p:txBody>
      </p:sp>
      <p:sp>
        <p:nvSpPr>
          <p:cNvPr id="15" name="kpi card"/>
          <p:cNvSpPr/>
          <p:nvPr/>
        </p:nvSpPr>
        <p:spPr>
          <a:xfrm>
            <a:off x="8097317" y="1325880"/>
            <a:ext cx="1658569" cy="1325880"/>
          </a:xfrm>
          <a:prstGeom prst="roundRect">
            <a:avLst>
              <a:gd name="adj" fmla="val 8276"/>
            </a:avLst>
          </a:prstGeom>
          <a:solidFill>
            <a:schemeClr val="tx2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097317" y="1371600"/>
            <a:ext cx="165856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chemeClr val="accent1"/>
                </a:solidFill>
                <a:latin typeface="Kanit" pitchFamily="34" charset="0"/>
                <a:ea typeface="Kanit" pitchFamily="34" charset="-122"/>
                <a:cs typeface="Kanit" pitchFamily="34" charset="-120"/>
              </a:rPr>
              <a:t>6</a:t>
            </a:r>
            <a:endParaRPr lang="en-US" sz="4400" dirty="0"/>
          </a:p>
        </p:txBody>
      </p:sp>
      <p:sp>
        <p:nvSpPr>
          <p:cNvPr id="17" name="Text 15"/>
          <p:cNvSpPr txBox="1"/>
          <p:nvPr/>
        </p:nvSpPr>
        <p:spPr>
          <a:xfrm>
            <a:off x="8097317" y="2148840"/>
            <a:ext cx="165856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bg2"/>
                </a:solidFill>
              </a:rPr>
              <a:t>การเช่า</a:t>
            </a:r>
            <a:endParaRPr lang="en-US" sz="1500" dirty="0"/>
          </a:p>
        </p:txBody>
      </p:sp>
      <p:sp>
        <p:nvSpPr>
          <p:cNvPr id="18" name="kpi card"/>
          <p:cNvSpPr/>
          <p:nvPr/>
        </p:nvSpPr>
        <p:spPr>
          <a:xfrm>
            <a:off x="9984486" y="1325880"/>
            <a:ext cx="1658569" cy="1325880"/>
          </a:xfrm>
          <a:prstGeom prst="roundRect">
            <a:avLst>
              <a:gd name="adj" fmla="val 8276"/>
            </a:avLst>
          </a:prstGeom>
          <a:solidFill>
            <a:schemeClr val="tx2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9984486" y="1371600"/>
            <a:ext cx="165856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chemeClr val="accent2"/>
                </a:solidFill>
                <a:latin typeface="Kanit" pitchFamily="34" charset="0"/>
                <a:ea typeface="Kanit" pitchFamily="34" charset="-122"/>
                <a:cs typeface="Kanit" pitchFamily="34" charset="-120"/>
              </a:rPr>
              <a:t>12</a:t>
            </a:r>
            <a:endParaRPr lang="en-US" sz="4400" dirty="0"/>
          </a:p>
        </p:txBody>
      </p:sp>
      <p:sp>
        <p:nvSpPr>
          <p:cNvPr id="20" name="Text 18"/>
          <p:cNvSpPr txBox="1"/>
          <p:nvPr/>
        </p:nvSpPr>
        <p:spPr>
          <a:xfrm>
            <a:off x="9984486" y="2148840"/>
            <a:ext cx="165856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bg2"/>
                </a:solidFill>
              </a:rPr>
              <a:t>การชำระเงิน</a:t>
            </a:r>
            <a:endParaRPr lang="en-US" sz="1500" dirty="0"/>
          </a:p>
        </p:txBody>
      </p:sp>
      <p:graphicFrame>
        <p:nvGraphicFramePr>
          <p:cNvPr id="13" name="car sample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926080"/>
          <a:ext cx="694944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1463040"/>
                <a:gridCol w="1371600"/>
                <a:gridCol w="182880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รถ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ประเภท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บาท/วัน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Status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Toyota Camry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bg1"/>
                          </a:solidFill>
                        </a:rPr>
                        <a:t>Sedan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bg1"/>
                          </a:solidFill>
                        </a:rPr>
                        <a:t>1,800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1"/>
                          </a:solidFill>
                        </a:rPr>
                        <a:t>Available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Honda Civic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bg1"/>
                          </a:solidFill>
                        </a:rPr>
                        <a:t>Sedan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bg1"/>
                          </a:solidFill>
                        </a:rPr>
                        <a:t>1,500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2"/>
                          </a:solidFill>
                        </a:rPr>
                        <a:t>Rented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Toyota Fortuner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bg1"/>
                          </a:solidFill>
                        </a:rPr>
                        <a:t>SUV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bg1"/>
                          </a:solidFill>
                        </a:rPr>
                        <a:t>2,500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1"/>
                          </a:solidFill>
                        </a:rPr>
                        <a:t>Available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Toyota Commuter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bg1"/>
                          </a:solidFill>
                        </a:rPr>
                        <a:t>Van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bg1"/>
                          </a:solidFill>
                        </a:rPr>
                        <a:t>3,000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1"/>
                          </a:solidFill>
                        </a:rPr>
                        <a:t>Available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Hyundai H-1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bg1"/>
                          </a:solidFill>
                        </a:rPr>
                        <a:t>Van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bg1"/>
                          </a:solidFill>
                        </a:rPr>
                        <a:t>2,800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3"/>
                          </a:solidFill>
                        </a:rPr>
                        <a:t>Maintenance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Nissan Almera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bg1"/>
                          </a:solidFill>
                        </a:rPr>
                        <a:t>Eco Car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bg1"/>
                          </a:solidFill>
                        </a:rPr>
                        <a:t>900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1"/>
                          </a:solidFill>
                        </a:rPr>
                        <a:t>Available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/>
                    </a:solidFill>
                  </a:tcPr>
                </a:tc>
              </a:tr>
            </a:tbl>
          </a:graphicData>
        </a:graphic>
      </p:graphicFrame>
      <p:sp>
        <p:nvSpPr>
          <p:cNvPr id="22" name="coverage card"/>
          <p:cNvSpPr/>
          <p:nvPr/>
        </p:nvSpPr>
        <p:spPr>
          <a:xfrm>
            <a:off x="7818120" y="2926080"/>
            <a:ext cx="3822192" cy="3072384"/>
          </a:xfrm>
          <a:prstGeom prst="roundRect">
            <a:avLst>
              <a:gd name="adj" fmla="val 3571"/>
            </a:avLst>
          </a:prstGeom>
          <a:solidFill>
            <a:schemeClr val="tx2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8046720" y="30632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ข้อมูลครอบคลุมทุกกรณีทดสอบ</a:t>
            </a:r>
            <a:endParaRPr lang="en-US" sz="1600" dirty="0"/>
          </a:p>
        </p:txBody>
      </p:sp>
      <p:sp>
        <p:nvSpPr>
          <p:cNvPr id="24" name="Text 21"/>
          <p:cNvSpPr txBox="1"/>
          <p:nvPr/>
        </p:nvSpPr>
        <p:spPr>
          <a:xfrm>
            <a:off x="8046720" y="3520440"/>
            <a:ext cx="34290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สถานะรถทั้ง 3 แบบ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สถานะการจองทั้ง 4 แบบ รวม Cancelled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ชำระหลายงวด: มัดจำ + ค่าเช่า + ค่าปรับ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การเช่าที่ยังไม่คืน เพื่อทดสอบยอดค้างชำระ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Kanit" pitchFamily="34" charset="0"/>
                <a:ea typeface="Kanit" pitchFamily="34" charset="-122"/>
                <a:cs typeface="Kanit" pitchFamily="34" charset="-120"/>
              </a:rPr>
              <a:t>การทดสอบระดับง่าย (Easy) · 6 คำสั่ง</a:t>
            </a:r>
            <a:endParaRPr lang="en-US" sz="3000" dirty="0"/>
          </a:p>
        </p:txBody>
      </p:sp>
      <p:sp>
        <p:nvSpPr>
          <p:cNvPr id="3" name="easy code panel"/>
          <p:cNvSpPr/>
          <p:nvPr/>
        </p:nvSpPr>
        <p:spPr>
          <a:xfrm>
            <a:off x="548640" y="1325880"/>
            <a:ext cx="6400800" cy="1463040"/>
          </a:xfrm>
          <a:prstGeom prst="roundRect">
            <a:avLst>
              <a:gd name="adj" fmla="val 6250"/>
            </a:avLst>
          </a:prstGeom>
          <a:solidFill>
            <a:schemeClr val="accent6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4" name="easy code"/>
          <p:cNvSpPr txBox="1"/>
          <p:nvPr/>
        </p:nvSpPr>
        <p:spPr>
          <a:xfrm>
            <a:off x="777240" y="1508760"/>
            <a:ext cx="5943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E1 available cars by price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B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pPr indent="0" marL="0">
              <a:buNone/>
            </a:pPr>
            <a:r>
              <a:rPr lang="en-US" sz="14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4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brand</a:t>
            </a:r>
            <a:pPr indent="0" marL="0">
              <a:buNone/>
            </a:pPr>
            <a:r>
              <a:rPr lang="en-US" sz="14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4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</a:t>
            </a:r>
            <a:pPr indent="0" marL="0">
              <a:buNone/>
            </a:pPr>
            <a:r>
              <a:rPr lang="en-US" sz="14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4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daily_rate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B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indent="0" marL="0">
              <a:buNone/>
            </a:pPr>
            <a:r>
              <a:rPr lang="en-US" sz="14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4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</a:t>
            </a:r>
            <a:pPr indent="0" marL="0">
              <a:buNone/>
            </a:pPr>
            <a:r>
              <a:rPr lang="en-US" sz="14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400" dirty="0">
                <a:solidFill>
                  <a:srgbClr val="FBB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</a:t>
            </a:r>
            <a:pPr indent="0" marL="0">
              <a:buNone/>
            </a:pPr>
            <a:r>
              <a:rPr lang="en-US" sz="14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4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</a:t>
            </a:r>
            <a:pPr indent="0" marL="0">
              <a:buNone/>
            </a:pPr>
            <a:r>
              <a:rPr lang="en-US" sz="14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indent="0" marL="0">
              <a:buNone/>
            </a:pPr>
            <a:r>
              <a:rPr lang="en-US" sz="1400" dirty="0">
                <a:solidFill>
                  <a:srgbClr val="2DD4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'Available'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B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</a:t>
            </a:r>
            <a:pPr indent="0" marL="0">
              <a:buNone/>
            </a:pPr>
            <a:r>
              <a:rPr lang="en-US" sz="14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400" dirty="0">
                <a:solidFill>
                  <a:srgbClr val="FBB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BY</a:t>
            </a:r>
            <a:pPr indent="0" marL="0">
              <a:buNone/>
            </a:pPr>
            <a:r>
              <a:rPr lang="en-US" sz="14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4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daily_rate</a:t>
            </a:r>
            <a:pPr indent="0" marL="0">
              <a:buNone/>
            </a:pPr>
            <a:r>
              <a:rPr lang="en-US" sz="14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400" dirty="0"/>
          </a:p>
        </p:txBody>
      </p:sp>
      <p:graphicFrame>
        <p:nvGraphicFramePr>
          <p:cNvPr id="14" name="E1 result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017520"/>
          <a:ext cx="640080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2377440"/>
                <a:gridCol w="201168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brand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model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daily_rate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Nissan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Almera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900.00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Toyota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Yaris Ativ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950.00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Toyota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Camry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1800.00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Toyota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Fortuner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2500.00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Toyota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Commuter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3000.00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48640" y="539496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ผลลัพธ์ 5 แถว</a:t>
            </a:r>
            <a:endParaRPr lang="en-US" sz="1200" dirty="0"/>
          </a:p>
        </p:txBody>
      </p:sp>
      <p:sp>
        <p:nvSpPr>
          <p:cNvPr id="7" name="test row"/>
          <p:cNvSpPr/>
          <p:nvPr/>
        </p:nvSpPr>
        <p:spPr>
          <a:xfrm>
            <a:off x="7223760" y="1325880"/>
            <a:ext cx="4416552" cy="694944"/>
          </a:xfrm>
          <a:prstGeom prst="roundRect">
            <a:avLst>
              <a:gd name="adj" fmla="val 15789"/>
            </a:avLst>
          </a:prstGeom>
          <a:solidFill>
            <a:schemeClr val="tx2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360920" y="1325880"/>
            <a:ext cx="5486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Kanit" pitchFamily="34" charset="0"/>
                <a:ea typeface="Kanit" pitchFamily="34" charset="-122"/>
                <a:cs typeface="Kanit" pitchFamily="34" charset="-120"/>
              </a:rPr>
              <a:t>E1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7955280" y="1371600"/>
            <a:ext cx="3566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+ WHERE + ORDER BY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รถที่ว่าง เรียงตามราคา → 5 คัน</a:t>
            </a:r>
            <a:endParaRPr lang="en-US" sz="1500" dirty="0"/>
          </a:p>
        </p:txBody>
      </p:sp>
      <p:sp>
        <p:nvSpPr>
          <p:cNvPr id="10" name="test row"/>
          <p:cNvSpPr/>
          <p:nvPr/>
        </p:nvSpPr>
        <p:spPr>
          <a:xfrm>
            <a:off x="7223760" y="2130552"/>
            <a:ext cx="4416552" cy="694944"/>
          </a:xfrm>
          <a:prstGeom prst="roundRect">
            <a:avLst>
              <a:gd name="adj" fmla="val 15789"/>
            </a:avLst>
          </a:prstGeom>
          <a:solidFill>
            <a:schemeClr val="tx2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360920" y="2130552"/>
            <a:ext cx="5486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Kanit" pitchFamily="34" charset="0"/>
                <a:ea typeface="Kanit" pitchFamily="34" charset="-122"/>
                <a:cs typeface="Kanit" pitchFamily="34" charset="-120"/>
              </a:rPr>
              <a:t>E2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7955280" y="2176272"/>
            <a:ext cx="3566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WHERE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ค้นหาลูกค้าจากเลขใบขับขี่</a:t>
            </a:r>
            <a:endParaRPr lang="en-US" sz="1500" dirty="0"/>
          </a:p>
        </p:txBody>
      </p:sp>
      <p:sp>
        <p:nvSpPr>
          <p:cNvPr id="13" name="test row"/>
          <p:cNvSpPr/>
          <p:nvPr/>
        </p:nvSpPr>
        <p:spPr>
          <a:xfrm>
            <a:off x="7223760" y="2935224"/>
            <a:ext cx="4416552" cy="694944"/>
          </a:xfrm>
          <a:prstGeom prst="roundRect">
            <a:avLst>
              <a:gd name="adj" fmla="val 15789"/>
            </a:avLst>
          </a:prstGeom>
          <a:solidFill>
            <a:schemeClr val="tx2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360920" y="2935224"/>
            <a:ext cx="5486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Kanit" pitchFamily="34" charset="0"/>
                <a:ea typeface="Kanit" pitchFamily="34" charset="-122"/>
                <a:cs typeface="Kanit" pitchFamily="34" charset="-120"/>
              </a:rPr>
              <a:t>E3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7955280" y="2980944"/>
            <a:ext cx="3566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เงื่อนไขช่วงราคา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รถค่าเช่า ≤ 2,000 บาท → 4 คัน</a:t>
            </a:r>
            <a:endParaRPr lang="en-US" sz="1500" dirty="0"/>
          </a:p>
        </p:txBody>
      </p:sp>
      <p:sp>
        <p:nvSpPr>
          <p:cNvPr id="16" name="test row"/>
          <p:cNvSpPr/>
          <p:nvPr/>
        </p:nvSpPr>
        <p:spPr>
          <a:xfrm>
            <a:off x="7223760" y="3739896"/>
            <a:ext cx="4416552" cy="694944"/>
          </a:xfrm>
          <a:prstGeom prst="roundRect">
            <a:avLst>
              <a:gd name="adj" fmla="val 15789"/>
            </a:avLst>
          </a:prstGeom>
          <a:solidFill>
            <a:schemeClr val="tx2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360920" y="3739896"/>
            <a:ext cx="5486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Kanit" pitchFamily="34" charset="0"/>
                <a:ea typeface="Kanit" pitchFamily="34" charset="-122"/>
                <a:cs typeface="Kanit" pitchFamily="34" charset="-120"/>
              </a:rPr>
              <a:t>E4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955280" y="3785616"/>
            <a:ext cx="3566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INSERT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เพิ่มลูกค้าใหม่</a:t>
            </a:r>
            <a:endParaRPr lang="en-US" sz="1500" dirty="0"/>
          </a:p>
        </p:txBody>
      </p:sp>
      <p:sp>
        <p:nvSpPr>
          <p:cNvPr id="19" name="test row"/>
          <p:cNvSpPr/>
          <p:nvPr/>
        </p:nvSpPr>
        <p:spPr>
          <a:xfrm>
            <a:off x="7223760" y="4544568"/>
            <a:ext cx="4416552" cy="694944"/>
          </a:xfrm>
          <a:prstGeom prst="roundRect">
            <a:avLst>
              <a:gd name="adj" fmla="val 15789"/>
            </a:avLst>
          </a:prstGeom>
          <a:solidFill>
            <a:schemeClr val="tx2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360920" y="4544568"/>
            <a:ext cx="5486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Kanit" pitchFamily="34" charset="0"/>
                <a:ea typeface="Kanit" pitchFamily="34" charset="-122"/>
                <a:cs typeface="Kanit" pitchFamily="34" charset="-120"/>
              </a:rPr>
              <a:t>E5</a:t>
            </a:r>
            <a:endParaRPr lang="en-US" sz="1600" dirty="0"/>
          </a:p>
        </p:txBody>
      </p:sp>
      <p:sp>
        <p:nvSpPr>
          <p:cNvPr id="21" name="Text 18"/>
          <p:cNvSpPr txBox="1"/>
          <p:nvPr/>
        </p:nvSpPr>
        <p:spPr>
          <a:xfrm>
            <a:off x="7955280" y="4590288"/>
            <a:ext cx="3566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UPDATE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รถซ่อมเสร็จ → Available</a:t>
            </a:r>
            <a:endParaRPr lang="en-US" sz="1500" dirty="0"/>
          </a:p>
        </p:txBody>
      </p:sp>
      <p:sp>
        <p:nvSpPr>
          <p:cNvPr id="22" name="test row"/>
          <p:cNvSpPr/>
          <p:nvPr/>
        </p:nvSpPr>
        <p:spPr>
          <a:xfrm>
            <a:off x="7223760" y="5349240"/>
            <a:ext cx="4416552" cy="694944"/>
          </a:xfrm>
          <a:prstGeom prst="roundRect">
            <a:avLst>
              <a:gd name="adj" fmla="val 15789"/>
            </a:avLst>
          </a:prstGeom>
          <a:solidFill>
            <a:schemeClr val="tx2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7360920" y="5349240"/>
            <a:ext cx="5486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Kanit" pitchFamily="34" charset="0"/>
                <a:ea typeface="Kanit" pitchFamily="34" charset="-122"/>
                <a:cs typeface="Kanit" pitchFamily="34" charset="-120"/>
              </a:rPr>
              <a:t>E6</a:t>
            </a:r>
            <a:endParaRPr lang="en-US" sz="1600" dirty="0"/>
          </a:p>
        </p:txBody>
      </p:sp>
      <p:sp>
        <p:nvSpPr>
          <p:cNvPr id="24" name="Text 21"/>
          <p:cNvSpPr txBox="1"/>
          <p:nvPr/>
        </p:nvSpPr>
        <p:spPr>
          <a:xfrm>
            <a:off x="7955280" y="5394960"/>
            <a:ext cx="3566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DELETE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ลบลูกค้าที่ไม่เคยจอง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Kanit" pitchFamily="34" charset="0"/>
                <a:ea typeface="Kanit" pitchFamily="34" charset="-122"/>
                <a:cs typeface="Kanit" pitchFamily="34" charset="-120"/>
              </a:rPr>
              <a:t>การทดสอบระดับปานกลาง (Medium) · 5 คำสั่ง</a:t>
            </a:r>
            <a:endParaRPr lang="en-US" sz="3000" dirty="0"/>
          </a:p>
        </p:txBody>
      </p:sp>
      <p:sp>
        <p:nvSpPr>
          <p:cNvPr id="3" name="medium code panel"/>
          <p:cNvSpPr/>
          <p:nvPr/>
        </p:nvSpPr>
        <p:spPr>
          <a:xfrm>
            <a:off x="548640" y="1325880"/>
            <a:ext cx="6400800" cy="2011680"/>
          </a:xfrm>
          <a:prstGeom prst="roundRect">
            <a:avLst>
              <a:gd name="adj" fmla="val 4545"/>
            </a:avLst>
          </a:prstGeom>
          <a:solidFill>
            <a:schemeClr val="accent6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4" name="medium code"/>
          <p:cNvSpPr txBox="1"/>
          <p:nvPr/>
        </p:nvSpPr>
        <p:spPr>
          <a:xfrm>
            <a:off x="777240" y="1508760"/>
            <a:ext cx="59436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M2 cars and avg rate per type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BB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pPr indent="0" marL="0">
              <a:buNone/>
            </a:pPr>
            <a:r>
              <a:rPr lang="en-US" sz="13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</a:t>
            </a:r>
            <a:pPr indent="0" marL="0">
              <a:buNone/>
            </a:pPr>
            <a:r>
              <a:rPr lang="en-US" sz="13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3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type_name</a:t>
            </a:r>
            <a:pPr indent="0" marL="0">
              <a:buNone/>
            </a:pPr>
            <a:r>
              <a:rPr lang="en-US" sz="13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300" dirty="0">
                <a:solidFill>
                  <a:srgbClr val="FBB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COUNT</a:t>
            </a:r>
            <a:pPr indent="0" marL="0">
              <a:buNone/>
            </a:pPr>
            <a:r>
              <a:rPr lang="en-US" sz="13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3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pPr indent="0" marL="0">
              <a:buNone/>
            </a:pPr>
            <a:r>
              <a:rPr lang="en-US" sz="13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3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car_id</a:t>
            </a:r>
            <a:pPr indent="0" marL="0">
              <a:buNone/>
            </a:pPr>
            <a:r>
              <a:rPr lang="en-US" sz="13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 </a:t>
            </a:r>
            <a:pPr indent="0" marL="0">
              <a:buNone/>
            </a:pPr>
            <a:r>
              <a:rPr lang="en-US" sz="1300" dirty="0">
                <a:solidFill>
                  <a:srgbClr val="FBB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buNone/>
            </a:pPr>
            <a:r>
              <a:rPr lang="en-US" sz="13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cars</a:t>
            </a:r>
            <a:pPr indent="0" marL="0">
              <a:buNone/>
            </a:pPr>
            <a:r>
              <a:rPr lang="en-US" sz="13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</a:t>
            </a:r>
            <a:pPr indent="0" marL="0">
              <a:buNone/>
            </a:pPr>
            <a:r>
              <a:rPr lang="en-US" sz="1300" dirty="0">
                <a:solidFill>
                  <a:srgbClr val="FBB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ROUND</a:t>
            </a:r>
            <a:pPr indent="0" marL="0">
              <a:buNone/>
            </a:pPr>
            <a:r>
              <a:rPr lang="en-US" sz="13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300" dirty="0">
                <a:solidFill>
                  <a:srgbClr val="FBB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AVG</a:t>
            </a:r>
            <a:pPr indent="0" marL="0">
              <a:buNone/>
            </a:pPr>
            <a:r>
              <a:rPr lang="en-US" sz="13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3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pPr indent="0" marL="0">
              <a:buNone/>
            </a:pPr>
            <a:r>
              <a:rPr lang="en-US" sz="13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3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daily_rate</a:t>
            </a:r>
            <a:pPr indent="0" marL="0">
              <a:buNone/>
            </a:pPr>
            <a:r>
              <a:rPr lang="en-US" sz="13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), 2) </a:t>
            </a:r>
            <a:pPr indent="0" marL="0">
              <a:buNone/>
            </a:pPr>
            <a:r>
              <a:rPr lang="en-US" sz="1300" dirty="0">
                <a:solidFill>
                  <a:srgbClr val="FBB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buNone/>
            </a:pPr>
            <a:r>
              <a:rPr lang="en-US" sz="13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avg_rate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BB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indent="0" marL="0">
              <a:buNone/>
            </a:pPr>
            <a:r>
              <a:rPr lang="en-US" sz="13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car_type</a:t>
            </a:r>
            <a:pPr indent="0" marL="0">
              <a:buNone/>
            </a:pPr>
            <a:r>
              <a:rPr lang="en-US" sz="13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</a:t>
            </a:r>
            <a:pPr indent="0" marL="0">
              <a:buNone/>
            </a:pPr>
            <a:r>
              <a:rPr lang="en-US" sz="13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FBB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LEFT</a:t>
            </a:r>
            <a:pPr indent="0" marL="0">
              <a:buNone/>
            </a:pPr>
            <a:r>
              <a:rPr lang="en-US" sz="13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FBB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JOIN</a:t>
            </a:r>
            <a:pPr indent="0" marL="0">
              <a:buNone/>
            </a:pPr>
            <a:r>
              <a:rPr lang="en-US" sz="13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</a:t>
            </a:r>
            <a:pPr indent="0" marL="0">
              <a:buNone/>
            </a:pPr>
            <a:r>
              <a:rPr lang="en-US" sz="13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300" dirty="0">
                <a:solidFill>
                  <a:srgbClr val="FBB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</a:t>
            </a:r>
            <a:pPr indent="0" marL="0">
              <a:buNone/>
            </a:pPr>
            <a:r>
              <a:rPr lang="en-US" sz="13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pPr indent="0" marL="0">
              <a:buNone/>
            </a:pPr>
            <a:r>
              <a:rPr lang="en-US" sz="13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3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car_type_id</a:t>
            </a:r>
            <a:pPr indent="0" marL="0">
              <a:buNone/>
            </a:pPr>
            <a:r>
              <a:rPr lang="en-US" sz="13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indent="0" marL="0">
              <a:buNone/>
            </a:pPr>
            <a:r>
              <a:rPr lang="en-US" sz="13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</a:t>
            </a:r>
            <a:pPr indent="0" marL="0">
              <a:buNone/>
            </a:pPr>
            <a:r>
              <a:rPr lang="en-US" sz="13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3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car_type_id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BB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GROUP</a:t>
            </a:r>
            <a:pPr indent="0" marL="0">
              <a:buNone/>
            </a:pPr>
            <a:r>
              <a:rPr lang="en-US" sz="13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FBB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BY</a:t>
            </a:r>
            <a:pPr indent="0" marL="0">
              <a:buNone/>
            </a:pPr>
            <a:r>
              <a:rPr lang="en-US" sz="13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</a:t>
            </a:r>
            <a:pPr indent="0" marL="0">
              <a:buNone/>
            </a:pPr>
            <a:r>
              <a:rPr lang="en-US" sz="13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3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type_name</a:t>
            </a:r>
            <a:pPr indent="0" marL="0">
              <a:buNone/>
            </a:pPr>
            <a:r>
              <a:rPr lang="en-US" sz="13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FBB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</a:t>
            </a:r>
            <a:pPr indent="0" marL="0">
              <a:buNone/>
            </a:pPr>
            <a:r>
              <a:rPr lang="en-US" sz="13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FBB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BY</a:t>
            </a:r>
            <a:pPr indent="0" marL="0">
              <a:buNone/>
            </a:pPr>
            <a:r>
              <a:rPr lang="en-US" sz="13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avg_rate</a:t>
            </a:r>
            <a:pPr indent="0" marL="0">
              <a:buNone/>
            </a:pPr>
            <a:r>
              <a:rPr lang="en-US" sz="13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FBB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DESC</a:t>
            </a:r>
            <a:pPr indent="0" marL="0">
              <a:buNone/>
            </a:pPr>
            <a:r>
              <a:rPr lang="en-US" sz="13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300" dirty="0"/>
          </a:p>
        </p:txBody>
      </p:sp>
      <p:graphicFrame>
        <p:nvGraphicFramePr>
          <p:cNvPr id="5" name="M2 result chart" descr=""/>
          <p:cNvGraphicFramePr/>
          <p:nvPr/>
        </p:nvGraphicFramePr>
        <p:xfrm>
          <a:off x="548640" y="3474720"/>
          <a:ext cx="6400800" cy="2697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st row"/>
          <p:cNvSpPr/>
          <p:nvPr/>
        </p:nvSpPr>
        <p:spPr>
          <a:xfrm>
            <a:off x="7223760" y="1325880"/>
            <a:ext cx="4416552" cy="841248"/>
          </a:xfrm>
          <a:prstGeom prst="roundRect">
            <a:avLst>
              <a:gd name="adj" fmla="val 13043"/>
            </a:avLst>
          </a:prstGeom>
          <a:solidFill>
            <a:schemeClr val="tx2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60920" y="1325880"/>
            <a:ext cx="5943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Kanit" pitchFamily="34" charset="0"/>
                <a:ea typeface="Kanit" pitchFamily="34" charset="-122"/>
                <a:cs typeface="Kanit" pitchFamily="34" charset="-120"/>
              </a:rPr>
              <a:t>M1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8001000" y="1380744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JOIN 3 ตาราง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การจองพร้อมชื่อลูกค้าและรถ (8 แถว)</a:t>
            </a:r>
            <a:endParaRPr lang="en-US" sz="1500" dirty="0"/>
          </a:p>
        </p:txBody>
      </p:sp>
      <p:sp>
        <p:nvSpPr>
          <p:cNvPr id="9" name="test row"/>
          <p:cNvSpPr/>
          <p:nvPr/>
        </p:nvSpPr>
        <p:spPr>
          <a:xfrm>
            <a:off x="7223760" y="2295144"/>
            <a:ext cx="4416552" cy="841248"/>
          </a:xfrm>
          <a:prstGeom prst="roundRect">
            <a:avLst>
              <a:gd name="adj" fmla="val 13043"/>
            </a:avLst>
          </a:prstGeom>
          <a:solidFill>
            <a:schemeClr val="tx2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360920" y="2295144"/>
            <a:ext cx="5943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Kanit" pitchFamily="34" charset="0"/>
                <a:ea typeface="Kanit" pitchFamily="34" charset="-122"/>
                <a:cs typeface="Kanit" pitchFamily="34" charset="-120"/>
              </a:rPr>
              <a:t>M2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8001000" y="2350008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LEFT JOIN + GROUP BY + AVG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Van 2,900 · SUV 2,400 · Sedan 1,650</a:t>
            </a:r>
            <a:endParaRPr lang="en-US" sz="1500" dirty="0"/>
          </a:p>
        </p:txBody>
      </p:sp>
      <p:sp>
        <p:nvSpPr>
          <p:cNvPr id="12" name="test row"/>
          <p:cNvSpPr/>
          <p:nvPr/>
        </p:nvSpPr>
        <p:spPr>
          <a:xfrm>
            <a:off x="7223760" y="3264408"/>
            <a:ext cx="4416552" cy="841248"/>
          </a:xfrm>
          <a:prstGeom prst="roundRect">
            <a:avLst>
              <a:gd name="adj" fmla="val 13043"/>
            </a:avLst>
          </a:prstGeom>
          <a:solidFill>
            <a:schemeClr val="tx2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360920" y="3264408"/>
            <a:ext cx="5943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Kanit" pitchFamily="34" charset="0"/>
                <a:ea typeface="Kanit" pitchFamily="34" charset="-122"/>
                <a:cs typeface="Kanit" pitchFamily="34" charset="-120"/>
              </a:rPr>
              <a:t>M3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8001000" y="3319272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SUM + GROUP BY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Credit Card 15,900 · Cash 9,500 · QR 3,800</a:t>
            </a:r>
            <a:endParaRPr lang="en-US" sz="1500" dirty="0"/>
          </a:p>
        </p:txBody>
      </p:sp>
      <p:sp>
        <p:nvSpPr>
          <p:cNvPr id="15" name="test row"/>
          <p:cNvSpPr/>
          <p:nvPr/>
        </p:nvSpPr>
        <p:spPr>
          <a:xfrm>
            <a:off x="7223760" y="4233672"/>
            <a:ext cx="4416552" cy="841248"/>
          </a:xfrm>
          <a:prstGeom prst="roundRect">
            <a:avLst>
              <a:gd name="adj" fmla="val 13043"/>
            </a:avLst>
          </a:prstGeom>
          <a:solidFill>
            <a:schemeClr val="tx2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360920" y="4233672"/>
            <a:ext cx="5943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Kanit" pitchFamily="34" charset="0"/>
                <a:ea typeface="Kanit" pitchFamily="34" charset="-122"/>
                <a:cs typeface="Kanit" pitchFamily="34" charset="-120"/>
              </a:rPr>
              <a:t>M4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8001000" y="4288536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GROUP BY + HAVING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ลูกค้าที่จองมากกว่า 1 ครั้ง (2 คน)</a:t>
            </a:r>
            <a:endParaRPr lang="en-US" sz="1500" dirty="0"/>
          </a:p>
        </p:txBody>
      </p:sp>
      <p:sp>
        <p:nvSpPr>
          <p:cNvPr id="18" name="test row"/>
          <p:cNvSpPr/>
          <p:nvPr/>
        </p:nvSpPr>
        <p:spPr>
          <a:xfrm>
            <a:off x="7223760" y="5202936"/>
            <a:ext cx="4416552" cy="841248"/>
          </a:xfrm>
          <a:prstGeom prst="roundRect">
            <a:avLst>
              <a:gd name="adj" fmla="val 13043"/>
            </a:avLst>
          </a:prstGeom>
          <a:solidFill>
            <a:schemeClr val="tx2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360920" y="5202936"/>
            <a:ext cx="5943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Kanit" pitchFamily="34" charset="0"/>
                <a:ea typeface="Kanit" pitchFamily="34" charset="-122"/>
                <a:cs typeface="Kanit" pitchFamily="34" charset="-120"/>
              </a:rPr>
              <a:t>M5</a:t>
            </a:r>
            <a:endParaRPr lang="en-US" sz="1600" dirty="0"/>
          </a:p>
        </p:txBody>
      </p:sp>
      <p:sp>
        <p:nvSpPr>
          <p:cNvPr id="20" name="Text 17"/>
          <p:cNvSpPr txBox="1"/>
          <p:nvPr/>
        </p:nvSpPr>
        <p:spPr>
          <a:xfrm>
            <a:off x="8001000" y="5257800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JOIN 4 ตาราง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รถที่กำลังถูกเช่าและวันกำหนดคืน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Kanit" pitchFamily="34" charset="0"/>
                <a:ea typeface="Kanit" pitchFamily="34" charset="-122"/>
                <a:cs typeface="Kanit" pitchFamily="34" charset="-120"/>
              </a:rPr>
              <a:t>การทดสอบระดับซับซ้อน (Complex) · 7 คำสั่ง</a:t>
            </a:r>
            <a:endParaRPr lang="en-US" sz="3000" dirty="0"/>
          </a:p>
        </p:txBody>
      </p:sp>
      <p:sp>
        <p:nvSpPr>
          <p:cNvPr id="3" name="complex code panel"/>
          <p:cNvSpPr/>
          <p:nvPr/>
        </p:nvSpPr>
        <p:spPr>
          <a:xfrm>
            <a:off x="548640" y="1325880"/>
            <a:ext cx="6400800" cy="2788920"/>
          </a:xfrm>
          <a:prstGeom prst="roundRect">
            <a:avLst>
              <a:gd name="adj" fmla="val 3279"/>
            </a:avLst>
          </a:prstGeom>
          <a:solidFill>
            <a:schemeClr val="accent6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4" name="complex code"/>
          <p:cNvSpPr txBox="1"/>
          <p:nvPr/>
        </p:nvSpPr>
        <p:spPr>
          <a:xfrm>
            <a:off x="777240" y="1508760"/>
            <a:ext cx="594360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C1 outstanding balance per rental (CTE)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BB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</a:t>
            </a:r>
            <a:pPr indent="0" marL="0">
              <a:buNone/>
            </a:pPr>
            <a:r>
              <a:rPr lang="en-US" sz="13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paid</a:t>
            </a:r>
            <a:pPr indent="0" marL="0">
              <a:buNone/>
            </a:pPr>
            <a:r>
              <a:rPr lang="en-US" sz="13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FBB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buNone/>
            </a:pPr>
            <a:r>
              <a:rPr lang="en-US" sz="13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(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300" dirty="0">
                <a:solidFill>
                  <a:srgbClr val="FBB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pPr indent="0" marL="0">
              <a:buNone/>
            </a:pPr>
            <a:r>
              <a:rPr lang="en-US" sz="13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booking_id</a:t>
            </a:r>
            <a:pPr indent="0" marL="0">
              <a:buNone/>
            </a:pPr>
            <a:r>
              <a:rPr lang="en-US" sz="13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300" dirty="0">
                <a:solidFill>
                  <a:srgbClr val="FBB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SUM</a:t>
            </a:r>
            <a:pPr indent="0" marL="0">
              <a:buNone/>
            </a:pPr>
            <a:r>
              <a:rPr lang="en-US" sz="13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3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amount</a:t>
            </a:r>
            <a:pPr indent="0" marL="0">
              <a:buNone/>
            </a:pPr>
            <a:r>
              <a:rPr lang="en-US" sz="13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 </a:t>
            </a:r>
            <a:pPr indent="0" marL="0">
              <a:buNone/>
            </a:pPr>
            <a:r>
              <a:rPr lang="en-US" sz="1300" dirty="0">
                <a:solidFill>
                  <a:srgbClr val="FBB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buNone/>
            </a:pPr>
            <a:r>
              <a:rPr lang="en-US" sz="13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paid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300" dirty="0">
                <a:solidFill>
                  <a:srgbClr val="FBB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indent="0" marL="0">
              <a:buNone/>
            </a:pPr>
            <a:r>
              <a:rPr lang="en-US" sz="13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payment</a:t>
            </a:r>
            <a:pPr indent="0" marL="0">
              <a:buNone/>
            </a:pPr>
            <a:r>
              <a:rPr lang="en-US" sz="13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FBB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</a:t>
            </a:r>
            <a:pPr indent="0" marL="0">
              <a:buNone/>
            </a:pPr>
            <a:r>
              <a:rPr lang="en-US" sz="13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</a:t>
            </a:r>
            <a:pPr indent="0" marL="0">
              <a:buNone/>
            </a:pPr>
            <a:r>
              <a:rPr lang="en-US" sz="13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indent="0" marL="0">
              <a:buNone/>
            </a:pPr>
            <a:r>
              <a:rPr lang="en-US" sz="1300" dirty="0">
                <a:solidFill>
                  <a:srgbClr val="2DD4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'Paid'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300" dirty="0">
                <a:solidFill>
                  <a:srgbClr val="FBB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GROUP</a:t>
            </a:r>
            <a:pPr indent="0" marL="0">
              <a:buNone/>
            </a:pPr>
            <a:r>
              <a:rPr lang="en-US" sz="13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FBB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BY</a:t>
            </a:r>
            <a:pPr indent="0" marL="0">
              <a:buNone/>
            </a:pPr>
            <a:r>
              <a:rPr lang="en-US" sz="13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booking_id</a:t>
            </a:r>
            <a:pPr indent="0" marL="0">
              <a:buNone/>
            </a:pPr>
            <a:r>
              <a:rPr lang="en-US" sz="13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BB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pPr indent="0" marL="0">
              <a:buNone/>
            </a:pPr>
            <a:r>
              <a:rPr lang="en-US" sz="13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</a:t>
            </a:r>
            <a:pPr indent="0" marL="0">
              <a:buNone/>
            </a:pPr>
            <a:r>
              <a:rPr lang="en-US" sz="13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3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rental_id</a:t>
            </a:r>
            <a:pPr indent="0" marL="0">
              <a:buNone/>
            </a:pPr>
            <a:r>
              <a:rPr lang="en-US" sz="13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3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</a:t>
            </a:r>
            <a:pPr indent="0" marL="0">
              <a:buNone/>
            </a:pPr>
            <a:r>
              <a:rPr lang="en-US" sz="13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3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total_amount</a:t>
            </a:r>
            <a:pPr indent="0" marL="0">
              <a:buNone/>
            </a:pPr>
            <a:r>
              <a:rPr lang="en-US" sz="13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buNone/>
            </a:pPr>
            <a:r>
              <a:rPr lang="en-US" sz="13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FBB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COALESCE</a:t>
            </a:r>
            <a:pPr indent="0" marL="0">
              <a:buNone/>
            </a:pPr>
            <a:r>
              <a:rPr lang="en-US" sz="13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3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</a:t>
            </a:r>
            <a:pPr indent="0" marL="0">
              <a:buNone/>
            </a:pPr>
            <a:r>
              <a:rPr lang="en-US" sz="13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3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paid</a:t>
            </a:r>
            <a:pPr indent="0" marL="0">
              <a:buNone/>
            </a:pPr>
            <a:r>
              <a:rPr lang="en-US" sz="13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0) </a:t>
            </a:r>
            <a:pPr indent="0" marL="0">
              <a:buNone/>
            </a:pPr>
            <a:r>
              <a:rPr lang="en-US" sz="1300" dirty="0">
                <a:solidFill>
                  <a:srgbClr val="FBB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buNone/>
            </a:pPr>
            <a:r>
              <a:rPr lang="en-US" sz="13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outstanding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BB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indent="0" marL="0">
              <a:buNone/>
            </a:pPr>
            <a:r>
              <a:rPr lang="en-US" sz="13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rental</a:t>
            </a:r>
            <a:pPr indent="0" marL="0">
              <a:buNone/>
            </a:pPr>
            <a:r>
              <a:rPr lang="en-US" sz="13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</a:t>
            </a:r>
            <a:pPr indent="0" marL="0">
              <a:buNone/>
            </a:pPr>
            <a:r>
              <a:rPr lang="en-US" sz="13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FBB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LEFT</a:t>
            </a:r>
            <a:pPr indent="0" marL="0">
              <a:buNone/>
            </a:pPr>
            <a:r>
              <a:rPr lang="en-US" sz="13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FBB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JOIN</a:t>
            </a:r>
            <a:pPr indent="0" marL="0">
              <a:buNone/>
            </a:pPr>
            <a:r>
              <a:rPr lang="en-US" sz="13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paid</a:t>
            </a:r>
            <a:pPr indent="0" marL="0">
              <a:buNone/>
            </a:pPr>
            <a:r>
              <a:rPr lang="en-US" sz="13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</a:t>
            </a:r>
            <a:pPr indent="0" marL="0">
              <a:buNone/>
            </a:pPr>
            <a:r>
              <a:rPr lang="en-US" sz="13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FBB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USING</a:t>
            </a:r>
            <a:pPr indent="0" marL="0">
              <a:buNone/>
            </a:pPr>
            <a:r>
              <a:rPr lang="en-US" sz="13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(</a:t>
            </a:r>
            <a:pPr indent="0" marL="0">
              <a:buNone/>
            </a:pPr>
            <a:r>
              <a:rPr lang="en-US" sz="13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booking_id</a:t>
            </a:r>
            <a:pPr indent="0" marL="0">
              <a:buNone/>
            </a:pPr>
            <a:r>
              <a:rPr lang="en-US" sz="13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BB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</a:t>
            </a:r>
            <a:pPr indent="0" marL="0">
              <a:buNone/>
            </a:pPr>
            <a:r>
              <a:rPr lang="en-US" sz="13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</a:t>
            </a:r>
            <a:pPr indent="0" marL="0">
              <a:buNone/>
            </a:pPr>
            <a:r>
              <a:rPr lang="en-US" sz="13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3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total_amount</a:t>
            </a:r>
            <a:pPr indent="0" marL="0">
              <a:buNone/>
            </a:pPr>
            <a:r>
              <a:rPr lang="en-US" sz="13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buNone/>
            </a:pPr>
            <a:r>
              <a:rPr lang="en-US" sz="13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FBB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COALESCE</a:t>
            </a:r>
            <a:pPr indent="0" marL="0">
              <a:buNone/>
            </a:pPr>
            <a:r>
              <a:rPr lang="en-US" sz="13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3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</a:t>
            </a:r>
            <a:pPr indent="0" marL="0">
              <a:buNone/>
            </a:pPr>
            <a:r>
              <a:rPr lang="en-US" sz="13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3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paid</a:t>
            </a:r>
            <a:pPr indent="0" marL="0">
              <a:buNone/>
            </a:pPr>
            <a:r>
              <a:rPr lang="en-US" sz="13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0) &gt; 0;</a:t>
            </a:r>
            <a:endParaRPr lang="en-US" sz="1300" dirty="0"/>
          </a:p>
        </p:txBody>
      </p:sp>
      <p:graphicFrame>
        <p:nvGraphicFramePr>
          <p:cNvPr id="16" name="C1 result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297680"/>
          <a:ext cx="64008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828800"/>
                <a:gridCol w="1463040"/>
                <a:gridCol w="173736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rental_id</a:t>
                      </a:r>
                      <a:endParaRPr lang="en-US" sz="1300" dirty="0"/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customer</a:t>
                      </a:r>
                      <a:endParaRPr lang="en-US" sz="1300" dirty="0"/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total</a:t>
                      </a:r>
                      <a:endParaRPr lang="en-US" sz="1300" dirty="0"/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outstanding</a:t>
                      </a:r>
                      <a:endParaRPr lang="en-US" sz="1300" dirty="0"/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</a:rPr>
                        <a:t>5</a:t>
                      </a:r>
                      <a:endParaRPr lang="en-US" sz="1300" dirty="0"/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</a:rPr>
                        <a:t>พิมพ์ชนก</a:t>
                      </a:r>
                      <a:endParaRPr lang="en-US" sz="1300" dirty="0"/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</a:rPr>
                        <a:t>10,500</a:t>
                      </a:r>
                      <a:endParaRPr lang="en-US" sz="1300" dirty="0"/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2"/>
                          </a:solidFill>
                        </a:rPr>
                        <a:t>9,500</a:t>
                      </a:r>
                      <a:endParaRPr lang="en-US" sz="1300" dirty="0"/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</a:rPr>
                        <a:t>6</a:t>
                      </a:r>
                      <a:endParaRPr lang="en-US" sz="1300" dirty="0"/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</a:rPr>
                        <a:t>วีรภัทร</a:t>
                      </a:r>
                      <a:endParaRPr lang="en-US" sz="1300" dirty="0"/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</a:rPr>
                        <a:t>6,900</a:t>
                      </a:r>
                      <a:endParaRPr lang="en-US" sz="1300" dirty="0"/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2"/>
                          </a:solidFill>
                        </a:rPr>
                        <a:t>5,400</a:t>
                      </a:r>
                      <a:endParaRPr lang="en-US" sz="1300" dirty="0"/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48640" y="55321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ผล C1 (ก่อนทำรายการคืนรถ C5): พบยอดค้างชำระ 2 รายการ</a:t>
            </a:r>
            <a:endParaRPr lang="en-US" sz="1200" dirty="0"/>
          </a:p>
        </p:txBody>
      </p:sp>
      <p:sp>
        <p:nvSpPr>
          <p:cNvPr id="7" name="test row"/>
          <p:cNvSpPr/>
          <p:nvPr/>
        </p:nvSpPr>
        <p:spPr>
          <a:xfrm>
            <a:off x="7223760" y="1325880"/>
            <a:ext cx="4416552" cy="694944"/>
          </a:xfrm>
          <a:prstGeom prst="roundRect">
            <a:avLst>
              <a:gd name="adj" fmla="val 15789"/>
            </a:avLst>
          </a:prstGeom>
          <a:solidFill>
            <a:schemeClr val="tx2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360920" y="1325880"/>
            <a:ext cx="7315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Kanit" pitchFamily="34" charset="0"/>
                <a:ea typeface="Kanit" pitchFamily="34" charset="-122"/>
                <a:cs typeface="Kanit" pitchFamily="34" charset="-120"/>
              </a:rPr>
              <a:t>C1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8138160" y="1371600"/>
            <a:ext cx="34290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CTE + LEFT JOIN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ยอดค้างชำระ 9,500 และ 5,400</a:t>
            </a:r>
            <a:endParaRPr lang="en-US" sz="1500" dirty="0"/>
          </a:p>
        </p:txBody>
      </p:sp>
      <p:sp>
        <p:nvSpPr>
          <p:cNvPr id="10" name="test row"/>
          <p:cNvSpPr/>
          <p:nvPr/>
        </p:nvSpPr>
        <p:spPr>
          <a:xfrm>
            <a:off x="7223760" y="2130552"/>
            <a:ext cx="4416552" cy="694944"/>
          </a:xfrm>
          <a:prstGeom prst="roundRect">
            <a:avLst>
              <a:gd name="adj" fmla="val 15789"/>
            </a:avLst>
          </a:prstGeom>
          <a:solidFill>
            <a:schemeClr val="tx2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360920" y="2130552"/>
            <a:ext cx="7315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Kanit" pitchFamily="34" charset="0"/>
                <a:ea typeface="Kanit" pitchFamily="34" charset="-122"/>
                <a:cs typeface="Kanit" pitchFamily="34" charset="-120"/>
              </a:rPr>
              <a:t>C2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8138160" y="2176272"/>
            <a:ext cx="34290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Window: RANK() OVER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อันดับรายได้ #1 Honda Civic 10,500</a:t>
            </a:r>
            <a:endParaRPr lang="en-US" sz="1500" dirty="0"/>
          </a:p>
        </p:txBody>
      </p:sp>
      <p:sp>
        <p:nvSpPr>
          <p:cNvPr id="13" name="test row"/>
          <p:cNvSpPr/>
          <p:nvPr/>
        </p:nvSpPr>
        <p:spPr>
          <a:xfrm>
            <a:off x="7223760" y="2935224"/>
            <a:ext cx="4416552" cy="694944"/>
          </a:xfrm>
          <a:prstGeom prst="roundRect">
            <a:avLst>
              <a:gd name="adj" fmla="val 15789"/>
            </a:avLst>
          </a:prstGeom>
          <a:solidFill>
            <a:schemeClr val="tx2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360920" y="2935224"/>
            <a:ext cx="7315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Kanit" pitchFamily="34" charset="0"/>
                <a:ea typeface="Kanit" pitchFamily="34" charset="-122"/>
                <a:cs typeface="Kanit" pitchFamily="34" charset="-120"/>
              </a:rPr>
              <a:t>C3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8138160" y="2980944"/>
            <a:ext cx="34290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 EXISTS + tsrange &amp;&amp;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หารถว่างตามช่วงวันที่ต้องการ</a:t>
            </a:r>
            <a:endParaRPr lang="en-US" sz="1500" dirty="0"/>
          </a:p>
        </p:txBody>
      </p:sp>
      <p:sp>
        <p:nvSpPr>
          <p:cNvPr id="16" name="test row"/>
          <p:cNvSpPr/>
          <p:nvPr/>
        </p:nvSpPr>
        <p:spPr>
          <a:xfrm>
            <a:off x="7223760" y="3739896"/>
            <a:ext cx="4416552" cy="694944"/>
          </a:xfrm>
          <a:prstGeom prst="roundRect">
            <a:avLst>
              <a:gd name="adj" fmla="val 15789"/>
            </a:avLst>
          </a:prstGeom>
          <a:solidFill>
            <a:schemeClr val="tx2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360920" y="3739896"/>
            <a:ext cx="7315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Kanit" pitchFamily="34" charset="0"/>
                <a:ea typeface="Kanit" pitchFamily="34" charset="-122"/>
                <a:cs typeface="Kanit" pitchFamily="34" charset="-120"/>
              </a:rPr>
              <a:t>C4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8138160" y="3785616"/>
            <a:ext cx="34290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Subquery ใน HAVING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ลูกค้าที่จ่ายสูงกว่าค่าเฉลี่ย</a:t>
            </a:r>
            <a:endParaRPr lang="en-US" sz="1500" dirty="0"/>
          </a:p>
        </p:txBody>
      </p:sp>
      <p:sp>
        <p:nvSpPr>
          <p:cNvPr id="19" name="test row"/>
          <p:cNvSpPr/>
          <p:nvPr/>
        </p:nvSpPr>
        <p:spPr>
          <a:xfrm>
            <a:off x="7223760" y="4544568"/>
            <a:ext cx="4416552" cy="694944"/>
          </a:xfrm>
          <a:prstGeom prst="roundRect">
            <a:avLst>
              <a:gd name="adj" fmla="val 15789"/>
            </a:avLst>
          </a:prstGeom>
          <a:solidFill>
            <a:schemeClr val="tx2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360920" y="4544568"/>
            <a:ext cx="7315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Kanit" pitchFamily="34" charset="0"/>
                <a:ea typeface="Kanit" pitchFamily="34" charset="-122"/>
                <a:cs typeface="Kanit" pitchFamily="34" charset="-120"/>
              </a:rPr>
              <a:t>C5</a:t>
            </a:r>
            <a:endParaRPr lang="en-US" sz="1500" dirty="0"/>
          </a:p>
        </p:txBody>
      </p:sp>
      <p:sp>
        <p:nvSpPr>
          <p:cNvPr id="21" name="Text 18"/>
          <p:cNvSpPr txBox="1"/>
          <p:nvPr/>
        </p:nvSpPr>
        <p:spPr>
          <a:xfrm>
            <a:off x="8138160" y="4590288"/>
            <a:ext cx="34290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BEGIN … COMMIT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คืนรถครบทั้ง 4 ตารางใน 1 Transaction</a:t>
            </a:r>
            <a:endParaRPr lang="en-US" sz="1500" dirty="0"/>
          </a:p>
        </p:txBody>
      </p:sp>
      <p:sp>
        <p:nvSpPr>
          <p:cNvPr id="22" name="test row"/>
          <p:cNvSpPr/>
          <p:nvPr/>
        </p:nvSpPr>
        <p:spPr>
          <a:xfrm>
            <a:off x="7223760" y="5349240"/>
            <a:ext cx="4416552" cy="694944"/>
          </a:xfrm>
          <a:prstGeom prst="roundRect">
            <a:avLst>
              <a:gd name="adj" fmla="val 15789"/>
            </a:avLst>
          </a:prstGeom>
          <a:solidFill>
            <a:schemeClr val="tx2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7360920" y="5349240"/>
            <a:ext cx="7315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Kanit" pitchFamily="34" charset="0"/>
                <a:ea typeface="Kanit" pitchFamily="34" charset="-122"/>
                <a:cs typeface="Kanit" pitchFamily="34" charset="-120"/>
              </a:rPr>
              <a:t>C6–C7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8138160" y="5394960"/>
            <a:ext cx="34290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Constraint test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ทดสอบ BR2 และ BR7 (สไลด์ถัดไป)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Kanit" pitchFamily="34" charset="0"/>
                <a:ea typeface="Kanit" pitchFamily="34" charset="-122"/>
                <a:cs typeface="Kanit" pitchFamily="34" charset="-120"/>
              </a:rPr>
              <a:t>ทดสอบความถูกต้องของข้อมูล (Constraint Test)</a:t>
            </a:r>
            <a:endParaRPr lang="en-US" sz="3000" dirty="0"/>
          </a:p>
        </p:txBody>
      </p:sp>
      <p:sp>
        <p:nvSpPr>
          <p:cNvPr id="3" name="test card"/>
          <p:cNvSpPr/>
          <p:nvPr/>
        </p:nvSpPr>
        <p:spPr>
          <a:xfrm>
            <a:off x="548640" y="1325880"/>
            <a:ext cx="5422392" cy="4160520"/>
          </a:xfrm>
          <a:prstGeom prst="roundRect">
            <a:avLst>
              <a:gd name="adj" fmla="val 2637"/>
            </a:avLst>
          </a:prstGeom>
          <a:solidFill>
            <a:schemeClr val="tx2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463040"/>
            <a:ext cx="48737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2"/>
                </a:solidFill>
                <a:latin typeface="Kanit" pitchFamily="34" charset="0"/>
                <a:ea typeface="Kanit" pitchFamily="34" charset="-122"/>
                <a:cs typeface="Kanit" pitchFamily="34" charset="-120"/>
              </a:rPr>
              <a:t>BR2 · ห้ามจองซ้อน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1901952"/>
            <a:ext cx="48737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จองรถ Camry 21–24 ต.ค. ซ้อนกับการจองเดิม 20–23 ต.ค.</a:t>
            </a:r>
            <a:endParaRPr lang="en-US" sz="1400" dirty="0"/>
          </a:p>
        </p:txBody>
      </p:sp>
      <p:sp>
        <p:nvSpPr>
          <p:cNvPr id="6" name="test sql panel"/>
          <p:cNvSpPr/>
          <p:nvPr/>
        </p:nvSpPr>
        <p:spPr>
          <a:xfrm>
            <a:off x="822960" y="2377440"/>
            <a:ext cx="4873752" cy="1600200"/>
          </a:xfrm>
          <a:prstGeom prst="roundRect">
            <a:avLst>
              <a:gd name="adj" fmla="val 5714"/>
            </a:avLst>
          </a:prstGeom>
          <a:solidFill>
            <a:schemeClr val="accent6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7" name="test sql"/>
          <p:cNvSpPr txBox="1"/>
          <p:nvPr/>
        </p:nvSpPr>
        <p:spPr>
          <a:xfrm>
            <a:off x="1051560" y="2560320"/>
            <a:ext cx="441655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BB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INSERT</a:t>
            </a:r>
            <a:pPr indent="0" marL="0">
              <a:buNone/>
            </a:pPr>
            <a:r>
              <a:rPr lang="en-US" sz="13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FBB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INTO</a:t>
            </a:r>
            <a:pPr indent="0" marL="0">
              <a:buNone/>
            </a:pPr>
            <a:r>
              <a:rPr lang="en-US" sz="13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booking</a:t>
            </a:r>
            <a:pPr indent="0" marL="0">
              <a:buNone/>
            </a:pPr>
            <a:r>
              <a:rPr lang="en-US" sz="13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(</a:t>
            </a:r>
            <a:pPr indent="0" marL="0">
              <a:buNone/>
            </a:pPr>
            <a:r>
              <a:rPr lang="en-US" sz="13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customer_id</a:t>
            </a:r>
            <a:pPr indent="0" marL="0">
              <a:buNone/>
            </a:pPr>
            <a:r>
              <a:rPr lang="en-US" sz="13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3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car_id</a:t>
            </a:r>
            <a:pPr indent="0" marL="0">
              <a:buNone/>
            </a:pPr>
            <a:r>
              <a:rPr lang="en-US" sz="13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3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start_date</a:t>
            </a:r>
            <a:pPr indent="0" marL="0">
              <a:buNone/>
            </a:pPr>
            <a:r>
              <a:rPr lang="en-US" sz="13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3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end_date</a:t>
            </a:r>
            <a:pPr indent="0" marL="0">
              <a:buNone/>
            </a:pPr>
            <a:r>
              <a:rPr lang="en-US" sz="13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BB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VALUES</a:t>
            </a:r>
            <a:pPr indent="0" marL="0">
              <a:buNone/>
            </a:pPr>
            <a:r>
              <a:rPr lang="en-US" sz="13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(3, 1, </a:t>
            </a:r>
            <a:pPr indent="0" marL="0">
              <a:buNone/>
            </a:pPr>
            <a:r>
              <a:rPr lang="en-US" sz="1300" dirty="0">
                <a:solidFill>
                  <a:srgbClr val="2DD4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'2026-10-21 10:00'</a:t>
            </a:r>
            <a:pPr indent="0" marL="0">
              <a:buNone/>
            </a:pPr>
            <a:r>
              <a:rPr lang="en-US" sz="13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</a:t>
            </a:r>
            <a:pPr indent="0" marL="0">
              <a:buNone/>
            </a:pPr>
            <a:r>
              <a:rPr lang="en-US" sz="1300" dirty="0">
                <a:solidFill>
                  <a:srgbClr val="2DD4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'2026-10-24 10:00'</a:t>
            </a:r>
            <a:pPr indent="0" marL="0">
              <a:buNone/>
            </a:pPr>
            <a:r>
              <a:rPr lang="en-US" sz="13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300" dirty="0"/>
          </a:p>
        </p:txBody>
      </p:sp>
      <p:sp>
        <p:nvSpPr>
          <p:cNvPr id="8" name="error panel"/>
          <p:cNvSpPr/>
          <p:nvPr/>
        </p:nvSpPr>
        <p:spPr>
          <a:xfrm>
            <a:off x="822960" y="4114800"/>
            <a:ext cx="4873752" cy="1143000"/>
          </a:xfrm>
          <a:prstGeom prst="roundRect">
            <a:avLst>
              <a:gd name="adj" fmla="val 8000"/>
            </a:avLst>
          </a:prstGeom>
          <a:solidFill>
            <a:schemeClr val="accent6"/>
          </a:solidFill>
          <a:ln w="19050">
            <a:solidFill>
              <a:schemeClr val="accent3"/>
            </a:solidFill>
            <a:prstDash val="solid"/>
          </a:ln>
        </p:spPr>
      </p:sp>
      <p:pic>
        <p:nvPicPr>
          <p:cNvPr id="9" name="rejected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434840"/>
            <a:ext cx="457200" cy="45720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1645920" y="4160520"/>
            <a:ext cx="39136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ERROR: conflicting key value violates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exclusion constraint "no_overlap"</a:t>
            </a:r>
            <a:endParaRPr lang="en-US" sz="1300" dirty="0"/>
          </a:p>
        </p:txBody>
      </p:sp>
      <p:sp>
        <p:nvSpPr>
          <p:cNvPr id="11" name="test card"/>
          <p:cNvSpPr/>
          <p:nvPr/>
        </p:nvSpPr>
        <p:spPr>
          <a:xfrm>
            <a:off x="6217920" y="1325880"/>
            <a:ext cx="5422392" cy="4160520"/>
          </a:xfrm>
          <a:prstGeom prst="roundRect">
            <a:avLst>
              <a:gd name="adj" fmla="val 2637"/>
            </a:avLst>
          </a:prstGeom>
          <a:solidFill>
            <a:schemeClr val="tx2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492240" y="1463040"/>
            <a:ext cx="48737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2"/>
                </a:solidFill>
                <a:latin typeface="Kanit" pitchFamily="34" charset="0"/>
                <a:ea typeface="Kanit" pitchFamily="34" charset="-122"/>
                <a:cs typeface="Kanit" pitchFamily="34" charset="-120"/>
              </a:rPr>
              <a:t>BR7 · วันคืนต้องหลังวันรับ</a:t>
            </a:r>
            <a:endParaRPr lang="en-US" sz="2000" dirty="0"/>
          </a:p>
        </p:txBody>
      </p:sp>
      <p:sp>
        <p:nvSpPr>
          <p:cNvPr id="13" name="Text 10"/>
          <p:cNvSpPr txBox="1"/>
          <p:nvPr/>
        </p:nvSpPr>
        <p:spPr>
          <a:xfrm>
            <a:off x="6492240" y="1901952"/>
            <a:ext cx="48737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วันคืน 1 พ.ย. อยู่ก่อนวันรับ 5 พ.ย.</a:t>
            </a:r>
            <a:endParaRPr lang="en-US" sz="1400" dirty="0"/>
          </a:p>
        </p:txBody>
      </p:sp>
      <p:sp>
        <p:nvSpPr>
          <p:cNvPr id="14" name="test sql panel"/>
          <p:cNvSpPr/>
          <p:nvPr/>
        </p:nvSpPr>
        <p:spPr>
          <a:xfrm>
            <a:off x="6492240" y="2377440"/>
            <a:ext cx="4873752" cy="1600200"/>
          </a:xfrm>
          <a:prstGeom prst="roundRect">
            <a:avLst>
              <a:gd name="adj" fmla="val 5714"/>
            </a:avLst>
          </a:prstGeom>
          <a:solidFill>
            <a:schemeClr val="accent6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5" name="test sql"/>
          <p:cNvSpPr txBox="1"/>
          <p:nvPr/>
        </p:nvSpPr>
        <p:spPr>
          <a:xfrm>
            <a:off x="6720840" y="2560320"/>
            <a:ext cx="441655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BB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INSERT</a:t>
            </a:r>
            <a:pPr indent="0" marL="0">
              <a:buNone/>
            </a:pPr>
            <a:r>
              <a:rPr lang="en-US" sz="13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FBB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INTO</a:t>
            </a:r>
            <a:pPr indent="0" marL="0">
              <a:buNone/>
            </a:pPr>
            <a:r>
              <a:rPr lang="en-US" sz="13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booking</a:t>
            </a:r>
            <a:pPr indent="0" marL="0">
              <a:buNone/>
            </a:pPr>
            <a:r>
              <a:rPr lang="en-US" sz="13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(</a:t>
            </a:r>
            <a:pPr indent="0" marL="0">
              <a:buNone/>
            </a:pPr>
            <a:r>
              <a:rPr lang="en-US" sz="13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customer_id</a:t>
            </a:r>
            <a:pPr indent="0" marL="0">
              <a:buNone/>
            </a:pPr>
            <a:r>
              <a:rPr lang="en-US" sz="13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3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car_id</a:t>
            </a:r>
            <a:pPr indent="0" marL="0">
              <a:buNone/>
            </a:pPr>
            <a:r>
              <a:rPr lang="en-US" sz="13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3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start_date</a:t>
            </a:r>
            <a:pPr indent="0" marL="0">
              <a:buNone/>
            </a:pPr>
            <a:r>
              <a:rPr lang="en-US" sz="13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3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end_date</a:t>
            </a:r>
            <a:pPr indent="0" marL="0">
              <a:buNone/>
            </a:pPr>
            <a:r>
              <a:rPr lang="en-US" sz="13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BB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VALUES</a:t>
            </a:r>
            <a:pPr indent="0" marL="0">
              <a:buNone/>
            </a:pPr>
            <a:r>
              <a:rPr lang="en-US" sz="13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(3, 3, </a:t>
            </a:r>
            <a:pPr indent="0" marL="0">
              <a:buNone/>
            </a:pPr>
            <a:r>
              <a:rPr lang="en-US" sz="1300" dirty="0">
                <a:solidFill>
                  <a:srgbClr val="2DD4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'2026-11-05'</a:t>
            </a:r>
            <a:pPr indent="0" marL="0">
              <a:buNone/>
            </a:pPr>
            <a:r>
              <a:rPr lang="en-US" sz="13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</a:t>
            </a:r>
            <a:pPr indent="0" marL="0">
              <a:buNone/>
            </a:pPr>
            <a:r>
              <a:rPr lang="en-US" sz="1300" dirty="0">
                <a:solidFill>
                  <a:srgbClr val="2DD4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'2026-11-01'</a:t>
            </a:r>
            <a:pPr indent="0" marL="0">
              <a:buNone/>
            </a:pPr>
            <a:r>
              <a:rPr lang="en-US" sz="13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300" dirty="0"/>
          </a:p>
        </p:txBody>
      </p:sp>
      <p:sp>
        <p:nvSpPr>
          <p:cNvPr id="16" name="error panel"/>
          <p:cNvSpPr/>
          <p:nvPr/>
        </p:nvSpPr>
        <p:spPr>
          <a:xfrm>
            <a:off x="6492240" y="4114800"/>
            <a:ext cx="4873752" cy="1143000"/>
          </a:xfrm>
          <a:prstGeom prst="roundRect">
            <a:avLst>
              <a:gd name="adj" fmla="val 8000"/>
            </a:avLst>
          </a:prstGeom>
          <a:solidFill>
            <a:schemeClr val="accent6"/>
          </a:solidFill>
          <a:ln w="19050">
            <a:solidFill>
              <a:schemeClr val="accent3"/>
            </a:solidFill>
            <a:prstDash val="solid"/>
          </a:ln>
        </p:spPr>
      </p:sp>
      <p:pic>
        <p:nvPicPr>
          <p:cNvPr id="17" name="rejected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4434840"/>
            <a:ext cx="457200" cy="457200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7315200" y="4160520"/>
            <a:ext cx="39136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ERROR: new row violates check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constraint "chk_booking_dates"</a:t>
            </a:r>
            <a:endParaRPr lang="en-US" sz="1300" dirty="0"/>
          </a:p>
        </p:txBody>
      </p:sp>
      <p:sp>
        <p:nvSpPr>
          <p:cNvPr id="19" name="takeaway icon circle"/>
          <p:cNvSpPr/>
          <p:nvPr/>
        </p:nvSpPr>
        <p:spPr>
          <a:xfrm>
            <a:off x="548640" y="5623560"/>
            <a:ext cx="566928" cy="56692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0" name="takeaway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3364" y="5748284"/>
            <a:ext cx="317480" cy="317480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1325880" y="5623560"/>
            <a:ext cx="10058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ฐานข้อมูลปฏิเสธข้อมูลผิดได้เอง ไม่ต้องพึ่งโค้ดฝั่งแอปพลิเคชัน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Kanit" pitchFamily="34" charset="0"/>
                <a:ea typeface="Kanit" pitchFamily="34" charset="-122"/>
                <a:cs typeface="Kanit" pitchFamily="34" charset="-120"/>
              </a:rPr>
              <a:t>สรุปและประเมินผล</a:t>
            </a:r>
            <a:endParaRPr lang="en-US" sz="3000" dirty="0"/>
          </a:p>
        </p:txBody>
      </p:sp>
      <p:sp>
        <p:nvSpPr>
          <p:cNvPr id="3" name="result stat"/>
          <p:cNvSpPr/>
          <p:nvPr/>
        </p:nvSpPr>
        <p:spPr>
          <a:xfrm>
            <a:off x="548640" y="1325880"/>
            <a:ext cx="2567864" cy="13716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371600"/>
            <a:ext cx="256786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chemeClr val="accent1"/>
                </a:solidFill>
                <a:latin typeface="Kanit" pitchFamily="34" charset="0"/>
                <a:ea typeface="Kanit" pitchFamily="34" charset="-122"/>
                <a:cs typeface="Kanit" pitchFamily="34" charset="-120"/>
              </a:rPr>
              <a:t>6</a:t>
            </a:r>
            <a:endParaRPr lang="en-US" sz="4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240280"/>
            <a:ext cx="2567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bg2"/>
                </a:solidFill>
              </a:rPr>
              <a:t>ตาราง ถึง 3NF</a:t>
            </a:r>
            <a:endParaRPr lang="en-US" sz="1500" dirty="0"/>
          </a:p>
        </p:txBody>
      </p:sp>
      <p:sp>
        <p:nvSpPr>
          <p:cNvPr id="6" name="result stat"/>
          <p:cNvSpPr/>
          <p:nvPr/>
        </p:nvSpPr>
        <p:spPr>
          <a:xfrm>
            <a:off x="3390824" y="1325880"/>
            <a:ext cx="2567864" cy="13716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390824" y="1371600"/>
            <a:ext cx="256786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chemeClr val="accent1"/>
                </a:solidFill>
                <a:latin typeface="Kanit" pitchFamily="34" charset="0"/>
                <a:ea typeface="Kanit" pitchFamily="34" charset="-122"/>
                <a:cs typeface="Kanit" pitchFamily="34" charset="-120"/>
              </a:rPr>
              <a:t>7</a:t>
            </a:r>
            <a:endParaRPr lang="en-US" sz="4800" dirty="0"/>
          </a:p>
        </p:txBody>
      </p:sp>
      <p:sp>
        <p:nvSpPr>
          <p:cNvPr id="8" name="Text 6"/>
          <p:cNvSpPr txBox="1"/>
          <p:nvPr/>
        </p:nvSpPr>
        <p:spPr>
          <a:xfrm>
            <a:off x="3390824" y="2240280"/>
            <a:ext cx="2567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bg2"/>
                </a:solidFill>
              </a:rPr>
              <a:t>Business Rules</a:t>
            </a:r>
            <a:endParaRPr lang="en-US" sz="1500" dirty="0"/>
          </a:p>
        </p:txBody>
      </p:sp>
      <p:sp>
        <p:nvSpPr>
          <p:cNvPr id="9" name="result stat"/>
          <p:cNvSpPr/>
          <p:nvPr/>
        </p:nvSpPr>
        <p:spPr>
          <a:xfrm>
            <a:off x="6233008" y="1325880"/>
            <a:ext cx="2567864" cy="13716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233008" y="1371600"/>
            <a:ext cx="256786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chemeClr val="accent1"/>
                </a:solidFill>
                <a:latin typeface="Kanit" pitchFamily="34" charset="0"/>
                <a:ea typeface="Kanit" pitchFamily="34" charset="-122"/>
                <a:cs typeface="Kanit" pitchFamily="34" charset="-120"/>
              </a:rPr>
              <a:t>30</a:t>
            </a:r>
            <a:endParaRPr lang="en-US" sz="4800" dirty="0"/>
          </a:p>
        </p:txBody>
      </p:sp>
      <p:sp>
        <p:nvSpPr>
          <p:cNvPr id="11" name="Text 9"/>
          <p:cNvSpPr txBox="1"/>
          <p:nvPr/>
        </p:nvSpPr>
        <p:spPr>
          <a:xfrm>
            <a:off x="6233008" y="2240280"/>
            <a:ext cx="2567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bg2"/>
                </a:solidFill>
              </a:rPr>
              <a:t>Constraints</a:t>
            </a:r>
            <a:endParaRPr lang="en-US" sz="1500" dirty="0"/>
          </a:p>
        </p:txBody>
      </p:sp>
      <p:sp>
        <p:nvSpPr>
          <p:cNvPr id="12" name="result stat"/>
          <p:cNvSpPr/>
          <p:nvPr/>
        </p:nvSpPr>
        <p:spPr>
          <a:xfrm>
            <a:off x="9075191" y="1325880"/>
            <a:ext cx="2567864" cy="13716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075191" y="1371600"/>
            <a:ext cx="256786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chemeClr val="accent1"/>
                </a:solidFill>
                <a:latin typeface="Kanit" pitchFamily="34" charset="0"/>
                <a:ea typeface="Kanit" pitchFamily="34" charset="-122"/>
                <a:cs typeface="Kanit" pitchFamily="34" charset="-120"/>
              </a:rPr>
              <a:t>18</a:t>
            </a:r>
            <a:endParaRPr lang="en-US" sz="4800" dirty="0"/>
          </a:p>
        </p:txBody>
      </p:sp>
      <p:sp>
        <p:nvSpPr>
          <p:cNvPr id="14" name="Text 12"/>
          <p:cNvSpPr txBox="1"/>
          <p:nvPr/>
        </p:nvSpPr>
        <p:spPr>
          <a:xfrm>
            <a:off x="9075191" y="2240280"/>
            <a:ext cx="2567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bg2"/>
                </a:solidFill>
              </a:rPr>
              <a:t>คำสั่งทดสอบผ่าน</a:t>
            </a:r>
            <a:endParaRPr lang="en-US" sz="1500" dirty="0"/>
          </a:p>
        </p:txBody>
      </p:sp>
      <p:sp>
        <p:nvSpPr>
          <p:cNvPr id="15" name="conclusion column"/>
          <p:cNvSpPr/>
          <p:nvPr/>
        </p:nvSpPr>
        <p:spPr>
          <a:xfrm>
            <a:off x="548640" y="2971800"/>
            <a:ext cx="3515258" cy="3200400"/>
          </a:xfrm>
          <a:prstGeom prst="roundRect">
            <a:avLst>
              <a:gd name="adj" fmla="val 3429"/>
            </a:avLst>
          </a:prstGeom>
          <a:solidFill>
            <a:schemeClr val="tx2"/>
          </a:solidFill>
          <a:ln w="9525">
            <a:solidFill>
              <a:schemeClr val="accent4"/>
            </a:solidFill>
            <a:prstDash val="solid"/>
          </a:ln>
        </p:spPr>
      </p:sp>
      <p:pic>
        <p:nvPicPr>
          <p:cNvPr id="16" name="column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3200400"/>
            <a:ext cx="411480" cy="411480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1371600" y="3154680"/>
            <a:ext cx="250941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Kanit" pitchFamily="34" charset="0"/>
                <a:ea typeface="Kanit" pitchFamily="34" charset="-122"/>
                <a:cs typeface="Kanit" pitchFamily="34" charset="-120"/>
              </a:rPr>
              <a:t>ผลที่ได้</a:t>
            </a:r>
            <a:endParaRPr lang="en-US" sz="2000" dirty="0"/>
          </a:p>
        </p:txBody>
      </p:sp>
      <p:sp>
        <p:nvSpPr>
          <p:cNvPr id="18" name="Text 15"/>
          <p:cNvSpPr txBox="1"/>
          <p:nvPr/>
        </p:nvSpPr>
        <p:spPr>
          <a:xfrm>
            <a:off x="822960" y="3840480"/>
            <a:ext cx="301233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chemeClr val="bg1"/>
                </a:solidFill>
              </a:rPr>
              <a:t>ฐานข้อมูลครบทุกความต้องการของผู้ใช้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chemeClr val="bg1"/>
                </a:solidFill>
              </a:rPr>
              <a:t>ป้องกันการจองซ้อนและวันที่ผิดในระดับฐานข้อมูล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chemeClr val="bg1"/>
                </a:solidFill>
              </a:rPr>
              <a:t>ทดสอบครบทั้งง่าย กลาง ซับซ้อน</a:t>
            </a:r>
            <a:endParaRPr lang="en-US" sz="1700" dirty="0"/>
          </a:p>
        </p:txBody>
      </p:sp>
      <p:sp>
        <p:nvSpPr>
          <p:cNvPr id="19" name="conclusion column"/>
          <p:cNvSpPr/>
          <p:nvPr/>
        </p:nvSpPr>
        <p:spPr>
          <a:xfrm>
            <a:off x="4338218" y="2971800"/>
            <a:ext cx="3515258" cy="3200400"/>
          </a:xfrm>
          <a:prstGeom prst="roundRect">
            <a:avLst>
              <a:gd name="adj" fmla="val 3429"/>
            </a:avLst>
          </a:prstGeom>
          <a:solidFill>
            <a:schemeClr val="tx2"/>
          </a:solidFill>
          <a:ln w="9525">
            <a:solidFill>
              <a:schemeClr val="accent4"/>
            </a:solidFill>
            <a:prstDash val="solid"/>
          </a:ln>
        </p:spPr>
      </p:sp>
      <p:pic>
        <p:nvPicPr>
          <p:cNvPr id="20" name="column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2538" y="3200400"/>
            <a:ext cx="411480" cy="411480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5161178" y="3154680"/>
            <a:ext cx="250941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2"/>
                </a:solidFill>
                <a:latin typeface="Kanit" pitchFamily="34" charset="0"/>
                <a:ea typeface="Kanit" pitchFamily="34" charset="-122"/>
                <a:cs typeface="Kanit" pitchFamily="34" charset="-120"/>
              </a:rPr>
              <a:t>ข้อจำกัด</a:t>
            </a:r>
            <a:endParaRPr lang="en-US" sz="2000" dirty="0"/>
          </a:p>
        </p:txBody>
      </p:sp>
      <p:sp>
        <p:nvSpPr>
          <p:cNvPr id="22" name="Text 18"/>
          <p:cNvSpPr txBox="1"/>
          <p:nvPr/>
        </p:nvSpPr>
        <p:spPr>
          <a:xfrm>
            <a:off x="4612538" y="3840480"/>
            <a:ext cx="301233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chemeClr val="bg1"/>
                </a:solidFill>
              </a:rPr>
              <a:t>ยังไม่มีหน้าเว็บสำหรับผู้ใช้จริง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chemeClr val="bg1"/>
                </a:solidFill>
              </a:rPr>
              <a:t>ยังไม่ได้เข้ารหัสข้อมูลใบขับขี่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chemeClr val="bg1"/>
                </a:solidFill>
              </a:rPr>
              <a:t>BR6 ยังตรวจใน query ไม่ใช่ constraint</a:t>
            </a:r>
            <a:endParaRPr lang="en-US" sz="1700" dirty="0"/>
          </a:p>
        </p:txBody>
      </p:sp>
      <p:sp>
        <p:nvSpPr>
          <p:cNvPr id="23" name="conclusion column"/>
          <p:cNvSpPr/>
          <p:nvPr/>
        </p:nvSpPr>
        <p:spPr>
          <a:xfrm>
            <a:off x="8127797" y="2971800"/>
            <a:ext cx="3515258" cy="3200400"/>
          </a:xfrm>
          <a:prstGeom prst="roundRect">
            <a:avLst>
              <a:gd name="adj" fmla="val 3429"/>
            </a:avLst>
          </a:prstGeom>
          <a:solidFill>
            <a:schemeClr val="tx2"/>
          </a:solidFill>
          <a:ln w="9525">
            <a:solidFill>
              <a:schemeClr val="accent4"/>
            </a:solidFill>
            <a:prstDash val="solid"/>
          </a:ln>
        </p:spPr>
      </p:sp>
      <p:pic>
        <p:nvPicPr>
          <p:cNvPr id="24" name="column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02117" y="3200400"/>
            <a:ext cx="411480" cy="411480"/>
          </a:xfrm>
          <a:prstGeom prst="rect">
            <a:avLst/>
          </a:prstGeom>
        </p:spPr>
      </p:pic>
      <p:sp>
        <p:nvSpPr>
          <p:cNvPr id="25" name="Text 20"/>
          <p:cNvSpPr txBox="1"/>
          <p:nvPr/>
        </p:nvSpPr>
        <p:spPr>
          <a:xfrm>
            <a:off x="8950757" y="3154680"/>
            <a:ext cx="250941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5"/>
                </a:solidFill>
                <a:latin typeface="Kanit" pitchFamily="34" charset="0"/>
                <a:ea typeface="Kanit" pitchFamily="34" charset="-122"/>
                <a:cs typeface="Kanit" pitchFamily="34" charset="-120"/>
              </a:rPr>
              <a:t>แนวทางพัฒนาต่อ</a:t>
            </a:r>
            <a:endParaRPr lang="en-US" sz="2000" dirty="0"/>
          </a:p>
        </p:txBody>
      </p:sp>
      <p:sp>
        <p:nvSpPr>
          <p:cNvPr id="26" name="Text 21"/>
          <p:cNvSpPr txBox="1"/>
          <p:nvPr/>
        </p:nvSpPr>
        <p:spPr>
          <a:xfrm>
            <a:off x="8402117" y="3840480"/>
            <a:ext cx="301233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chemeClr val="bg1"/>
                </a:solidFill>
              </a:rPr>
              <a:t>พัฒนา Web App เชื่อม Supabase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chemeClr val="bg1"/>
                </a:solidFill>
              </a:rPr>
              <a:t>Trigger อัปเดตสถานะรถอัตโนมัติ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chemeClr val="bg1"/>
                </a:solidFill>
              </a:rPr>
              <a:t>รีวิวรถ โปรโมชั่น และ Dashboard รายได้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losing ring"/>
          <p:cNvSpPr/>
          <p:nvPr/>
        </p:nvSpPr>
        <p:spPr>
          <a:xfrm>
            <a:off x="5090008" y="822960"/>
            <a:ext cx="2011680" cy="2011680"/>
          </a:xfrm>
          <a:prstGeom prst="ellipse">
            <a:avLst/>
          </a:prstGeom>
          <a:solidFill>
            <a:schemeClr val="tx2"/>
          </a:solidFill>
          <a:ln w="25400">
            <a:solidFill>
              <a:schemeClr val="accent1"/>
            </a:solidFill>
            <a:prstDash val="solid"/>
          </a:ln>
        </p:spPr>
      </p:sp>
      <p:pic>
        <p:nvPicPr>
          <p:cNvPr id="3" name="closing car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55768" y="1188720"/>
            <a:ext cx="1280160" cy="1280160"/>
          </a:xfrm>
          <a:prstGeom prst="rect">
            <a:avLst/>
          </a:prstGeom>
        </p:spPr>
      </p:pic>
      <p:sp>
        <p:nvSpPr>
          <p:cNvPr id="4" name="title"/>
          <p:cNvSpPr txBox="1"/>
          <p:nvPr/>
        </p:nvSpPr>
        <p:spPr>
          <a:xfrm>
            <a:off x="0" y="3063240"/>
            <a:ext cx="12191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5400" b="1" dirty="0">
                <a:solidFill>
                  <a:schemeClr val="bg1"/>
                </a:solidFill>
                <a:latin typeface="Kanit" pitchFamily="34" charset="0"/>
                <a:ea typeface="Kanit" pitchFamily="34" charset="-122"/>
                <a:cs typeface="Kanit" pitchFamily="34" charset="-120"/>
              </a:rPr>
              <a:t>ขอบคุณครับ</a:t>
            </a:r>
            <a:endParaRPr lang="en-US" sz="5400" dirty="0"/>
          </a:p>
        </p:txBody>
      </p:sp>
      <p:sp>
        <p:nvSpPr>
          <p:cNvPr id="5" name="Text 2"/>
          <p:cNvSpPr txBox="1"/>
          <p:nvPr/>
        </p:nvSpPr>
        <p:spPr>
          <a:xfrm>
            <a:off x="0" y="3977640"/>
            <a:ext cx="121916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accent2"/>
                </a:solidFill>
                <a:latin typeface="Kanit" pitchFamily="34" charset="0"/>
                <a:ea typeface="Kanit" pitchFamily="34" charset="-122"/>
                <a:cs typeface="Kanit" pitchFamily="34" charset="-120"/>
              </a:rPr>
              <a:t>Q &amp; A</a:t>
            </a:r>
            <a:endParaRPr lang="en-US" sz="28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4937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bg2"/>
                </a:solidFill>
              </a:rPr>
              <a:t>สิทธิพันธุ์ ฮงเจริญ  68070182     ·     จิราธิวัชร ทะวิลา  68070228     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chemeClr val="bg2"/>
                </a:solidFill>
              </a:rPr>
              <a:t>ภรัมพรหม เหลืองภุมรัตน์  68070229     ·     พูนพิพัฒน์ ช่างเกวียน  68070329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ar Rental Night Drive">
  <a:themeElements>
    <a:clrScheme name="Car Rental Night Drive">
      <a:dk1>
        <a:srgbClr val="0B1426"/>
      </a:dk1>
      <a:lt1>
        <a:srgbClr val="F1F5F9"/>
      </a:lt1>
      <a:dk2>
        <a:srgbClr val="16233B"/>
      </a:dk2>
      <a:lt2>
        <a:srgbClr val="94A3B8"/>
      </a:lt2>
      <a:accent1>
        <a:srgbClr val="2DD4BF"/>
      </a:accent1>
      <a:accent2>
        <a:srgbClr val="FBBF24"/>
      </a:accent2>
      <a:accent3>
        <a:srgbClr val="FB7185"/>
      </a:accent3>
      <a:accent4>
        <a:srgbClr val="1F3150"/>
      </a:accent4>
      <a:accent5>
        <a:srgbClr val="60A5FA"/>
      </a:accent5>
      <a:accent6>
        <a:srgbClr val="060C18"/>
      </a:accent6>
      <a:hlink>
        <a:srgbClr val="2DD4BF"/>
      </a:hlink>
      <a:folHlink>
        <a:srgbClr val="FBBF24"/>
      </a:folHlink>
    </a:clrScheme>
    <a:fontScheme name="Car Rental Night Drive">
      <a:majorFont>
        <a:latin typeface="Kani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Sarabun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Online Car Rental System</dc:title>
  <dc:subject>PptxGenJS Presentation</dc:subject>
  <dc:creator>คณะผู้จัดทำ 68070182 68070228 68070229 68070329</dc:creator>
  <cp:lastModifiedBy>คณะผู้จัดทำ 68070182 68070228 68070229 68070329</cp:lastModifiedBy>
  <cp:revision>1</cp:revision>
  <dcterms:created xsi:type="dcterms:W3CDTF">2026-10-11T14:49:43Z</dcterms:created>
  <dcterms:modified xsi:type="dcterms:W3CDTF">2026-10-11T14:49:43Z</dcterms:modified>
</cp:coreProperties>
</file>