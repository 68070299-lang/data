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บทนำ" id="{f64625d5-d19a-4654-95e3-2a2dc3926a7c}">
          <p14:sldIdLst>
            <p14:sldId id="256"/>
            <p14:sldId id="257"/>
            <p14:sldId id="258"/>
            <p14:sldId id="259"/>
          </p14:sldIdLst>
        </p14:section>
        <p14:section name="การออกแบบ" id="{f8e28c5d-858c-f381-0ef4-6ac2fa6f38b1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การสร้างและทดสอบ" id="{25a58e8c-2c26-d65a-7063-ae9c6d09110c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สรุป" id="{0485e40b-9ece-3cee-5ca9-699e34589896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57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B6577"/>
                </a:solidFill>
                <a:latin typeface="+mn-lt"/>
              </a:rPr>
              <a:t>ผล M2: ค่าเช่าเฉลี่ยต่อวันตามประเภท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ค่าเช่าเฉลี่ย (บาท/วัน)</c:v>
                </c:pt>
              </c:strCache>
            </c:strRef>
          </c:tx>
          <c:spPr>
            <a:solidFill>
              <a:srgbClr val="1F3A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Van</c:v>
                  </c:pt>
                  <c:pt idx="1">
                    <c:v>SUV</c:v>
                  </c:pt>
                  <c:pt idx="2">
                    <c:v>Sedan</c:v>
                  </c:pt>
                  <c:pt idx="3">
                    <c:v>Eco Car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2900</c:v>
                </c:pt>
                <c:pt idx="1">
                  <c:v>2400</c:v>
                </c:pt>
                <c:pt idx="2">
                  <c:v>1650</c:v>
                </c:pt>
                <c:pt idx="3">
                  <c:v>925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 กลุ่มของเรานำเสนอโครงงาน Online Car Rental System ระบบเช่ารถยนต์ออนไลน์ วิชาแนวคิดระบบฐานข้อมูล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ปัญหาหลักของร้านเช่ารถแบบเดิมคือข้อมูลกระจัดกระจาย ซ้ำซ้อน และเสี่ยงต่อการจองรถคันเดียวกันซ้อนกัน เราจึงออกแบบฐานข้อมูลกลางเพื่อแก้ปัญหาเหล่านี้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วัตถุประสงค์มี 3 ข้อ ขอบเขตครอบคลุมผู้ใช้ 2 กลุ่ม คือลูกค้าและผู้ดูแลระบบ และฐานข้อมูล 6 ตาราง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ความต้องการแบ่งเป็น 4 ระบบย่อยด้านฟังก์ชัน และ 2 ด้านที่ไม่ใช่ฟังก์ชัน คือความปลอดภัยและความถูกต้องของข้อมูล ซึ่งเราบังคับไว้ในฐานข้อมูลโดยตรง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เราเลือก PostgreSQL เพราะข้อมูลมีความสัมพันธ์ชัดเจน และมี EXCLUDE constraint ที่ใช้กันการจองซ้อนได้ ซึ่ง MySQL ไม่มี ต้องเขียน trigger เอง ระบบออกแบบเป็น 3-Tier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ระบบมี 5 ขั้นตอนหลัก ตั้งแต่ลงทะเบียน ค้นหารถ จองและเช่า ชำระเงิน จนถึงคืนรถ แต่ละขั้นจะอ่านหรือเขียนตารางที่แสดงอยู่ด้านล่าง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กฎทางธุรกิจทั้ง 7 ข้อ เราแปลงเป็น constraint ในฐานข้อมูล ข้อสำคัญคือ BR2 ใช้ EXCLUDE constraint ป้องกันการจองซ้อน และ BR7 ใช้ CHECK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มี 6 เอนทิตี BOOKING เป็นศูนย์กลาง เชื่อมกับลูกค้าและรถแบบ N:1 การจองหนึ่งครั้งกลายเป็นการเช่าได้ไม่เกิน 1 ครั้ง และมีการชำระเงินได้หลายครั้ง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เริ่มจาก 1NF ที่ข้อมูลลูกค้าปนอยู่ในตารางการจอง ขั้น 2NF แยกตารางลูกค้า ขั้น 3NF แยกประเภทรถ เพราะ TypeName ขึ้นกับ CarTypeID ไม่ใช่ CarID 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Dictionary สรุปคีย์หลักและคีย์นอกของทั้ง 6 ตาราง ด้านขวาเป็นตัวอย่างรายละเอียดตาราง BOOKING ส่วนตารางอื่นอยู่ในรายงาน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 DDL ของตาราง booking ซึ่งสำคัญที่สุด มี PK FK CHECK และ EXCLUDE constraint ที่ป้องกันการจองรถคันเดียวกันในเวลาที่ทับซ้อน รวมทั้งระบบมี 30 constraints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ข้อมูลตัวอย่างออกแบบให้ครอบคลุมทุกสถานะ เพื่อให้คำสั่งทดสอบทุกข้อมีผลลัพธ์ที่มีความหมาย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ระดับง่ายเป็นคำสั่งตารางเดียว ทั้ง SELECT INSERT UPDATE DELETE ตัวอย่าง E1 หารถที่ว่างเรียงตามราคา ได้ 5 คัน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ระดับปานกลางใช้ JOIN หลายตาราง GROUP BY และ HAVING ตัวอย่าง M2 หาค่าเช่าเฉลี่ยตามประเภทรถ Van แพงที่สุด 2,900 บาทต่อวัน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ระดับซับซ้อนใช้ CTE, Window Function, NOT EXISTS กับช่วงเวลา, Subquery และ Transaction ตัวอย่าง C1 คำนวณยอดค้างชำระของแต่ละการเช่า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ทดสอบโดยตั้งใจใส่ข้อมูลผิด ฐานข้อมูลปฏิเสธทั้ง 2 กรณี: การจองซ้อนถูก EXCLUDE constraint ปฏิเสธ และวันคืนก่อนวันรับถูก CHECK ปฏิเสธ (แนะนำให้สาธิตสดใน Supabase)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 เราออกแบบฐานข้อมูล 6 ตาราง ถึง 3NF รองรับกฎทางธุรกิจครบ 7 ข้อ ทดสอบผ่าน 18 คำสั่ง ข้อจำกัดคือยังไม่มีหน้าเว็บจริง แนวทางต่อไปคือพัฒนา Web App บน Supabase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ขอบคุณครับ ยินดีตอบคำถาม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Online Car Rental System  |  06066300 แนวคิดระบบฐานข้อมูล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06066300 แนวคิดระบบฐานข้อมูล  ·  คณะเทคโนโลยีสารสนเทศ สจล.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1887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Online Car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Rental System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DBA7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ระบบเช่ารถยนต์ออนไลน์</a:t>
            </a:r>
            <a:endParaRPr lang="en-US" sz="2800" dirty="0"/>
          </a:p>
        </p:txBody>
      </p:sp>
      <p:sp>
        <p:nvSpPr>
          <p:cNvPr id="5" name="member card"/>
          <p:cNvSpPr/>
          <p:nvPr/>
        </p:nvSpPr>
        <p:spPr>
          <a:xfrm>
            <a:off x="548640" y="406908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2A4777"/>
          </a:solidFill>
          <a:ln/>
        </p:spPr>
      </p:sp>
      <p:sp>
        <p:nvSpPr>
          <p:cNvPr id="6" name="member"/>
          <p:cNvSpPr txBox="1"/>
          <p:nvPr/>
        </p:nvSpPr>
        <p:spPr>
          <a:xfrm>
            <a:off x="731520" y="41422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สิทธิพันธุ์ ฮงเจริญ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68070182</a:t>
            </a:r>
            <a:endParaRPr lang="en-US" sz="1400" dirty="0"/>
          </a:p>
        </p:txBody>
      </p:sp>
      <p:sp>
        <p:nvSpPr>
          <p:cNvPr id="7" name="member card"/>
          <p:cNvSpPr/>
          <p:nvPr/>
        </p:nvSpPr>
        <p:spPr>
          <a:xfrm>
            <a:off x="4023360" y="406908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2A4777"/>
          </a:solidFill>
          <a:ln/>
        </p:spPr>
      </p:sp>
      <p:sp>
        <p:nvSpPr>
          <p:cNvPr id="8" name="member"/>
          <p:cNvSpPr txBox="1"/>
          <p:nvPr/>
        </p:nvSpPr>
        <p:spPr>
          <a:xfrm>
            <a:off x="4206240" y="41422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จิราธิวัชร ทะวิลา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68070228</a:t>
            </a:r>
            <a:endParaRPr lang="en-US" sz="1400" dirty="0"/>
          </a:p>
        </p:txBody>
      </p:sp>
      <p:sp>
        <p:nvSpPr>
          <p:cNvPr id="9" name="member card"/>
          <p:cNvSpPr/>
          <p:nvPr/>
        </p:nvSpPr>
        <p:spPr>
          <a:xfrm>
            <a:off x="548640" y="484632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2A4777"/>
          </a:solidFill>
          <a:ln/>
        </p:spPr>
      </p:sp>
      <p:sp>
        <p:nvSpPr>
          <p:cNvPr id="10" name="member"/>
          <p:cNvSpPr txBox="1"/>
          <p:nvPr/>
        </p:nvSpPr>
        <p:spPr>
          <a:xfrm>
            <a:off x="731520" y="49194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ภรัมพรหม เหลืองภุมรัตน์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68070229</a:t>
            </a:r>
            <a:endParaRPr lang="en-US" sz="1400" dirty="0"/>
          </a:p>
        </p:txBody>
      </p:sp>
      <p:sp>
        <p:nvSpPr>
          <p:cNvPr id="11" name="member card"/>
          <p:cNvSpPr/>
          <p:nvPr/>
        </p:nvSpPr>
        <p:spPr>
          <a:xfrm>
            <a:off x="4023360" y="484632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2A4777"/>
          </a:solidFill>
          <a:ln/>
        </p:spPr>
      </p:sp>
      <p:sp>
        <p:nvSpPr>
          <p:cNvPr id="12" name="member"/>
          <p:cNvSpPr txBox="1"/>
          <p:nvPr/>
        </p:nvSpPr>
        <p:spPr>
          <a:xfrm>
            <a:off x="4206240" y="49194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พูนพิพัฒน์ ช่างเกวียน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68070329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อาจารย์ผู้สอน  ผศ.ดร.พัฒนพงษ์ ฉันทมิตรโอภาส</a:t>
            </a:r>
            <a:endParaRPr lang="en-US" sz="1400" dirty="0"/>
          </a:p>
        </p:txBody>
      </p:sp>
      <p:sp>
        <p:nvSpPr>
          <p:cNvPr id="14" name="hero ring"/>
          <p:cNvSpPr/>
          <p:nvPr/>
        </p:nvSpPr>
        <p:spPr>
          <a:xfrm>
            <a:off x="7818120" y="1234440"/>
            <a:ext cx="3749040" cy="37490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DBA74"/>
            </a:solidFill>
            <a:prstDash val="solid"/>
          </a:ln>
        </p:spPr>
      </p:sp>
      <p:pic>
        <p:nvPicPr>
          <p:cNvPr id="15" name="hero 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057400"/>
            <a:ext cx="2286000" cy="2286000"/>
          </a:xfrm>
          <a:prstGeom prst="rect">
            <a:avLst/>
          </a:prstGeom>
        </p:spPr>
      </p:pic>
      <p:sp>
        <p:nvSpPr>
          <p:cNvPr id="16" name="hero database circle"/>
          <p:cNvSpPr/>
          <p:nvPr/>
        </p:nvSpPr>
        <p:spPr>
          <a:xfrm>
            <a:off x="10469880" y="38862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hero datab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165" y="410748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ที่มาและความสำคัญของปัญหา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2606040" cy="2880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problem icon ci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8726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จดบันทึกกระดาษ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ข้อมูลกระจายหลายแหล่ง ไม่เชื่อมโยงกัน ค้นหาช้า</a:t>
            </a:r>
            <a:endParaRPr lang="en-US" sz="1600" dirty="0"/>
          </a:p>
        </p:txBody>
      </p:sp>
      <p:sp>
        <p:nvSpPr>
          <p:cNvPr id="8" name="problem card"/>
          <p:cNvSpPr/>
          <p:nvPr/>
        </p:nvSpPr>
        <p:spPr>
          <a:xfrm>
            <a:off x="3364992" y="1371600"/>
            <a:ext cx="2606040" cy="2880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problem icon circle"/>
          <p:cNvSpPr/>
          <p:nvPr/>
        </p:nvSpPr>
        <p:spPr>
          <a:xfrm>
            <a:off x="3639312" y="16916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problem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363" y="187269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ข้อมูลซ้ำซ้อน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ลูกค้า รถ ราคา สถานะ บันทึกซ้ำและคลาดเคลื่อน</a:t>
            </a:r>
            <a:endParaRPr lang="en-US" sz="1600" dirty="0"/>
          </a:p>
        </p:txBody>
      </p:sp>
      <p:sp>
        <p:nvSpPr>
          <p:cNvPr id="13" name="problem card"/>
          <p:cNvSpPr/>
          <p:nvPr/>
        </p:nvSpPr>
        <p:spPr>
          <a:xfrm>
            <a:off x="6181344" y="1371600"/>
            <a:ext cx="2606040" cy="2880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problem icon circle"/>
          <p:cNvSpPr/>
          <p:nvPr/>
        </p:nvSpPr>
        <p:spPr>
          <a:xfrm>
            <a:off x="6455664" y="16916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problem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7269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จองซ้อน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รถคันเดียวถูกจองในช่วงเวลาทับซ้อน (Double Booking)</a:t>
            </a:r>
            <a:endParaRPr lang="en-US" sz="1600" dirty="0"/>
          </a:p>
        </p:txBody>
      </p:sp>
      <p:sp>
        <p:nvSpPr>
          <p:cNvPr id="18" name="problem card"/>
          <p:cNvSpPr/>
          <p:nvPr/>
        </p:nvSpPr>
        <p:spPr>
          <a:xfrm>
            <a:off x="8997696" y="1371600"/>
            <a:ext cx="2606040" cy="2880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problem icon circle"/>
          <p:cNvSpPr/>
          <p:nvPr/>
        </p:nvSpPr>
        <p:spPr>
          <a:xfrm>
            <a:off x="9272016" y="16916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problem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067" y="187269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ต้องโทรถาม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ลูกค้าตรวจสอบสถานะรถเองไม่ได้ เพิ่มภาระพนักงาน</a:t>
            </a:r>
            <a:endParaRPr lang="en-US" sz="1600" dirty="0"/>
          </a:p>
        </p:txBody>
      </p:sp>
      <p:sp>
        <p:nvSpPr>
          <p:cNvPr id="23" name="solution banner"/>
          <p:cNvSpPr/>
          <p:nvPr/>
        </p:nvSpPr>
        <p:spPr>
          <a:xfrm>
            <a:off x="548640" y="452628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solution icon circle"/>
          <p:cNvSpPr/>
          <p:nvPr/>
        </p:nvSpPr>
        <p:spPr>
          <a:xfrm>
            <a:off x="822960" y="4709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solutio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4870094"/>
            <a:ext cx="409651" cy="40965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83080" y="46177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ทางออก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ฐานข้อมูลกลางที่รวมลูกค้า รถ การจอง การเช่า และการชำระเงินไว้ในระบบเดียว ตรวจสถานะได้ทันที และป้องกันการจองซ้อนอัตโนมัติ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วัตถุประสงค์และขอบเขต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วัตถุประสงค์</a:t>
            </a:r>
            <a:endParaRPr lang="en-US" sz="2000" dirty="0"/>
          </a:p>
        </p:txBody>
      </p:sp>
      <p:sp>
        <p:nvSpPr>
          <p:cNvPr id="4" name="objective card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11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ศึกษาและวิเคราะห์กระบวนการเช่ารถ แล้วนำหลักการฐานข้อมูลมาออกแบบ</a:t>
            </a:r>
            <a:endParaRPr lang="en-US" sz="1600" dirty="0"/>
          </a:p>
        </p:txBody>
      </p:sp>
      <p:sp>
        <p:nvSpPr>
          <p:cNvPr id="7" name="objective card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290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383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ออกแบบระบบให้จัดเก็บ สืบค้น ตรวจสอบ และปรับปรุงข้อมูลได้อย่างเป็นระบบ</a:t>
            </a:r>
            <a:endParaRPr lang="en-US" sz="1600" dirty="0"/>
          </a:p>
        </p:txBody>
      </p:sp>
      <p:sp>
        <p:nvSpPr>
          <p:cNvPr id="10" name="objective card"/>
          <p:cNvSpPr/>
          <p:nvPr/>
        </p:nvSpPr>
        <p:spPr>
          <a:xfrm>
            <a:off x="548640" y="46177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800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754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ลดความซ้ำซ้อนและความคลาดเคลื่อนในการจัดการรถ การจอง การรับและคืนรถ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325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ขอบเขตของระบบ</a:t>
            </a:r>
            <a:endParaRPr lang="en-US" sz="2000" dirty="0"/>
          </a:p>
        </p:txBody>
      </p:sp>
      <p:sp>
        <p:nvSpPr>
          <p:cNvPr id="14" name="user card"/>
          <p:cNvSpPr/>
          <p:nvPr/>
        </p:nvSpPr>
        <p:spPr>
          <a:xfrm>
            <a:off x="6400800" y="1874520"/>
            <a:ext cx="523951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user icon circle"/>
          <p:cNvSpPr/>
          <p:nvPr/>
        </p:nvSpPr>
        <p:spPr>
          <a:xfrm>
            <a:off x="6629400" y="21031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us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334" y="2264054"/>
            <a:ext cx="409651" cy="409651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8952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ลูกค้า (Customer)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สมัคร ค้นหารถ จอง ชำระเงิน ติดตามสถานะ</a:t>
            </a:r>
            <a:endParaRPr lang="en-US" sz="1500" dirty="0"/>
          </a:p>
        </p:txBody>
      </p:sp>
      <p:sp>
        <p:nvSpPr>
          <p:cNvPr id="18" name="user card"/>
          <p:cNvSpPr/>
          <p:nvPr/>
        </p:nvSpPr>
        <p:spPr>
          <a:xfrm>
            <a:off x="6400800" y="3246120"/>
            <a:ext cx="523951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user icon circle"/>
          <p:cNvSpPr/>
          <p:nvPr/>
        </p:nvSpPr>
        <p:spPr>
          <a:xfrm>
            <a:off x="6629400" y="34747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us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4" y="3635654"/>
            <a:ext cx="409651" cy="40965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589520" y="3383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ผู้ดูแลระบบ (Admin)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จัดการรถ ประเภทรถ ราคา การจอง การรับ-คืนรถ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0" y="4709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 ตารางหลัก</a:t>
            </a:r>
            <a:endParaRPr lang="en-US" sz="1500" dirty="0"/>
          </a:p>
        </p:txBody>
      </p:sp>
      <p:sp>
        <p:nvSpPr>
          <p:cNvPr id="23" name="table chip bg"/>
          <p:cNvSpPr/>
          <p:nvPr/>
        </p:nvSpPr>
        <p:spPr>
          <a:xfrm>
            <a:off x="6400800" y="512064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table chip"/>
          <p:cNvSpPr txBox="1"/>
          <p:nvPr/>
        </p:nvSpPr>
        <p:spPr>
          <a:xfrm>
            <a:off x="6400800" y="5120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CUSTOMER</a:t>
            </a:r>
            <a:endParaRPr lang="en-US" sz="1200" dirty="0"/>
          </a:p>
        </p:txBody>
      </p:sp>
      <p:sp>
        <p:nvSpPr>
          <p:cNvPr id="25" name="table chip bg"/>
          <p:cNvSpPr/>
          <p:nvPr/>
        </p:nvSpPr>
        <p:spPr>
          <a:xfrm>
            <a:off x="8165592" y="512064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table chip"/>
          <p:cNvSpPr txBox="1"/>
          <p:nvPr/>
        </p:nvSpPr>
        <p:spPr>
          <a:xfrm>
            <a:off x="8165592" y="5120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CAR_TYPE</a:t>
            </a:r>
            <a:endParaRPr lang="en-US" sz="1200" dirty="0"/>
          </a:p>
        </p:txBody>
      </p:sp>
      <p:sp>
        <p:nvSpPr>
          <p:cNvPr id="27" name="table chip bg"/>
          <p:cNvSpPr/>
          <p:nvPr/>
        </p:nvSpPr>
        <p:spPr>
          <a:xfrm>
            <a:off x="9930384" y="512064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8" name="table chip"/>
          <p:cNvSpPr txBox="1"/>
          <p:nvPr/>
        </p:nvSpPr>
        <p:spPr>
          <a:xfrm>
            <a:off x="9930384" y="5120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CAR</a:t>
            </a:r>
            <a:endParaRPr lang="en-US" sz="1200" dirty="0"/>
          </a:p>
        </p:txBody>
      </p:sp>
      <p:sp>
        <p:nvSpPr>
          <p:cNvPr id="29" name="table chip bg"/>
          <p:cNvSpPr/>
          <p:nvPr/>
        </p:nvSpPr>
        <p:spPr>
          <a:xfrm>
            <a:off x="6400800" y="557784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0" name="table chip"/>
          <p:cNvSpPr txBox="1"/>
          <p:nvPr/>
        </p:nvSpPr>
        <p:spPr>
          <a:xfrm>
            <a:off x="6400800" y="5577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BOOKING</a:t>
            </a:r>
            <a:endParaRPr lang="en-US" sz="1200" dirty="0"/>
          </a:p>
        </p:txBody>
      </p:sp>
      <p:sp>
        <p:nvSpPr>
          <p:cNvPr id="31" name="table chip bg"/>
          <p:cNvSpPr/>
          <p:nvPr/>
        </p:nvSpPr>
        <p:spPr>
          <a:xfrm>
            <a:off x="8165592" y="557784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2" name="table chip"/>
          <p:cNvSpPr txBox="1"/>
          <p:nvPr/>
        </p:nvSpPr>
        <p:spPr>
          <a:xfrm>
            <a:off x="8165592" y="5577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RENTAL</a:t>
            </a:r>
            <a:endParaRPr lang="en-US" sz="1200" dirty="0"/>
          </a:p>
        </p:txBody>
      </p:sp>
      <p:sp>
        <p:nvSpPr>
          <p:cNvPr id="33" name="table chip bg"/>
          <p:cNvSpPr/>
          <p:nvPr/>
        </p:nvSpPr>
        <p:spPr>
          <a:xfrm>
            <a:off x="9930384" y="557784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4" name="table chip"/>
          <p:cNvSpPr txBox="1"/>
          <p:nvPr/>
        </p:nvSpPr>
        <p:spPr>
          <a:xfrm>
            <a:off x="9930384" y="5577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PAYMENT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ความต้องการของผู้ใช้ (User Requirements)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Functional Requirements</a:t>
            </a:r>
            <a:endParaRPr lang="en-US" sz="2000" dirty="0"/>
          </a:p>
        </p:txBody>
      </p:sp>
      <p:sp>
        <p:nvSpPr>
          <p:cNvPr id="4" name="requirement card"/>
          <p:cNvSpPr/>
          <p:nvPr/>
        </p:nvSpPr>
        <p:spPr>
          <a:xfrm>
            <a:off x="548640" y="1874520"/>
            <a:ext cx="67665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requirement icon circle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requirem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1524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ระบบลูกค้า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CRUD ข้อมูลลูกค้า และตรวจสอบเลขใบขับขี่ (LicenseNo)</a:t>
            </a:r>
            <a:endParaRPr lang="en-US" sz="1500" dirty="0"/>
          </a:p>
        </p:txBody>
      </p:sp>
      <p:sp>
        <p:nvSpPr>
          <p:cNvPr id="8" name="requirement card"/>
          <p:cNvSpPr/>
          <p:nvPr/>
        </p:nvSpPr>
        <p:spPr>
          <a:xfrm>
            <a:off x="548640" y="2926080"/>
            <a:ext cx="67665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requirement icon circle"/>
          <p:cNvSpPr/>
          <p:nvPr/>
        </p:nvSpPr>
        <p:spPr>
          <a:xfrm>
            <a:off x="731520" y="30632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requiremen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320405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0175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ระบบรถยนต์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จัดหมวดหมู่ Sedan / SUV / Van / Eco Car และอัปเดตสถานะรถ</a:t>
            </a:r>
            <a:endParaRPr lang="en-US" sz="1500" dirty="0"/>
          </a:p>
        </p:txBody>
      </p:sp>
      <p:sp>
        <p:nvSpPr>
          <p:cNvPr id="12" name="requirement card"/>
          <p:cNvSpPr/>
          <p:nvPr/>
        </p:nvSpPr>
        <p:spPr>
          <a:xfrm>
            <a:off x="548640" y="3977640"/>
            <a:ext cx="67665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requirement icon circle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requiremen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425561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0690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ระบบการเช่า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กำหนดวันรับ-คืนรถ คำนวณ TotalAmount อัตโนมัติ</a:t>
            </a:r>
            <a:endParaRPr lang="en-US" sz="1500" dirty="0"/>
          </a:p>
        </p:txBody>
      </p:sp>
      <p:sp>
        <p:nvSpPr>
          <p:cNvPr id="16" name="requirement card"/>
          <p:cNvSpPr/>
          <p:nvPr/>
        </p:nvSpPr>
        <p:spPr>
          <a:xfrm>
            <a:off x="548640" y="5029200"/>
            <a:ext cx="67665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requirement icon circle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requiremen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307178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51206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ระบบชำระเงิน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แบ่งจ่ายได้หลายครั้ง: มัดจำ ค่าเช่า ค่าปรับ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68096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Non-functional</a:t>
            </a:r>
            <a:endParaRPr lang="en-US" sz="2000" dirty="0"/>
          </a:p>
        </p:txBody>
      </p:sp>
      <p:sp>
        <p:nvSpPr>
          <p:cNvPr id="21" name="nfr card"/>
          <p:cNvSpPr/>
          <p:nvPr/>
        </p:nvSpPr>
        <p:spPr>
          <a:xfrm>
            <a:off x="7680960" y="1874520"/>
            <a:ext cx="3959352" cy="1947672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nfr icon circle"/>
          <p:cNvSpPr/>
          <p:nvPr/>
        </p:nvSpPr>
        <p:spPr>
          <a:xfrm>
            <a:off x="7909560" y="21031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nf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378" y="2243938"/>
            <a:ext cx="358445" cy="35844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6868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909560" y="28346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ข้อมูลใบขับขี่และข้อมูลส่วนบุคคลต้องเข้ารหัสและเก็บอย่างปลอดภัย</a:t>
            </a:r>
            <a:endParaRPr lang="en-US" sz="1500" dirty="0"/>
          </a:p>
        </p:txBody>
      </p:sp>
      <p:sp>
        <p:nvSpPr>
          <p:cNvPr id="26" name="nfr card"/>
          <p:cNvSpPr/>
          <p:nvPr/>
        </p:nvSpPr>
        <p:spPr>
          <a:xfrm>
            <a:off x="7680960" y="4005072"/>
            <a:ext cx="3959352" cy="1947672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nfr icon circle"/>
          <p:cNvSpPr/>
          <p:nvPr/>
        </p:nvSpPr>
        <p:spPr>
          <a:xfrm>
            <a:off x="7909560" y="4233672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nfr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378" y="4374490"/>
            <a:ext cx="358445" cy="35844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686800" y="4279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Integrity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7909560" y="49651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ห้ามจองรถคันเดียวกันในช่วงเวลาทับซ้อน และวันคืนต้องหลังวันรับ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การเลือกใช้ซอฟต์แวร์และสถาปัตยกรรม</a:t>
            </a:r>
            <a:endParaRPr lang="en-US" sz="3000" dirty="0"/>
          </a:p>
        </p:txBody>
      </p:sp>
      <p:sp>
        <p:nvSpPr>
          <p:cNvPr id="3" name="why postgres card"/>
          <p:cNvSpPr/>
          <p:nvPr/>
        </p:nvSpPr>
        <p:spPr>
          <a:xfrm>
            <a:off x="548640" y="1325880"/>
            <a:ext cx="566928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postgres icon circle"/>
          <p:cNvSpPr/>
          <p:nvPr/>
        </p:nvSpPr>
        <p:spPr>
          <a:xfrm>
            <a:off x="82296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ostgr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73553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554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PostgreSQL 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บน Supabase (Managed Cloud)</a:t>
            </a:r>
            <a:endParaRPr lang="en-US" sz="1500" dirty="0"/>
          </a:p>
        </p:txBody>
      </p:sp>
      <p:pic>
        <p:nvPicPr>
          <p:cNvPr id="7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ข้อมูลมีความสัมพันธ์ชัดเจน เหมาะกับ Relational Database</a:t>
            </a:r>
            <a:endParaRPr lang="en-US" sz="1500" dirty="0"/>
          </a:p>
        </p:txBody>
      </p:sp>
      <p:pic>
        <p:nvPicPr>
          <p:cNvPr id="9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9359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5478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รองรับ CHECK, FOREIGN KEY และ EXCLUDE ใช้กันการจองซ้อนได้ในตัว</a:t>
            </a:r>
            <a:endParaRPr lang="en-US" sz="1500" dirty="0"/>
          </a:p>
        </p:txBody>
      </p:sp>
      <p:pic>
        <p:nvPicPr>
          <p:cNvPr id="11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9826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35254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รองรับ Transaction (ACID), CTE และ Window Function</a:t>
            </a:r>
            <a:endParaRPr lang="en-US" sz="1500" dirty="0"/>
          </a:p>
        </p:txBody>
      </p:sp>
      <p:pic>
        <p:nvPicPr>
          <p:cNvPr id="13" name="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02936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25880" y="515721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Supabase ให้ใช้ฟรี ออนไลน์ 24 ชั่วโมง มี SQL Editor ในเว็บ</a:t>
            </a:r>
            <a:endParaRPr lang="en-US" sz="1500" dirty="0"/>
          </a:p>
        </p:txBody>
      </p:sp>
      <p:sp>
        <p:nvSpPr>
          <p:cNvPr id="15" name="tier card"/>
          <p:cNvSpPr/>
          <p:nvPr/>
        </p:nvSpPr>
        <p:spPr>
          <a:xfrm>
            <a:off x="6583680" y="1325880"/>
            <a:ext cx="505663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ier icon circle"/>
          <p:cNvSpPr/>
          <p:nvPr/>
        </p:nvSpPr>
        <p:spPr>
          <a:xfrm>
            <a:off x="6766560" y="148132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tier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7378" y="1622146"/>
            <a:ext cx="358445" cy="35844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589520" y="14173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Frontend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React / Flutter บน Vercel</a:t>
            </a:r>
            <a:endParaRPr lang="en-US" sz="1700" dirty="0"/>
          </a:p>
        </p:txBody>
      </p:sp>
      <p:pic>
        <p:nvPicPr>
          <p:cNvPr id="19" name="tier arrow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31720"/>
            <a:ext cx="274320" cy="274320"/>
          </a:xfrm>
          <a:prstGeom prst="rect">
            <a:avLst/>
          </a:prstGeom>
        </p:spPr>
      </p:pic>
      <p:sp>
        <p:nvSpPr>
          <p:cNvPr id="20" name="tier card"/>
          <p:cNvSpPr/>
          <p:nvPr/>
        </p:nvSpPr>
        <p:spPr>
          <a:xfrm>
            <a:off x="6583680" y="2651760"/>
            <a:ext cx="505663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tier icon circle"/>
          <p:cNvSpPr/>
          <p:nvPr/>
        </p:nvSpPr>
        <p:spPr>
          <a:xfrm>
            <a:off x="6766560" y="280720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tier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7378" y="2948026"/>
            <a:ext cx="358445" cy="35844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589520" y="2743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Backend API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RESTful API ด้วย FastAPI / Node.js</a:t>
            </a:r>
            <a:endParaRPr lang="en-US" sz="1700" dirty="0"/>
          </a:p>
        </p:txBody>
      </p:sp>
      <p:pic>
        <p:nvPicPr>
          <p:cNvPr id="24" name="tier arrow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8552" y="3657600"/>
            <a:ext cx="274320" cy="274320"/>
          </a:xfrm>
          <a:prstGeom prst="rect">
            <a:avLst/>
          </a:prstGeom>
        </p:spPr>
      </p:pic>
      <p:sp>
        <p:nvSpPr>
          <p:cNvPr id="25" name="tier card"/>
          <p:cNvSpPr/>
          <p:nvPr/>
        </p:nvSpPr>
        <p:spPr>
          <a:xfrm>
            <a:off x="6583680" y="3977640"/>
            <a:ext cx="5056632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tier icon circle"/>
          <p:cNvSpPr/>
          <p:nvPr/>
        </p:nvSpPr>
        <p:spPr>
          <a:xfrm>
            <a:off x="6766560" y="413308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tier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7378" y="4273906"/>
            <a:ext cx="358445" cy="35844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7589520" y="4069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Database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PostgreSQL 16 (Supabase)</a:t>
            </a:r>
            <a:endParaRPr lang="en-US" sz="1700" dirty="0"/>
          </a:p>
        </p:txBody>
      </p:sp>
      <p:sp>
        <p:nvSpPr>
          <p:cNvPr id="29" name="Text 17"/>
          <p:cNvSpPr txBox="1"/>
          <p:nvPr/>
        </p:nvSpPr>
        <p:spPr>
          <a:xfrm>
            <a:off x="6583680" y="5349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เครื่องมือ</a:t>
            </a:r>
            <a:endParaRPr lang="en-US" sz="1400" dirty="0"/>
          </a:p>
        </p:txBody>
      </p:sp>
      <p:sp>
        <p:nvSpPr>
          <p:cNvPr id="30" name="tool chip bg"/>
          <p:cNvSpPr/>
          <p:nvPr/>
        </p:nvSpPr>
        <p:spPr>
          <a:xfrm>
            <a:off x="7635240" y="5349240"/>
            <a:ext cx="196596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1" name="tool chip"/>
          <p:cNvSpPr txBox="1"/>
          <p:nvPr/>
        </p:nvSpPr>
        <p:spPr>
          <a:xfrm>
            <a:off x="7635240" y="5349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Mermaid / draw.io (ERD)</a:t>
            </a:r>
            <a:endParaRPr lang="en-US" sz="1100" dirty="0"/>
          </a:p>
        </p:txBody>
      </p:sp>
      <p:sp>
        <p:nvSpPr>
          <p:cNvPr id="32" name="tool chip bg"/>
          <p:cNvSpPr/>
          <p:nvPr/>
        </p:nvSpPr>
        <p:spPr>
          <a:xfrm>
            <a:off x="9692640" y="5349240"/>
            <a:ext cx="196596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3" name="tool chip"/>
          <p:cNvSpPr txBox="1"/>
          <p:nvPr/>
        </p:nvSpPr>
        <p:spPr>
          <a:xfrm>
            <a:off x="9692640" y="5349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pgAdmin / Supabase SQL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การทำงานของระบบ 5 ขั้นตอน</a:t>
            </a:r>
            <a:endParaRPr lang="en-US" sz="3000" dirty="0"/>
          </a:p>
        </p:txBody>
      </p:sp>
      <p:sp>
        <p:nvSpPr>
          <p:cNvPr id="3" name="step card"/>
          <p:cNvSpPr/>
          <p:nvPr/>
        </p:nvSpPr>
        <p:spPr>
          <a:xfrm>
            <a:off x="548640" y="1417320"/>
            <a:ext cx="2057400" cy="42976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step icon circle"/>
          <p:cNvSpPr/>
          <p:nvPr/>
        </p:nvSpPr>
        <p:spPr>
          <a:xfrm>
            <a:off x="1120140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ขั้นที่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ลงทะเบียน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บันทึกลูกค้าและตรวจใบขับขี่</a:t>
            </a:r>
            <a:endParaRPr lang="en-US" sz="1400" dirty="0"/>
          </a:p>
        </p:txBody>
      </p:sp>
      <p:sp>
        <p:nvSpPr>
          <p:cNvPr id="9" name="step table bg"/>
          <p:cNvSpPr/>
          <p:nvPr/>
        </p:nvSpPr>
        <p:spPr>
          <a:xfrm>
            <a:off x="685800" y="5120640"/>
            <a:ext cx="178308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step table"/>
          <p:cNvSpPr txBox="1"/>
          <p:nvPr/>
        </p:nvSpPr>
        <p:spPr>
          <a:xfrm>
            <a:off x="685800" y="5120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CUSTOMER</a:t>
            </a:r>
            <a:endParaRPr lang="en-US" sz="1100" dirty="0"/>
          </a:p>
        </p:txBody>
      </p:sp>
      <p:pic>
        <p:nvPicPr>
          <p:cNvPr id="11" name="step 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383" y="2011680"/>
            <a:ext cx="201168" cy="274320"/>
          </a:xfrm>
          <a:prstGeom prst="rect">
            <a:avLst/>
          </a:prstGeom>
        </p:spPr>
      </p:pic>
      <p:sp>
        <p:nvSpPr>
          <p:cNvPr id="12" name="step card"/>
          <p:cNvSpPr/>
          <p:nvPr/>
        </p:nvSpPr>
        <p:spPr>
          <a:xfrm>
            <a:off x="2807894" y="1417320"/>
            <a:ext cx="2057400" cy="42976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step icon circle"/>
          <p:cNvSpPr/>
          <p:nvPr/>
        </p:nvSpPr>
        <p:spPr>
          <a:xfrm>
            <a:off x="3379394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te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562" y="1892808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90774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ขั้นที่ 2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990774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ค้นหารถ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2990774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แสดงเฉพาะรถที่ Status = Available</a:t>
            </a:r>
            <a:endParaRPr lang="en-US" sz="1400" dirty="0"/>
          </a:p>
        </p:txBody>
      </p:sp>
      <p:sp>
        <p:nvSpPr>
          <p:cNvPr id="18" name="step table bg"/>
          <p:cNvSpPr/>
          <p:nvPr/>
        </p:nvSpPr>
        <p:spPr>
          <a:xfrm>
            <a:off x="2945054" y="5120640"/>
            <a:ext cx="178308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9" name="step table"/>
          <p:cNvSpPr txBox="1"/>
          <p:nvPr/>
        </p:nvSpPr>
        <p:spPr>
          <a:xfrm>
            <a:off x="2945054" y="5120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CAR · CAR_TYPE</a:t>
            </a:r>
            <a:endParaRPr lang="en-US" sz="1100" dirty="0"/>
          </a:p>
        </p:txBody>
      </p:sp>
      <p:pic>
        <p:nvPicPr>
          <p:cNvPr id="20" name="step 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637" y="2011680"/>
            <a:ext cx="201168" cy="274320"/>
          </a:xfrm>
          <a:prstGeom prst="rect">
            <a:avLst/>
          </a:prstGeom>
        </p:spPr>
      </p:pic>
      <p:sp>
        <p:nvSpPr>
          <p:cNvPr id="21" name="step card"/>
          <p:cNvSpPr/>
          <p:nvPr/>
        </p:nvSpPr>
        <p:spPr>
          <a:xfrm>
            <a:off x="5067148" y="1417320"/>
            <a:ext cx="2057400" cy="42976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step icon circle"/>
          <p:cNvSpPr/>
          <p:nvPr/>
        </p:nvSpPr>
        <p:spPr>
          <a:xfrm>
            <a:off x="5638648" y="16916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ste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816" y="1892808"/>
            <a:ext cx="512064" cy="51206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250028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ขั้นที่ 3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250028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จองและเช่า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5250028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TotalAmount = จำนวนวัน × DailyRate รถเปลี่ยนเป็น Rented</a:t>
            </a:r>
            <a:endParaRPr lang="en-US" sz="1400" dirty="0"/>
          </a:p>
        </p:txBody>
      </p:sp>
      <p:sp>
        <p:nvSpPr>
          <p:cNvPr id="27" name="step table bg"/>
          <p:cNvSpPr/>
          <p:nvPr/>
        </p:nvSpPr>
        <p:spPr>
          <a:xfrm>
            <a:off x="5204308" y="5120640"/>
            <a:ext cx="178308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8" name="step table"/>
          <p:cNvSpPr txBox="1"/>
          <p:nvPr/>
        </p:nvSpPr>
        <p:spPr>
          <a:xfrm>
            <a:off x="5204308" y="5120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BOOKING · RENTAL</a:t>
            </a:r>
            <a:endParaRPr lang="en-US" sz="1100" dirty="0"/>
          </a:p>
        </p:txBody>
      </p:sp>
      <p:pic>
        <p:nvPicPr>
          <p:cNvPr id="29" name="step 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891" y="2011680"/>
            <a:ext cx="201168" cy="274320"/>
          </a:xfrm>
          <a:prstGeom prst="rect">
            <a:avLst/>
          </a:prstGeom>
        </p:spPr>
      </p:pic>
      <p:sp>
        <p:nvSpPr>
          <p:cNvPr id="30" name="step card"/>
          <p:cNvSpPr/>
          <p:nvPr/>
        </p:nvSpPr>
        <p:spPr>
          <a:xfrm>
            <a:off x="7326401" y="1417320"/>
            <a:ext cx="2057400" cy="42976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step icon circle"/>
          <p:cNvSpPr/>
          <p:nvPr/>
        </p:nvSpPr>
        <p:spPr>
          <a:xfrm>
            <a:off x="7897901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step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069" y="1892808"/>
            <a:ext cx="512064" cy="51206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509281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ขั้นที่ 4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7509281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ชำระเงิน</a:t>
            </a:r>
            <a:endParaRPr lang="en-US" sz="2000" dirty="0"/>
          </a:p>
        </p:txBody>
      </p:sp>
      <p:sp>
        <p:nvSpPr>
          <p:cNvPr id="35" name="Text 26"/>
          <p:cNvSpPr txBox="1"/>
          <p:nvPr/>
        </p:nvSpPr>
        <p:spPr>
          <a:xfrm>
            <a:off x="7509281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บันทึกการจ่าย การจองเป็น Confirmed</a:t>
            </a:r>
            <a:endParaRPr lang="en-US" sz="1400" dirty="0"/>
          </a:p>
        </p:txBody>
      </p:sp>
      <p:sp>
        <p:nvSpPr>
          <p:cNvPr id="36" name="step table bg"/>
          <p:cNvSpPr/>
          <p:nvPr/>
        </p:nvSpPr>
        <p:spPr>
          <a:xfrm>
            <a:off x="7463561" y="5120640"/>
            <a:ext cx="178308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7" name="step table"/>
          <p:cNvSpPr txBox="1"/>
          <p:nvPr/>
        </p:nvSpPr>
        <p:spPr>
          <a:xfrm>
            <a:off x="7463561" y="5120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PAYMENT</a:t>
            </a:r>
            <a:endParaRPr lang="en-US" sz="1100" dirty="0"/>
          </a:p>
        </p:txBody>
      </p:sp>
      <p:pic>
        <p:nvPicPr>
          <p:cNvPr id="38" name="step arrow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4144" y="2011680"/>
            <a:ext cx="201168" cy="274320"/>
          </a:xfrm>
          <a:prstGeom prst="rect">
            <a:avLst/>
          </a:prstGeom>
        </p:spPr>
      </p:pic>
      <p:sp>
        <p:nvSpPr>
          <p:cNvPr id="39" name="step card"/>
          <p:cNvSpPr/>
          <p:nvPr/>
        </p:nvSpPr>
        <p:spPr>
          <a:xfrm>
            <a:off x="9585655" y="1417320"/>
            <a:ext cx="2057400" cy="42976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0" name="step icon circle"/>
          <p:cNvSpPr/>
          <p:nvPr/>
        </p:nvSpPr>
        <p:spPr>
          <a:xfrm>
            <a:off x="10157155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step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8323" y="1892808"/>
            <a:ext cx="512064" cy="51206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768535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ขั้นที่ 5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9768535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คืนรถ</a:t>
            </a:r>
            <a:endParaRPr lang="en-US" sz="2000" dirty="0"/>
          </a:p>
        </p:txBody>
      </p:sp>
      <p:sp>
        <p:nvSpPr>
          <p:cNvPr id="44" name="Text 33"/>
          <p:cNvSpPr txBox="1"/>
          <p:nvPr/>
        </p:nvSpPr>
        <p:spPr>
          <a:xfrm>
            <a:off x="9768535" y="3611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 ตรวจสภาพ RENTAL = Completed รถกลับเป็น Available</a:t>
            </a:r>
            <a:endParaRPr lang="en-US" sz="1400" dirty="0"/>
          </a:p>
        </p:txBody>
      </p:sp>
      <p:sp>
        <p:nvSpPr>
          <p:cNvPr id="45" name="step table bg"/>
          <p:cNvSpPr/>
          <p:nvPr/>
        </p:nvSpPr>
        <p:spPr>
          <a:xfrm>
            <a:off x="9722815" y="5120640"/>
            <a:ext cx="178308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6" name="step table"/>
          <p:cNvSpPr txBox="1"/>
          <p:nvPr/>
        </p:nvSpPr>
        <p:spPr>
          <a:xfrm>
            <a:off x="9722815" y="5120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RENTAL · CAR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สถานะรถ:  Available → Rented → Available        สถานะการจอง:  Pending → Confirmed → Completed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กฎทางธุรกิจ (Business Rules) → Constraint</a:t>
            </a:r>
            <a:endParaRPr lang="en-US" sz="3000" dirty="0"/>
          </a:p>
        </p:txBody>
      </p:sp>
      <p:graphicFrame>
        <p:nvGraphicFramePr>
          <p:cNvPr id="8" name="business 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852160"/>
                <a:gridCol w="4325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กฎ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ความหมาย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บังคับด้วย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BR1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ลูกค้า 1 คนเช่าได้หลายรายการ แต่ 1 รายการเป็นของลูกค้า 1 คน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FK customer_id ใน BOOKING (1:N)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BR2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รถ 1 คันห้ามถูกจองซ้อนในช่วงเวลาเดียวกัน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EXCLUDE constraint no_overlap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BR3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รถแต่ละคันอยู่ใน 1 ประเภท ประเภทหนึ่งมีรถได้หลายคัน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FK car_type_id NOT NULL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BR4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การเช่าต้องระบุรถ วันที่เช่า และวันที่คืน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 car_id, start_date, end_date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BR5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การเช่า 1 รายการชำระได้หลายครั้ง (มัดจำ + ส่วนที่เหลือ)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 → BOOKING (1:N)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BR6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เช่าได้เฉพาะรถที่สถานะ Available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กรองสถานะใน query ค้นหารถว่าง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BR7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วันที่คืนต้องไม่อยู่ก่อนวันที่เช่า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 (end_date &gt; start_date)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Entity Relationship Diagram (ERD)</a:t>
            </a:r>
            <a:endParaRPr lang="en-US" sz="3000" dirty="0"/>
          </a:p>
        </p:txBody>
      </p:sp>
      <p:sp>
        <p:nvSpPr>
          <p:cNvPr id="3" name="CUSTOMER entity"/>
          <p:cNvSpPr/>
          <p:nvPr/>
        </p:nvSpPr>
        <p:spPr>
          <a:xfrm>
            <a:off x="548640" y="1371600"/>
            <a:ext cx="224028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CUSTOMER name"/>
          <p:cNvSpPr txBox="1"/>
          <p:nvPr/>
        </p:nvSpPr>
        <p:spPr>
          <a:xfrm>
            <a:off x="548640" y="1371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CUSTOMER</a:t>
            </a:r>
            <a:endParaRPr lang="en-US" sz="1400" dirty="0"/>
          </a:p>
        </p:txBody>
      </p:sp>
      <p:sp>
        <p:nvSpPr>
          <p:cNvPr id="5" name="CUSTOMER fields"/>
          <p:cNvSpPr txBox="1"/>
          <p:nvPr/>
        </p:nvSpPr>
        <p:spPr>
          <a:xfrm>
            <a:off x="713232" y="1755648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  PK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LicenseNo</a:t>
            </a:r>
            <a:endParaRPr lang="en-US" sz="1100" dirty="0"/>
          </a:p>
        </p:txBody>
      </p:sp>
      <p:sp>
        <p:nvSpPr>
          <p:cNvPr id="6" name="BOOKING entity"/>
          <p:cNvSpPr/>
          <p:nvPr/>
        </p:nvSpPr>
        <p:spPr>
          <a:xfrm>
            <a:off x="3429000" y="1371600"/>
            <a:ext cx="2240280" cy="2139696"/>
          </a:xfrm>
          <a:prstGeom prst="roundRect">
            <a:avLst>
              <a:gd name="adj" fmla="val 341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BOOKING name"/>
          <p:cNvSpPr txBox="1"/>
          <p:nvPr/>
        </p:nvSpPr>
        <p:spPr>
          <a:xfrm>
            <a:off x="3429000" y="1371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BOOKING</a:t>
            </a:r>
            <a:endParaRPr lang="en-US" sz="1400" dirty="0"/>
          </a:p>
        </p:txBody>
      </p:sp>
      <p:sp>
        <p:nvSpPr>
          <p:cNvPr id="8" name="BOOKING fields"/>
          <p:cNvSpPr txBox="1"/>
          <p:nvPr/>
        </p:nvSpPr>
        <p:spPr>
          <a:xfrm>
            <a:off x="3593592" y="1755648"/>
            <a:ext cx="1965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BookingID  PK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  FK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CarID  FK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EndDate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DepositAmount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CAR entity"/>
          <p:cNvSpPr/>
          <p:nvPr/>
        </p:nvSpPr>
        <p:spPr>
          <a:xfrm>
            <a:off x="6309360" y="1371600"/>
            <a:ext cx="2240280" cy="1901952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CAR name"/>
          <p:cNvSpPr txBox="1"/>
          <p:nvPr/>
        </p:nvSpPr>
        <p:spPr>
          <a:xfrm>
            <a:off x="6309360" y="1371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</a:t>
            </a:r>
            <a:endParaRPr lang="en-US" sz="1400" dirty="0"/>
          </a:p>
        </p:txBody>
      </p:sp>
      <p:sp>
        <p:nvSpPr>
          <p:cNvPr id="11" name="CAR fields"/>
          <p:cNvSpPr txBox="1"/>
          <p:nvPr/>
        </p:nvSpPr>
        <p:spPr>
          <a:xfrm>
            <a:off x="6473952" y="1755648"/>
            <a:ext cx="19659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CarID  PK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CarTypeID  FK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LicensePlate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/ Model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DailyRate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CAR_TYPE entity"/>
          <p:cNvSpPr/>
          <p:nvPr/>
        </p:nvSpPr>
        <p:spPr>
          <a:xfrm>
            <a:off x="9189720" y="1371600"/>
            <a:ext cx="22402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CAR_TYPE name"/>
          <p:cNvSpPr txBox="1"/>
          <p:nvPr/>
        </p:nvSpPr>
        <p:spPr>
          <a:xfrm>
            <a:off x="9189720" y="1371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CAR_TYPE</a:t>
            </a:r>
            <a:endParaRPr lang="en-US" sz="1400" dirty="0"/>
          </a:p>
        </p:txBody>
      </p:sp>
      <p:sp>
        <p:nvSpPr>
          <p:cNvPr id="14" name="CAR_TYPE fields"/>
          <p:cNvSpPr txBox="1"/>
          <p:nvPr/>
        </p:nvSpPr>
        <p:spPr>
          <a:xfrm>
            <a:off x="9354312" y="17556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CarTypeID  PK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5" name="RENTAL entity"/>
          <p:cNvSpPr/>
          <p:nvPr/>
        </p:nvSpPr>
        <p:spPr>
          <a:xfrm>
            <a:off x="1737360" y="4069080"/>
            <a:ext cx="2240280" cy="1901952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RENTAL name"/>
          <p:cNvSpPr txBox="1"/>
          <p:nvPr/>
        </p:nvSpPr>
        <p:spPr>
          <a:xfrm>
            <a:off x="173736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RENTAL</a:t>
            </a:r>
            <a:endParaRPr lang="en-US" sz="1400" dirty="0"/>
          </a:p>
        </p:txBody>
      </p:sp>
      <p:sp>
        <p:nvSpPr>
          <p:cNvPr id="17" name="RENTAL fields"/>
          <p:cNvSpPr txBox="1"/>
          <p:nvPr/>
        </p:nvSpPr>
        <p:spPr>
          <a:xfrm>
            <a:off x="1901952" y="4453128"/>
            <a:ext cx="19659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RentalID  PK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BookingID  FK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ActualRentDate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ActualReturnDate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TotalAmount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PAYMENT entity"/>
          <p:cNvSpPr/>
          <p:nvPr/>
        </p:nvSpPr>
        <p:spPr>
          <a:xfrm>
            <a:off x="5120640" y="4069080"/>
            <a:ext cx="2240280" cy="1901952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PAYMENT name"/>
          <p:cNvSpPr txBox="1"/>
          <p:nvPr/>
        </p:nvSpPr>
        <p:spPr>
          <a:xfrm>
            <a:off x="512064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PAYMENT</a:t>
            </a:r>
            <a:endParaRPr lang="en-US" sz="1400" dirty="0"/>
          </a:p>
        </p:txBody>
      </p:sp>
      <p:sp>
        <p:nvSpPr>
          <p:cNvPr id="20" name="PAYMENT fields"/>
          <p:cNvSpPr txBox="1"/>
          <p:nvPr/>
        </p:nvSpPr>
        <p:spPr>
          <a:xfrm>
            <a:off x="5285232" y="4453128"/>
            <a:ext cx="19659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PaymentID  PK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BookingID  FK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RentalID  FK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PaymentMethod</a:t>
            </a:r>
            <a:endParaRPr lang="en-US" sz="1100" dirty="0"/>
          </a:p>
          <a:p>
            <a:pPr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PaymentType</a:t>
            </a:r>
            <a:endParaRPr lang="en-US" sz="1100" dirty="0"/>
          </a:p>
        </p:txBody>
      </p:sp>
      <p:sp>
        <p:nvSpPr>
          <p:cNvPr id="21" name="relationship 1 : N"/>
          <p:cNvSpPr/>
          <p:nvPr/>
        </p:nvSpPr>
        <p:spPr>
          <a:xfrm>
            <a:off x="2788920" y="2057400"/>
            <a:ext cx="640080" cy="91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2" name="cardinality"/>
          <p:cNvSpPr txBox="1"/>
          <p:nvPr/>
        </p:nvSpPr>
        <p:spPr>
          <a:xfrm>
            <a:off x="2697480" y="1755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 : N</a:t>
            </a:r>
            <a:endParaRPr lang="en-US" sz="1100" dirty="0"/>
          </a:p>
        </p:txBody>
      </p:sp>
      <p:sp>
        <p:nvSpPr>
          <p:cNvPr id="23" name="relationship N : 1"/>
          <p:cNvSpPr/>
          <p:nvPr/>
        </p:nvSpPr>
        <p:spPr>
          <a:xfrm>
            <a:off x="5669280" y="2057400"/>
            <a:ext cx="640080" cy="91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4" name="cardinality"/>
          <p:cNvSpPr txBox="1"/>
          <p:nvPr/>
        </p:nvSpPr>
        <p:spPr>
          <a:xfrm>
            <a:off x="5577840" y="1755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 : 1</a:t>
            </a:r>
            <a:endParaRPr lang="en-US" sz="1100" dirty="0"/>
          </a:p>
        </p:txBody>
      </p:sp>
      <p:sp>
        <p:nvSpPr>
          <p:cNvPr id="25" name="relationship N : 1"/>
          <p:cNvSpPr/>
          <p:nvPr/>
        </p:nvSpPr>
        <p:spPr>
          <a:xfrm>
            <a:off x="8549640" y="2057400"/>
            <a:ext cx="640080" cy="91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6" name="cardinality"/>
          <p:cNvSpPr txBox="1"/>
          <p:nvPr/>
        </p:nvSpPr>
        <p:spPr>
          <a:xfrm>
            <a:off x="8458200" y="1755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 : 1</a:t>
            </a:r>
            <a:endParaRPr lang="en-US" sz="1100" dirty="0"/>
          </a:p>
        </p:txBody>
      </p:sp>
      <p:sp>
        <p:nvSpPr>
          <p:cNvPr id="27" name="relationship 1 : 0..1"/>
          <p:cNvSpPr/>
          <p:nvPr/>
        </p:nvSpPr>
        <p:spPr>
          <a:xfrm flipH="1">
            <a:off x="2857500" y="3511296"/>
            <a:ext cx="1348740" cy="55778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cardinality"/>
          <p:cNvSpPr txBox="1"/>
          <p:nvPr/>
        </p:nvSpPr>
        <p:spPr>
          <a:xfrm>
            <a:off x="2743200" y="3611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 : 0..1</a:t>
            </a:r>
            <a:endParaRPr lang="en-US" sz="1100" dirty="0"/>
          </a:p>
        </p:txBody>
      </p:sp>
      <p:sp>
        <p:nvSpPr>
          <p:cNvPr id="29" name="relationship 1 : N"/>
          <p:cNvSpPr/>
          <p:nvPr/>
        </p:nvSpPr>
        <p:spPr>
          <a:xfrm>
            <a:off x="4937760" y="3511296"/>
            <a:ext cx="1303020" cy="55778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0" name="cardinality"/>
          <p:cNvSpPr txBox="1"/>
          <p:nvPr/>
        </p:nvSpPr>
        <p:spPr>
          <a:xfrm>
            <a:off x="5623560" y="3611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 : N</a:t>
            </a:r>
            <a:endParaRPr lang="en-US" sz="1100" dirty="0"/>
          </a:p>
        </p:txBody>
      </p:sp>
      <p:sp>
        <p:nvSpPr>
          <p:cNvPr id="31" name="relationship 1 : N"/>
          <p:cNvSpPr/>
          <p:nvPr/>
        </p:nvSpPr>
        <p:spPr>
          <a:xfrm>
            <a:off x="3977640" y="4846320"/>
            <a:ext cx="1143000" cy="91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2" name="cardinality"/>
          <p:cNvSpPr txBox="1"/>
          <p:nvPr/>
        </p:nvSpPr>
        <p:spPr>
          <a:xfrm>
            <a:off x="3931920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 : N</a:t>
            </a:r>
            <a:endParaRPr lang="en-US" sz="1100" dirty="0"/>
          </a:p>
        </p:txBody>
      </p:sp>
      <p:sp>
        <p:nvSpPr>
          <p:cNvPr id="33" name="erd notes"/>
          <p:cNvSpPr/>
          <p:nvPr/>
        </p:nvSpPr>
        <p:spPr>
          <a:xfrm>
            <a:off x="7863840" y="4069080"/>
            <a:ext cx="3776472" cy="2011680"/>
          </a:xfrm>
          <a:prstGeom prst="roundRect">
            <a:avLst>
              <a:gd name="adj" fmla="val 5455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92440" y="420624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Primary Key 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</a:rPr>
              <a:t>FK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Foreign Key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ทำไมแยก BOOKING กับ RENTAL?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การจองยกเลิกได้และจ่ายมัดจำก่อน ส่วนการเช่าคือการรับรถจริง จึงเป็น 1 : 0..1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Normalization: 1NF → 2NF → 3NF</a:t>
            </a:r>
            <a:endParaRPr lang="en-US" sz="3000" dirty="0"/>
          </a:p>
        </p:txBody>
      </p:sp>
      <p:sp>
        <p:nvSpPr>
          <p:cNvPr id="3" name="normal form card"/>
          <p:cNvSpPr/>
          <p:nvPr/>
        </p:nvSpPr>
        <p:spPr>
          <a:xfrm>
            <a:off x="548640" y="1371600"/>
            <a:ext cx="6949440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1NF tag"/>
          <p:cNvSpPr/>
          <p:nvPr/>
        </p:nvSpPr>
        <p:spPr>
          <a:xfrm>
            <a:off x="749808" y="1609344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0934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1NF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481328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ตาราง BOOKING มีข้อมูลลูกค้าปนอยู่ (Name, Phone, Email, LicenseNo) และ CAR มี TypeName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ค่าทุกช่องเป็นค่าเดี่ยว แต่ยังซ้ำซ้อน</a:t>
            </a:r>
            <a:endParaRPr lang="en-US" sz="1500" dirty="0"/>
          </a:p>
        </p:txBody>
      </p:sp>
      <p:sp>
        <p:nvSpPr>
          <p:cNvPr id="7" name="normal form card"/>
          <p:cNvSpPr/>
          <p:nvPr/>
        </p:nvSpPr>
        <p:spPr>
          <a:xfrm>
            <a:off x="548640" y="2852928"/>
            <a:ext cx="6949440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2NF tag"/>
          <p:cNvSpPr/>
          <p:nvPr/>
        </p:nvSpPr>
        <p:spPr>
          <a:xfrm>
            <a:off x="749808" y="3090672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30906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2NF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962656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แยก CUSTOMER ออกจาก BOOKING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ตัด Partial Dependency: ข้อมูลลูกค้าขึ้นกับ CustomerID ไม่ใช่ BookingID</a:t>
            </a:r>
            <a:endParaRPr lang="en-US" sz="1500" dirty="0"/>
          </a:p>
        </p:txBody>
      </p:sp>
      <p:sp>
        <p:nvSpPr>
          <p:cNvPr id="11" name="normal form card"/>
          <p:cNvSpPr/>
          <p:nvPr/>
        </p:nvSpPr>
        <p:spPr>
          <a:xfrm>
            <a:off x="548640" y="4334256"/>
            <a:ext cx="6949440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3NF tag"/>
          <p:cNvSpPr/>
          <p:nvPr/>
        </p:nvSpPr>
        <p:spPr>
          <a:xfrm>
            <a:off x="749808" y="457200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5720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3NF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443984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แยก CAR_TYPE ออกจาก CAR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ตัด Transitive Dependency: CarID → CarTypeID → TypeName</a:t>
            </a:r>
            <a:endParaRPr lang="en-US" sz="1500" dirty="0"/>
          </a:p>
        </p:txBody>
      </p:sp>
      <p:sp>
        <p:nvSpPr>
          <p:cNvPr id="15" name="nf result"/>
          <p:cNvSpPr/>
          <p:nvPr/>
        </p:nvSpPr>
        <p:spPr>
          <a:xfrm>
            <a:off x="548640" y="5806440"/>
            <a:ext cx="6949440" cy="41148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8338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ผลลัพธ์: 6 ตาราง ไม่มี Insertion / Update / Deletion Anomaly</a:t>
            </a:r>
            <a:endParaRPr lang="en-US" sz="1500" dirty="0"/>
          </a:p>
        </p:txBody>
      </p:sp>
      <p:sp>
        <p:nvSpPr>
          <p:cNvPr id="17" name="normalization diagram"/>
          <p:cNvSpPr/>
          <p:nvPr/>
        </p:nvSpPr>
        <p:spPr>
          <a:xfrm>
            <a:off x="7818120" y="1371600"/>
            <a:ext cx="3822192" cy="4846320"/>
          </a:xfrm>
          <a:prstGeom prst="roundRect">
            <a:avLst>
              <a:gd name="adj" fmla="val 28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ก่อน (1NF)</a:t>
            </a:r>
            <a:endParaRPr lang="en-US" sz="1500" dirty="0"/>
          </a:p>
        </p:txBody>
      </p:sp>
      <p:sp>
        <p:nvSpPr>
          <p:cNvPr id="19" name="1NF booking box"/>
          <p:cNvSpPr/>
          <p:nvPr/>
        </p:nvSpPr>
        <p:spPr>
          <a:xfrm>
            <a:off x="8046720" y="1874520"/>
            <a:ext cx="338328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1NF booking"/>
          <p:cNvSpPr txBox="1"/>
          <p:nvPr/>
        </p:nvSpPr>
        <p:spPr>
          <a:xfrm>
            <a:off x="8183880" y="192938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  </a:t>
            </a:r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BookingID, CarID, StartDate, EndDate, Status, </a:t>
            </a:r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Phone, Email, LicenseNo</a:t>
            </a:r>
            <a:endParaRPr lang="en-US" sz="1100" dirty="0"/>
          </a:p>
        </p:txBody>
      </p:sp>
      <p:sp>
        <p:nvSpPr>
          <p:cNvPr id="21" name="1NF car box"/>
          <p:cNvSpPr/>
          <p:nvPr/>
        </p:nvSpPr>
        <p:spPr>
          <a:xfrm>
            <a:off x="8046720" y="2834640"/>
            <a:ext cx="338328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1NF car"/>
          <p:cNvSpPr txBox="1"/>
          <p:nvPr/>
        </p:nvSpPr>
        <p:spPr>
          <a:xfrm>
            <a:off x="8183880" y="288950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 </a:t>
            </a:r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CarID, CarTypeID, Brand, Model, DailyRate, </a:t>
            </a:r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endParaRPr lang="en-US" sz="1100" dirty="0"/>
          </a:p>
        </p:txBody>
      </p:sp>
      <p:pic>
        <p:nvPicPr>
          <p:cNvPr id="23" name="normalize 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3767328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04672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หลัง (3NF)</a:t>
            </a:r>
            <a:endParaRPr lang="en-US" sz="1500" dirty="0"/>
          </a:p>
        </p:txBody>
      </p:sp>
      <p:sp>
        <p:nvSpPr>
          <p:cNvPr id="25" name="3NF table bg"/>
          <p:cNvSpPr/>
          <p:nvPr/>
        </p:nvSpPr>
        <p:spPr>
          <a:xfrm>
            <a:off x="8046720" y="452628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3NF table"/>
          <p:cNvSpPr txBox="1"/>
          <p:nvPr/>
        </p:nvSpPr>
        <p:spPr>
          <a:xfrm>
            <a:off x="804672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BOOKING</a:t>
            </a:r>
            <a:endParaRPr lang="en-US" sz="1200" dirty="0"/>
          </a:p>
        </p:txBody>
      </p:sp>
      <p:sp>
        <p:nvSpPr>
          <p:cNvPr id="27" name="3NF table bg"/>
          <p:cNvSpPr/>
          <p:nvPr/>
        </p:nvSpPr>
        <p:spPr>
          <a:xfrm>
            <a:off x="9784080" y="452628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3NF table"/>
          <p:cNvSpPr txBox="1"/>
          <p:nvPr/>
        </p:nvSpPr>
        <p:spPr>
          <a:xfrm>
            <a:off x="978408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CUSTOMER</a:t>
            </a:r>
            <a:endParaRPr lang="en-US" sz="1200" dirty="0"/>
          </a:p>
        </p:txBody>
      </p:sp>
      <p:sp>
        <p:nvSpPr>
          <p:cNvPr id="29" name="3NF table bg"/>
          <p:cNvSpPr/>
          <p:nvPr/>
        </p:nvSpPr>
        <p:spPr>
          <a:xfrm>
            <a:off x="8046720" y="502920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0" name="3NF table"/>
          <p:cNvSpPr txBox="1"/>
          <p:nvPr/>
        </p:nvSpPr>
        <p:spPr>
          <a:xfrm>
            <a:off x="8046720" y="5029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CAR</a:t>
            </a:r>
            <a:endParaRPr lang="en-US" sz="1200" dirty="0"/>
          </a:p>
        </p:txBody>
      </p:sp>
      <p:sp>
        <p:nvSpPr>
          <p:cNvPr id="31" name="3NF table bg"/>
          <p:cNvSpPr/>
          <p:nvPr/>
        </p:nvSpPr>
        <p:spPr>
          <a:xfrm>
            <a:off x="9784080" y="502920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3NF table"/>
          <p:cNvSpPr txBox="1"/>
          <p:nvPr/>
        </p:nvSpPr>
        <p:spPr>
          <a:xfrm>
            <a:off x="9784080" y="5029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CAR_TYPE</a:t>
            </a:r>
            <a:endParaRPr lang="en-US" sz="1200" dirty="0"/>
          </a:p>
        </p:txBody>
      </p:sp>
      <p:sp>
        <p:nvSpPr>
          <p:cNvPr id="33" name="3NF table bg"/>
          <p:cNvSpPr/>
          <p:nvPr/>
        </p:nvSpPr>
        <p:spPr>
          <a:xfrm>
            <a:off x="8046720" y="553212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4" name="3NF table"/>
          <p:cNvSpPr txBox="1"/>
          <p:nvPr/>
        </p:nvSpPr>
        <p:spPr>
          <a:xfrm>
            <a:off x="8046720" y="5532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RENTAL</a:t>
            </a:r>
            <a:endParaRPr lang="en-US" sz="1200" dirty="0"/>
          </a:p>
        </p:txBody>
      </p:sp>
      <p:sp>
        <p:nvSpPr>
          <p:cNvPr id="35" name="3NF table bg"/>
          <p:cNvSpPr/>
          <p:nvPr/>
        </p:nvSpPr>
        <p:spPr>
          <a:xfrm>
            <a:off x="9784080" y="553212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6" name="3NF table"/>
          <p:cNvSpPr txBox="1"/>
          <p:nvPr/>
        </p:nvSpPr>
        <p:spPr>
          <a:xfrm>
            <a:off x="9784080" y="5532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Dictionary</a:t>
            </a:r>
            <a:endParaRPr lang="en-US" sz="3000" dirty="0"/>
          </a:p>
        </p:txBody>
      </p:sp>
      <p:graphicFrame>
        <p:nvGraphicFramePr>
          <p:cNvPr id="11" name="key 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ตาราง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CAR_TYPE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CarTypeID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CarTypeID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CustomerID, CarID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RENTAL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RentalID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BookingID, RentalID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ชนิดข้อมูลที่ใช้</a:t>
            </a:r>
            <a:endParaRPr lang="en-US" sz="1500" dirty="0"/>
          </a:p>
        </p:txBody>
      </p:sp>
      <p:sp>
        <p:nvSpPr>
          <p:cNvPr id="5" name="type chip bg"/>
          <p:cNvSpPr/>
          <p:nvPr/>
        </p:nvSpPr>
        <p:spPr>
          <a:xfrm>
            <a:off x="548640" y="5303520"/>
            <a:ext cx="26060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ype chip"/>
          <p:cNvSpPr txBox="1"/>
          <p:nvPr/>
        </p:nvSpPr>
        <p:spPr>
          <a:xfrm>
            <a:off x="548640" y="5303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INT / SERIAL</a:t>
            </a:r>
            <a:endParaRPr lang="en-US" sz="1200" dirty="0"/>
          </a:p>
        </p:txBody>
      </p:sp>
      <p:sp>
        <p:nvSpPr>
          <p:cNvPr id="7" name="type chip bg"/>
          <p:cNvSpPr/>
          <p:nvPr/>
        </p:nvSpPr>
        <p:spPr>
          <a:xfrm>
            <a:off x="3273552" y="5303520"/>
            <a:ext cx="26060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8" name="type chip"/>
          <p:cNvSpPr txBox="1"/>
          <p:nvPr/>
        </p:nvSpPr>
        <p:spPr>
          <a:xfrm>
            <a:off x="3273552" y="53035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VARCHAR(n)</a:t>
            </a:r>
            <a:endParaRPr lang="en-US" sz="1200" dirty="0"/>
          </a:p>
        </p:txBody>
      </p:sp>
      <p:sp>
        <p:nvSpPr>
          <p:cNvPr id="9" name="type chip bg"/>
          <p:cNvSpPr/>
          <p:nvPr/>
        </p:nvSpPr>
        <p:spPr>
          <a:xfrm>
            <a:off x="548640" y="5742432"/>
            <a:ext cx="26060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0" name="type chip"/>
          <p:cNvSpPr txBox="1"/>
          <p:nvPr/>
        </p:nvSpPr>
        <p:spPr>
          <a:xfrm>
            <a:off x="548640" y="5742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DECIMAL(10,2)</a:t>
            </a:r>
            <a:endParaRPr lang="en-US" sz="1200" dirty="0"/>
          </a:p>
        </p:txBody>
      </p:sp>
      <p:sp>
        <p:nvSpPr>
          <p:cNvPr id="11" name="type chip bg"/>
          <p:cNvSpPr/>
          <p:nvPr/>
        </p:nvSpPr>
        <p:spPr>
          <a:xfrm>
            <a:off x="3273552" y="5742432"/>
            <a:ext cx="26060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2" name="type chip"/>
          <p:cNvSpPr txBox="1"/>
          <p:nvPr/>
        </p:nvSpPr>
        <p:spPr>
          <a:xfrm>
            <a:off x="3273552" y="5742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TIMESTAMP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137160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ตัวอย่างรายละเอียด: ตาราง BOOKING</a:t>
            </a:r>
            <a:endParaRPr lang="en-US" sz="1500" dirty="0"/>
          </a:p>
        </p:txBody>
      </p:sp>
      <p:graphicFrame>
        <p:nvGraphicFramePr>
          <p:cNvPr id="21" name="booking diction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376672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463040"/>
                <a:gridCol w="54864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Key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คำอธิบาย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PK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รหัสการจอง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FK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ลูกค้าที่จอง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FK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รถที่จอง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วันเวลาที่จอง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วันเริ่มเช่า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วันสิ้นสุดการเช่า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DepositAmount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DECIMAL(10,2)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เงินมัดจำ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สถานะการจอง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สร้างฐานข้อมูลด้วย SQL DDL</a:t>
            </a:r>
            <a:endParaRPr lang="en-US" sz="3000" dirty="0"/>
          </a:p>
        </p:txBody>
      </p:sp>
      <p:sp>
        <p:nvSpPr>
          <p:cNvPr id="3" name="booking ddl panel"/>
          <p:cNvSpPr/>
          <p:nvPr/>
        </p:nvSpPr>
        <p:spPr>
          <a:xfrm>
            <a:off x="548640" y="1325880"/>
            <a:ext cx="6949440" cy="4846320"/>
          </a:xfrm>
          <a:prstGeom prst="roundRect">
            <a:avLst>
              <a:gd name="adj" fmla="val 1887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booking ddl"/>
          <p:cNvSpPr txBox="1"/>
          <p:nvPr/>
        </p:nvSpPr>
        <p:spPr>
          <a:xfrm>
            <a:off x="777240" y="150876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deposit_amount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(10,2)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(20)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'Confirmed'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'Cancelled'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'Completed'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      </a:t>
            </a:r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BR7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gist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=,   </a:t>
            </a:r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BR2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tsrange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&lt;&gt; </a:t>
            </a:r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'Cancelled'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5" name="ddl icon circle"/>
          <p:cNvSpPr/>
          <p:nvPr/>
        </p:nvSpPr>
        <p:spPr>
          <a:xfrm>
            <a:off x="7818120" y="1399032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dd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891" y="1531803"/>
            <a:ext cx="337962" cy="337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95360" y="13258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PK / FK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เชื่อม customer และ car</a:t>
            </a:r>
            <a:endParaRPr lang="en-US" sz="1600" dirty="0"/>
          </a:p>
        </p:txBody>
      </p:sp>
      <p:sp>
        <p:nvSpPr>
          <p:cNvPr id="8" name="ddl icon circle"/>
          <p:cNvSpPr/>
          <p:nvPr/>
        </p:nvSpPr>
        <p:spPr>
          <a:xfrm>
            <a:off x="7818120" y="2295144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dd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891" y="2427915"/>
            <a:ext cx="337962" cy="3379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95360" y="2221992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CHECK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จำกัดค่าสถานะ และวันคืน &gt; วันรับ (BR7)</a:t>
            </a:r>
            <a:endParaRPr lang="en-US" sz="1600" dirty="0"/>
          </a:p>
        </p:txBody>
      </p:sp>
      <p:sp>
        <p:nvSpPr>
          <p:cNvPr id="11" name="ddl icon circle"/>
          <p:cNvSpPr/>
          <p:nvPr/>
        </p:nvSpPr>
        <p:spPr>
          <a:xfrm>
            <a:off x="7818120" y="3191256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dd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891" y="3324027"/>
            <a:ext cx="337962" cy="3379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95360" y="3118104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EXCLUDE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รถคันเดิม + ช่วงเวลาซ้อน = ปฏิเสธทันที (BR2)</a:t>
            </a:r>
            <a:endParaRPr lang="en-US" sz="1600" dirty="0"/>
          </a:p>
        </p:txBody>
      </p:sp>
      <p:sp>
        <p:nvSpPr>
          <p:cNvPr id="14" name="ddl icon circle"/>
          <p:cNvSpPr/>
          <p:nvPr/>
        </p:nvSpPr>
        <p:spPr>
          <a:xfrm>
            <a:off x="7818120" y="4087368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dd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891" y="4220139"/>
            <a:ext cx="337962" cy="3379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95360" y="4014216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INDEX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car(status), booking(car_id) ค้นหาเร็วขึ้น</a:t>
            </a:r>
            <a:endParaRPr lang="en-US" sz="1600" dirty="0"/>
          </a:p>
        </p:txBody>
      </p:sp>
      <p:sp>
        <p:nvSpPr>
          <p:cNvPr id="17" name="ddl stats"/>
          <p:cNvSpPr/>
          <p:nvPr/>
        </p:nvSpPr>
        <p:spPr>
          <a:xfrm>
            <a:off x="7818120" y="4983480"/>
            <a:ext cx="3822192" cy="118872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001000" y="5029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ตาราง    </a:t>
            </a:r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constraints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ตัวอย่างข้อมูล (Sample Data)</a:t>
            </a:r>
            <a:endParaRPr lang="en-US" sz="3000" dirty="0"/>
          </a:p>
        </p:txBody>
      </p:sp>
      <p:sp>
        <p:nvSpPr>
          <p:cNvPr id="3" name="kpi card"/>
          <p:cNvSpPr/>
          <p:nvPr/>
        </p:nvSpPr>
        <p:spPr>
          <a:xfrm>
            <a:off x="548640" y="1325880"/>
            <a:ext cx="1658569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6585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ประเภทรถ</a:t>
            </a:r>
            <a:endParaRPr lang="en-US" sz="1500" dirty="0"/>
          </a:p>
        </p:txBody>
      </p:sp>
      <p:sp>
        <p:nvSpPr>
          <p:cNvPr id="6" name="kpi card"/>
          <p:cNvSpPr/>
          <p:nvPr/>
        </p:nvSpPr>
        <p:spPr>
          <a:xfrm>
            <a:off x="2435809" y="1325880"/>
            <a:ext cx="1658569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35809" y="1371600"/>
            <a:ext cx="16585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435809" y="214884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คัน</a:t>
            </a:r>
            <a:endParaRPr lang="en-US" sz="1500" dirty="0"/>
          </a:p>
        </p:txBody>
      </p:sp>
      <p:sp>
        <p:nvSpPr>
          <p:cNvPr id="9" name="kpi card"/>
          <p:cNvSpPr/>
          <p:nvPr/>
        </p:nvSpPr>
        <p:spPr>
          <a:xfrm>
            <a:off x="4322978" y="1325880"/>
            <a:ext cx="1658569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22978" y="1371600"/>
            <a:ext cx="16585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322978" y="214884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ลูกค้า</a:t>
            </a:r>
            <a:endParaRPr lang="en-US" sz="1500" dirty="0"/>
          </a:p>
        </p:txBody>
      </p:sp>
      <p:sp>
        <p:nvSpPr>
          <p:cNvPr id="12" name="kpi card"/>
          <p:cNvSpPr/>
          <p:nvPr/>
        </p:nvSpPr>
        <p:spPr>
          <a:xfrm>
            <a:off x="6210148" y="1325880"/>
            <a:ext cx="1658569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0148" y="1371600"/>
            <a:ext cx="16585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10148" y="214884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การจอง</a:t>
            </a:r>
            <a:endParaRPr lang="en-US" sz="1500" dirty="0"/>
          </a:p>
        </p:txBody>
      </p:sp>
      <p:sp>
        <p:nvSpPr>
          <p:cNvPr id="15" name="kpi card"/>
          <p:cNvSpPr/>
          <p:nvPr/>
        </p:nvSpPr>
        <p:spPr>
          <a:xfrm>
            <a:off x="8097317" y="1325880"/>
            <a:ext cx="1658569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7317" y="1371600"/>
            <a:ext cx="16585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097317" y="214884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การเช่า</a:t>
            </a:r>
            <a:endParaRPr lang="en-US" sz="1500" dirty="0"/>
          </a:p>
        </p:txBody>
      </p:sp>
      <p:sp>
        <p:nvSpPr>
          <p:cNvPr id="18" name="kpi card"/>
          <p:cNvSpPr/>
          <p:nvPr/>
        </p:nvSpPr>
        <p:spPr>
          <a:xfrm>
            <a:off x="9984486" y="1325880"/>
            <a:ext cx="1658569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84486" y="1371600"/>
            <a:ext cx="16585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9984486" y="214884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การชำระเงิน</a:t>
            </a:r>
            <a:endParaRPr lang="en-US" sz="1500" dirty="0"/>
          </a:p>
        </p:txBody>
      </p:sp>
      <p:graphicFrame>
        <p:nvGraphicFramePr>
          <p:cNvPr id="13" name="car s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37160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รถ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ประเภท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บาท/วัน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Toyota Camry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Sedan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1,800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Honda Civic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Sedan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Rented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Toyota Fortuner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SUV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2,500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Toyota Commuter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Hyundai H-1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2,800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Maintenance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Nissan Almera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Eco Car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2" name="coverage card"/>
          <p:cNvSpPr/>
          <p:nvPr/>
        </p:nvSpPr>
        <p:spPr>
          <a:xfrm>
            <a:off x="7818120" y="2926080"/>
            <a:ext cx="3822192" cy="3072384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467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ข้อมูลครอบคลุมทุกกรณีทดสอบ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352044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สถานะรถทั้ง 3 แบบ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สถานะการจองทั้ง 4 แบบ รวม Cancelled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ชำระหลายงวด: มัดจำ + ค่าเช่า + ค่าปรับ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การเช่าที่ยังไม่คืน เพื่อทดสอบยอดค้างชำระ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การทดสอบระดับง่าย (Easy) · 6 คำสั่ง</a:t>
            </a:r>
            <a:endParaRPr lang="en-US" sz="3000" dirty="0"/>
          </a:p>
        </p:txBody>
      </p:sp>
      <p:sp>
        <p:nvSpPr>
          <p:cNvPr id="3" name="easy code panel"/>
          <p:cNvSpPr/>
          <p:nvPr/>
        </p:nvSpPr>
        <p:spPr>
          <a:xfrm>
            <a:off x="548640" y="1325880"/>
            <a:ext cx="6400800" cy="1463040"/>
          </a:xfrm>
          <a:prstGeom prst="roundRect">
            <a:avLst>
              <a:gd name="adj" fmla="val 6250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easy code"/>
          <p:cNvSpPr txBox="1"/>
          <p:nvPr/>
        </p:nvSpPr>
        <p:spPr>
          <a:xfrm>
            <a:off x="777240" y="15087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E1 available cars by price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daily_rate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'Available'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daily_rate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graphicFrame>
        <p:nvGraphicFramePr>
          <p:cNvPr id="14" name="E1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brand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daily_rate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Nissan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Almera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900.00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Toyota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Yaris Ativ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950.00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Toyota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1800.00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Toyota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Fortuner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2500.00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Toyota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Commuter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3000.00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ผลลัพธ์ 5 แถว</a:t>
            </a:r>
            <a:endParaRPr lang="en-US" sz="1200" dirty="0"/>
          </a:p>
        </p:txBody>
      </p:sp>
      <p:sp>
        <p:nvSpPr>
          <p:cNvPr id="7" name="test row"/>
          <p:cNvSpPr/>
          <p:nvPr/>
        </p:nvSpPr>
        <p:spPr>
          <a:xfrm>
            <a:off x="7223760" y="1325880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132588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3716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+ WHERE + ORDER BY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รถที่ว่าง เรียงตามราคา → 5 คัน</a:t>
            </a:r>
            <a:endParaRPr lang="en-US" sz="1500" dirty="0"/>
          </a:p>
        </p:txBody>
      </p:sp>
      <p:sp>
        <p:nvSpPr>
          <p:cNvPr id="10" name="test row"/>
          <p:cNvSpPr/>
          <p:nvPr/>
        </p:nvSpPr>
        <p:spPr>
          <a:xfrm>
            <a:off x="7223760" y="2130552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2130552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17627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WHERE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ค้นหาลูกค้าจากเลขใบขับขี่</a:t>
            </a:r>
            <a:endParaRPr lang="en-US" sz="1500" dirty="0"/>
          </a:p>
        </p:txBody>
      </p:sp>
      <p:sp>
        <p:nvSpPr>
          <p:cNvPr id="13" name="test row"/>
          <p:cNvSpPr/>
          <p:nvPr/>
        </p:nvSpPr>
        <p:spPr>
          <a:xfrm>
            <a:off x="7223760" y="2935224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2935224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9809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เงื่อนไขช่วงราคา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รถค่าเช่า ≤ 2,000 บาท → 4 คัน</a:t>
            </a:r>
            <a:endParaRPr lang="en-US" sz="1500" dirty="0"/>
          </a:p>
        </p:txBody>
      </p:sp>
      <p:sp>
        <p:nvSpPr>
          <p:cNvPr id="16" name="test row"/>
          <p:cNvSpPr/>
          <p:nvPr/>
        </p:nvSpPr>
        <p:spPr>
          <a:xfrm>
            <a:off x="7223760" y="3739896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0920" y="3739896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378561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เพิ่มลูกค้าใหม่</a:t>
            </a:r>
            <a:endParaRPr lang="en-US" sz="1500" dirty="0"/>
          </a:p>
        </p:txBody>
      </p:sp>
      <p:sp>
        <p:nvSpPr>
          <p:cNvPr id="19" name="test row"/>
          <p:cNvSpPr/>
          <p:nvPr/>
        </p:nvSpPr>
        <p:spPr>
          <a:xfrm>
            <a:off x="7223760" y="4544568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60920" y="4544568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E5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45902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รถซ่อมเสร็จ → Available</a:t>
            </a:r>
            <a:endParaRPr lang="en-US" sz="1500" dirty="0"/>
          </a:p>
        </p:txBody>
      </p:sp>
      <p:sp>
        <p:nvSpPr>
          <p:cNvPr id="22" name="test row"/>
          <p:cNvSpPr/>
          <p:nvPr/>
        </p:nvSpPr>
        <p:spPr>
          <a:xfrm>
            <a:off x="7223760" y="5349240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60920" y="534924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E6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53949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ลบลูกค้าที่ไม่เคยจอง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การทดสอบระดับปานกลาง (Medium) · 5 คำสั่ง</a:t>
            </a:r>
            <a:endParaRPr lang="en-US" sz="3000" dirty="0"/>
          </a:p>
        </p:txBody>
      </p:sp>
      <p:sp>
        <p:nvSpPr>
          <p:cNvPr id="3" name="medium code panel"/>
          <p:cNvSpPr/>
          <p:nvPr/>
        </p:nvSpPr>
        <p:spPr>
          <a:xfrm>
            <a:off x="548640" y="1325880"/>
            <a:ext cx="6400800" cy="201168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medium code"/>
          <p:cNvSpPr txBox="1"/>
          <p:nvPr/>
        </p:nvSpPr>
        <p:spPr>
          <a:xfrm>
            <a:off x="777240" y="15087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M2 cars and avg rate per type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type_name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daily_rate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2)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avg_rate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car_type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car_type_id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car_type_id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type_name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avg_rate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graphicFrame>
        <p:nvGraphicFramePr>
          <p:cNvPr id="5" name="M2 result chart" descr=""/>
          <p:cNvGraphicFramePr/>
          <p:nvPr/>
        </p:nvGraphicFramePr>
        <p:xfrm>
          <a:off x="548640" y="3474720"/>
          <a:ext cx="64008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st row"/>
          <p:cNvSpPr/>
          <p:nvPr/>
        </p:nvSpPr>
        <p:spPr>
          <a:xfrm>
            <a:off x="7223760" y="1325880"/>
            <a:ext cx="441655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60920" y="132588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38074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3 ตาราง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การจองพร้อมชื่อลูกค้าและรถ (8 แถว)</a:t>
            </a:r>
            <a:endParaRPr lang="en-US" sz="1500" dirty="0"/>
          </a:p>
        </p:txBody>
      </p:sp>
      <p:sp>
        <p:nvSpPr>
          <p:cNvPr id="9" name="test row"/>
          <p:cNvSpPr/>
          <p:nvPr/>
        </p:nvSpPr>
        <p:spPr>
          <a:xfrm>
            <a:off x="7223760" y="2295144"/>
            <a:ext cx="441655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60920" y="2295144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3500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+ GROUP BY + AVG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Van 2,900 · SUV 2,400 · Sedan 1,650</a:t>
            </a:r>
            <a:endParaRPr lang="en-US" sz="1500" dirty="0"/>
          </a:p>
        </p:txBody>
      </p:sp>
      <p:sp>
        <p:nvSpPr>
          <p:cNvPr id="12" name="test row"/>
          <p:cNvSpPr/>
          <p:nvPr/>
        </p:nvSpPr>
        <p:spPr>
          <a:xfrm>
            <a:off x="7223760" y="3264408"/>
            <a:ext cx="441655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60920" y="3264408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331927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+ GROUP BY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Credit Card 15,900 · Cash 9,500 · QR 3,800</a:t>
            </a:r>
            <a:endParaRPr lang="en-US" sz="1500" dirty="0"/>
          </a:p>
        </p:txBody>
      </p:sp>
      <p:sp>
        <p:nvSpPr>
          <p:cNvPr id="15" name="test row"/>
          <p:cNvSpPr/>
          <p:nvPr/>
        </p:nvSpPr>
        <p:spPr>
          <a:xfrm>
            <a:off x="7223760" y="4233672"/>
            <a:ext cx="441655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60920" y="423367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428853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+ HAVING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ลูกค้าที่จองมากกว่า 1 ครั้ง (2 คน)</a:t>
            </a:r>
            <a:endParaRPr lang="en-US" sz="1500" dirty="0"/>
          </a:p>
        </p:txBody>
      </p:sp>
      <p:sp>
        <p:nvSpPr>
          <p:cNvPr id="18" name="test row"/>
          <p:cNvSpPr/>
          <p:nvPr/>
        </p:nvSpPr>
        <p:spPr>
          <a:xfrm>
            <a:off x="7223760" y="5202936"/>
            <a:ext cx="441655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60920" y="5202936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578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4 ตาราง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รถที่กำลังถูกเช่าและวันกำหนดคืน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การทดสอบระดับซับซ้อน (Complex) · 7 คำสั่ง</a:t>
            </a:r>
            <a:endParaRPr lang="en-US" sz="3000" dirty="0"/>
          </a:p>
        </p:txBody>
      </p:sp>
      <p:sp>
        <p:nvSpPr>
          <p:cNvPr id="3" name="complex code panel"/>
          <p:cNvSpPr/>
          <p:nvPr/>
        </p:nvSpPr>
        <p:spPr>
          <a:xfrm>
            <a:off x="548640" y="1325880"/>
            <a:ext cx="6400800" cy="2788920"/>
          </a:xfrm>
          <a:prstGeom prst="roundRect">
            <a:avLst>
              <a:gd name="adj" fmla="val 3279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complex code"/>
          <p:cNvSpPr txBox="1"/>
          <p:nvPr/>
        </p:nvSpPr>
        <p:spPr>
          <a:xfrm>
            <a:off x="777240" y="1508760"/>
            <a:ext cx="5943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C1 outstanding balance per rental (CTE)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'Paid'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0)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outstanding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0) &gt; 0;</a:t>
            </a:r>
            <a:endParaRPr lang="en-US" sz="1300" dirty="0"/>
          </a:p>
        </p:txBody>
      </p:sp>
      <p:graphicFrame>
        <p:nvGraphicFramePr>
          <p:cNvPr id="16" name="C1 resul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46304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rental_id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outstanding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พิมพ์ชนก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10,500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9,500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วีรภัทร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6,900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5,400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ผล C1 (ก่อนทำรายการคืนรถ C5): พบยอดค้างชำระ 2 รายการ</a:t>
            </a:r>
            <a:endParaRPr lang="en-US" sz="1200" dirty="0"/>
          </a:p>
        </p:txBody>
      </p:sp>
      <p:sp>
        <p:nvSpPr>
          <p:cNvPr id="7" name="test row"/>
          <p:cNvSpPr/>
          <p:nvPr/>
        </p:nvSpPr>
        <p:spPr>
          <a:xfrm>
            <a:off x="7223760" y="1325880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132588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3716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 + LEFT JOIN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ยอดค้างชำระ 9,500 และ 5,400</a:t>
            </a:r>
            <a:endParaRPr lang="en-US" sz="1500" dirty="0"/>
          </a:p>
        </p:txBody>
      </p:sp>
      <p:sp>
        <p:nvSpPr>
          <p:cNvPr id="10" name="test row"/>
          <p:cNvSpPr/>
          <p:nvPr/>
        </p:nvSpPr>
        <p:spPr>
          <a:xfrm>
            <a:off x="7223760" y="2130552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2130552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217627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Window: RANK() OVER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อันดับรายได้ #1 Honda Civic 10,500</a:t>
            </a:r>
            <a:endParaRPr lang="en-US" sz="1500" dirty="0"/>
          </a:p>
        </p:txBody>
      </p:sp>
      <p:sp>
        <p:nvSpPr>
          <p:cNvPr id="13" name="test row"/>
          <p:cNvSpPr/>
          <p:nvPr/>
        </p:nvSpPr>
        <p:spPr>
          <a:xfrm>
            <a:off x="7223760" y="2935224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2935224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298094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EXISTS + tsrange &amp;&amp;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หารถว่างตามช่วงวันที่ต้องการ</a:t>
            </a:r>
            <a:endParaRPr lang="en-US" sz="1500" dirty="0"/>
          </a:p>
        </p:txBody>
      </p:sp>
      <p:sp>
        <p:nvSpPr>
          <p:cNvPr id="16" name="test row"/>
          <p:cNvSpPr/>
          <p:nvPr/>
        </p:nvSpPr>
        <p:spPr>
          <a:xfrm>
            <a:off x="7223760" y="3739896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0920" y="3739896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378561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Subquery ใน HAVING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ลูกค้าที่จ่ายสูงกว่าค่าเฉลี่ย</a:t>
            </a:r>
            <a:endParaRPr lang="en-US" sz="1500" dirty="0"/>
          </a:p>
        </p:txBody>
      </p:sp>
      <p:sp>
        <p:nvSpPr>
          <p:cNvPr id="19" name="test row"/>
          <p:cNvSpPr/>
          <p:nvPr/>
        </p:nvSpPr>
        <p:spPr>
          <a:xfrm>
            <a:off x="7223760" y="4544568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60920" y="454456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459028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… COMMIT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คืนรถครบทั้ง 4 ตารางใน 1 Transaction</a:t>
            </a:r>
            <a:endParaRPr lang="en-US" sz="1500" dirty="0"/>
          </a:p>
        </p:txBody>
      </p:sp>
      <p:sp>
        <p:nvSpPr>
          <p:cNvPr id="22" name="test row"/>
          <p:cNvSpPr/>
          <p:nvPr/>
        </p:nvSpPr>
        <p:spPr>
          <a:xfrm>
            <a:off x="7223760" y="5349240"/>
            <a:ext cx="4416552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60920" y="534924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C6–C7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138160" y="539496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test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ทดสอบ BR2 และ BR7 (สไลด์ถัดไป)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ทดสอบความถูกต้องของข้อมูล (Constraint Test)</a:t>
            </a:r>
            <a:endParaRPr lang="en-US" sz="3000" dirty="0"/>
          </a:p>
        </p:txBody>
      </p:sp>
      <p:sp>
        <p:nvSpPr>
          <p:cNvPr id="3" name="test card"/>
          <p:cNvSpPr/>
          <p:nvPr/>
        </p:nvSpPr>
        <p:spPr>
          <a:xfrm>
            <a:off x="548640" y="1325880"/>
            <a:ext cx="5422392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BR2 · ห้ามจองซ้อน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0195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จองรถ Camry 21–24 ต.ค. ซ้อนกับการจองเดิม 20–23 ต.ค.</a:t>
            </a:r>
            <a:endParaRPr lang="en-US" sz="1400" dirty="0"/>
          </a:p>
        </p:txBody>
      </p:sp>
      <p:sp>
        <p:nvSpPr>
          <p:cNvPr id="6" name="test sql panel"/>
          <p:cNvSpPr/>
          <p:nvPr/>
        </p:nvSpPr>
        <p:spPr>
          <a:xfrm>
            <a:off x="822960" y="2377440"/>
            <a:ext cx="4873752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st sql"/>
          <p:cNvSpPr txBox="1"/>
          <p:nvPr/>
        </p:nvSpPr>
        <p:spPr>
          <a:xfrm>
            <a:off x="1051560" y="2560320"/>
            <a:ext cx="4416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(3, 1, </a:t>
            </a:r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'2026-10-21 10:00'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'2026-10-24 10:00'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error panel"/>
          <p:cNvSpPr/>
          <p:nvPr/>
        </p:nvSpPr>
        <p:spPr>
          <a:xfrm>
            <a:off x="822960" y="4114800"/>
            <a:ext cx="4873752" cy="11430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9" name="reject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4348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416052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conflicting key value violates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exclusion constraint "no_overlap"</a:t>
            </a:r>
            <a:endParaRPr lang="en-US" sz="1300" dirty="0"/>
          </a:p>
        </p:txBody>
      </p:sp>
      <p:sp>
        <p:nvSpPr>
          <p:cNvPr id="11" name="test card"/>
          <p:cNvSpPr/>
          <p:nvPr/>
        </p:nvSpPr>
        <p:spPr>
          <a:xfrm>
            <a:off x="6217920" y="1325880"/>
            <a:ext cx="5422392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463040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BR7 · วันคืนต้องหลังวันรับ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190195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วันคืน 1 พ.ย. อยู่ก่อนวันรับ 5 พ.ย.</a:t>
            </a:r>
            <a:endParaRPr lang="en-US" sz="1400" dirty="0"/>
          </a:p>
        </p:txBody>
      </p:sp>
      <p:sp>
        <p:nvSpPr>
          <p:cNvPr id="14" name="test sql panel"/>
          <p:cNvSpPr/>
          <p:nvPr/>
        </p:nvSpPr>
        <p:spPr>
          <a:xfrm>
            <a:off x="6492240" y="2377440"/>
            <a:ext cx="4873752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st sql"/>
          <p:cNvSpPr txBox="1"/>
          <p:nvPr/>
        </p:nvSpPr>
        <p:spPr>
          <a:xfrm>
            <a:off x="6720840" y="2560320"/>
            <a:ext cx="4416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(3, 3, </a:t>
            </a:r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'2026-11-05'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'2026-11-01'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6" name="error panel"/>
          <p:cNvSpPr/>
          <p:nvPr/>
        </p:nvSpPr>
        <p:spPr>
          <a:xfrm>
            <a:off x="6492240" y="4114800"/>
            <a:ext cx="4873752" cy="11430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7" name="reject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4348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15200" y="4160520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new row violates check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"chk_booking_dates"</a:t>
            </a:r>
            <a:endParaRPr lang="en-US" sz="1300" dirty="0"/>
          </a:p>
        </p:txBody>
      </p:sp>
      <p:sp>
        <p:nvSpPr>
          <p:cNvPr id="19" name="takeaway icon circle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akeawa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5748284"/>
            <a:ext cx="317480" cy="317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25880" y="56235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ฐานข้อมูลปฏิเสธข้อมูลผิดได้เอง ไม่ต้องพึ่งโค้ดฝั่งแอปพลิเคชัน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สรุปและประเมินผล</a:t>
            </a:r>
            <a:endParaRPr lang="en-US" sz="3000" dirty="0"/>
          </a:p>
        </p:txBody>
      </p:sp>
      <p:sp>
        <p:nvSpPr>
          <p:cNvPr id="3" name="result stat"/>
          <p:cNvSpPr/>
          <p:nvPr/>
        </p:nvSpPr>
        <p:spPr>
          <a:xfrm>
            <a:off x="548640" y="1325880"/>
            <a:ext cx="2567864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ตาราง ถึง 3NF</a:t>
            </a:r>
            <a:endParaRPr lang="en-US" sz="1500" dirty="0"/>
          </a:p>
        </p:txBody>
      </p:sp>
      <p:sp>
        <p:nvSpPr>
          <p:cNvPr id="6" name="result stat"/>
          <p:cNvSpPr/>
          <p:nvPr/>
        </p:nvSpPr>
        <p:spPr>
          <a:xfrm>
            <a:off x="3390824" y="1325880"/>
            <a:ext cx="2567864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90824" y="137160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90824" y="2240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Business Rules</a:t>
            </a:r>
            <a:endParaRPr lang="en-US" sz="1500" dirty="0"/>
          </a:p>
        </p:txBody>
      </p:sp>
      <p:sp>
        <p:nvSpPr>
          <p:cNvPr id="9" name="result stat"/>
          <p:cNvSpPr/>
          <p:nvPr/>
        </p:nvSpPr>
        <p:spPr>
          <a:xfrm>
            <a:off x="6233008" y="1325880"/>
            <a:ext cx="2567864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3008" y="137160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240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Constraints</a:t>
            </a:r>
            <a:endParaRPr lang="en-US" sz="1500" dirty="0"/>
          </a:p>
        </p:txBody>
      </p:sp>
      <p:sp>
        <p:nvSpPr>
          <p:cNvPr id="12" name="result stat"/>
          <p:cNvSpPr/>
          <p:nvPr/>
        </p:nvSpPr>
        <p:spPr>
          <a:xfrm>
            <a:off x="9075191" y="1325880"/>
            <a:ext cx="2567864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5191" y="1371600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75191" y="2240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คำสั่งทดสอบผ่าน</a:t>
            </a:r>
            <a:endParaRPr lang="en-US" sz="1500" dirty="0"/>
          </a:p>
        </p:txBody>
      </p:sp>
      <p:sp>
        <p:nvSpPr>
          <p:cNvPr id="15" name="conclusion column"/>
          <p:cNvSpPr/>
          <p:nvPr/>
        </p:nvSpPr>
        <p:spPr>
          <a:xfrm>
            <a:off x="548640" y="2971800"/>
            <a:ext cx="3515258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6" name="colum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0040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71600" y="3154680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ผลที่ได้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840480"/>
            <a:ext cx="30123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ฐานข้อมูลครบทุกความต้องการของผู้ใช้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ป้องกันการจองซ้อนและวันที่ผิดในระดับฐานข้อมูล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ทดสอบครบทั้งง่าย กลาง ซับซ้อน</a:t>
            </a:r>
            <a:endParaRPr lang="en-US" sz="1700" dirty="0"/>
          </a:p>
        </p:txBody>
      </p:sp>
      <p:sp>
        <p:nvSpPr>
          <p:cNvPr id="19" name="conclusion column"/>
          <p:cNvSpPr/>
          <p:nvPr/>
        </p:nvSpPr>
        <p:spPr>
          <a:xfrm>
            <a:off x="4338218" y="2971800"/>
            <a:ext cx="3515258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0" name="colum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320040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61178" y="3154680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ข้อจำกัด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4612538" y="3840480"/>
            <a:ext cx="30123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ยังไม่มีหน้าเว็บสำหรับผู้ใช้จริง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ยังไม่ได้เข้ารหัสข้อมูลใบขับขี่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BR6 ยังตรวจใน query ไม่ใช่ constraint</a:t>
            </a:r>
            <a:endParaRPr lang="en-US" sz="1700" dirty="0"/>
          </a:p>
        </p:txBody>
      </p:sp>
      <p:sp>
        <p:nvSpPr>
          <p:cNvPr id="23" name="conclusion column"/>
          <p:cNvSpPr/>
          <p:nvPr/>
        </p:nvSpPr>
        <p:spPr>
          <a:xfrm>
            <a:off x="8127797" y="2971800"/>
            <a:ext cx="3515258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4" name="colum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320040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950757" y="3154680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แนวทางพัฒนาต่อ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8402117" y="3840480"/>
            <a:ext cx="30123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พัฒนา Web App เชื่อม Supabase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Trigger อัปเดตสถานะรถอัตโนมัติ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รีวิวรถ โปรโมชั่น และ Dashboard รายได้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ring"/>
          <p:cNvSpPr/>
          <p:nvPr/>
        </p:nvSpPr>
        <p:spPr>
          <a:xfrm>
            <a:off x="5090008" y="822960"/>
            <a:ext cx="2011680" cy="2011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DBA74"/>
            </a:solidFill>
            <a:prstDash val="solid"/>
          </a:ln>
        </p:spPr>
      </p:sp>
      <p:pic>
        <p:nvPicPr>
          <p:cNvPr id="3" name="closing 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188720"/>
            <a:ext cx="1280160" cy="128016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ขอบคุณครับ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977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BA7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สิทธิพันธุ์ ฮงเจริญ  68070182     ·     จิราธิวัชร ทะวิลา  68070228    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ภรัมพรหม เหลืองภุมรัตน์  68070229     ·     พูนพิพัฒน์ ช่างเกวียน  68070329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 Rental Formal">
  <a:themeElements>
    <a:clrScheme name="Car Rental Formal">
      <a:dk1>
        <a:srgbClr val="1B2A41"/>
      </a:dk1>
      <a:lt1>
        <a:srgbClr val="FFFFFF"/>
      </a:lt1>
      <a:dk2>
        <a:srgbClr val="5B6577"/>
      </a:dk2>
      <a:lt2>
        <a:srgbClr val="F4F6F9"/>
      </a:lt2>
      <a:accent1>
        <a:srgbClr val="1F3A68"/>
      </a:accent1>
      <a:accent2>
        <a:srgbClr val="C2410C"/>
      </a:accent2>
      <a:accent3>
        <a:srgbClr val="B91C1C"/>
      </a:accent3>
      <a:accent4>
        <a:srgbClr val="DCE3EC"/>
      </a:accent4>
      <a:accent5>
        <a:srgbClr val="1D4ED8"/>
      </a:accent5>
      <a:accent6>
        <a:srgbClr val="F7F9FC"/>
      </a:accent6>
      <a:hlink>
        <a:srgbClr val="1D4ED8"/>
      </a:hlink>
      <a:folHlink>
        <a:srgbClr val="1F3A68"/>
      </a:folHlink>
    </a:clrScheme>
    <a:fontScheme name="Car Rental Formal">
      <a:majorFont>
        <a:latin typeface="Kan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Car Rental System</dc:title>
  <dc:subject>PptxGenJS Presentation</dc:subject>
  <dc:creator>คณะผู้จัดทำ 68070182 68070228 68070229 68070329</dc:creator>
  <cp:lastModifiedBy>คณะผู้จัดทำ 68070182 68070228 68070229 68070329</cp:lastModifiedBy>
  <cp:revision>1</cp:revision>
  <dcterms:created xsi:type="dcterms:W3CDTF">2026-10-11T14:52:00Z</dcterms:created>
  <dcterms:modified xsi:type="dcterms:W3CDTF">2026-10-11T14:52:00Z</dcterms:modified>
</cp:coreProperties>
</file>